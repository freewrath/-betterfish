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e" id="{9d0b4cc6-60d6-4908-4667-650cc5b2d4e9}">
          <p14:sldIdLst>
            <p14:sldId id="256"/>
            <p14:sldId id="257"/>
            <p14:sldId id="258"/>
            <p14:sldId id="259"/>
            <p14:sldId id="260"/>
          </p14:sldIdLst>
        </p14:section>
        <p14:section name="Bedrijfsmodel" id="{5429e8a1-3bf8-b17f-52a5-0fed2c53aeef}">
          <p14:sldIdLst>
            <p14:sldId id="261"/>
            <p14:sldId id="262"/>
          </p14:sldIdLst>
        </p14:section>
        <p14:section name="Analyse" id="{be341717-0443-5f66-559b-2869b72b7f56}">
          <p14:sldIdLst>
            <p14:sldId id="263"/>
            <p14:sldId id="264"/>
            <p14:sldId id="265"/>
            <p14:sldId id="266"/>
            <p14:sldId id="267"/>
            <p14:sldId id="268"/>
            <p14:sldId id="269"/>
          </p14:sldIdLst>
        </p14:section>
        <p14:section name="Conclusie" id="{f73c92a0-d40c-5a4d-2cef-94909b12a88b}">
          <p14:sldIdLst>
            <p14:sldId id="270"/>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83F"/>
                </a:solidFill>
                <a:latin typeface="+mj-lt"/>
              </a:defRPr>
            </a:pPr>
            <a:r>
              <a:rPr sz="1400" b="0" i="0" u="none" strike="noStrike">
                <a:solidFill>
                  <a:srgbClr val="14283F"/>
                </a:solidFill>
                <a:latin typeface="+mj-lt"/>
              </a:rPr>
              <a:t>Gas: variabel leveringstarief (euro per m³)</a:t>
            </a:r>
          </a:p>
        </c:rich>
      </c:tx>
      <c:layout/>
      <c:overlay val="0"/>
    </c:title>
    <c:autoTitleDeleted val="0"/>
    <c:plotArea>
      <c:layout/>
      <c:lineChart>
        <c:varyColors val="0"/>
        <c:ser>
          <c:idx val="0"/>
          <c:order val="0"/>
          <c:tx>
            <c:strRef>
              <c:f>Sheet1!$B$1</c:f>
              <c:strCache>
                <c:ptCount val="1"/>
                <c:pt idx="0">
                  <c:v>Gas</c:v>
                </c:pt>
              </c:strCache>
            </c:strRef>
          </c:tx>
          <c:spPr>
            <a:solidFill>
              <a:srgbClr val="1B6B55"/>
            </a:solidFill>
            <a:ln w="31750" cap="flat">
              <a:solidFill>
                <a:srgbClr val="1B6B5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B6B55"/>
              </a:solidFill>
              <a:ln w="9525" cap="flat">
                <a:solidFill>
                  <a:srgbClr val="1B6B55"/>
                </a:solidFill>
                <a:prstDash val="solid"/>
                <a:round/>
              </a:ln>
              <a:effectLst/>
            </c:spPr>
          </c:marker>
          <c:cat>
            <c:multiLvlStrRef>
              <c:f>Sheet1!$A$2:$A$13</c:f>
              <c:multiLvlStrCache>
                <c:ptCount val="12"/>
                <c:lvl>
                  <c:pt idx="0">
                    <c:v>jan</c:v>
                  </c:pt>
                  <c:pt idx="1">
                    <c:v>feb</c:v>
                  </c:pt>
                  <c:pt idx="2">
                    <c:v>mrt</c:v>
                  </c:pt>
                  <c:pt idx="3">
                    <c:v>apr</c:v>
                  </c:pt>
                  <c:pt idx="4">
                    <c:v>mei</c:v>
                  </c:pt>
                  <c:pt idx="5">
                    <c:v>jun</c:v>
                  </c:pt>
                  <c:pt idx="6">
                    <c:v>jul</c:v>
                  </c:pt>
                  <c:pt idx="7">
                    <c:v>aug</c:v>
                  </c:pt>
                  <c:pt idx="8">
                    <c:v>sep</c:v>
                  </c:pt>
                  <c:pt idx="9">
                    <c:v>okt</c:v>
                  </c:pt>
                  <c:pt idx="10">
                    <c:v>nov</c:v>
                  </c:pt>
                  <c:pt idx="11">
                    <c:v>dec</c:v>
                  </c:pt>
                </c:lvl>
              </c:multiLvlStrCache>
            </c:multiLvlStrRef>
          </c:cat>
          <c:val>
            <c:numRef>
              <c:f>Sheet1!$B$2:$B$13</c:f>
              <c:numCache>
                <c:formatCode>General</c:formatCode>
                <c:ptCount val="12"/>
                <c:pt idx="0">
                  <c:v>1.1956</c:v>
                </c:pt>
                <c:pt idx="1">
                  <c:v>1.1247</c:v>
                </c:pt>
                <c:pt idx="2">
                  <c:v>1.8451</c:v>
                </c:pt>
                <c:pt idx="3">
                  <c:v>1.6844</c:v>
                </c:pt>
                <c:pt idx="4">
                  <c:v>1.422</c:v>
                </c:pt>
                <c:pt idx="5">
                  <c:v>1.2181</c:v>
                </c:pt>
                <c:pt idx="6">
                  <c:v>1.5908</c:v>
                </c:pt>
                <c:pt idx="7">
                  <c:v>2.1147</c:v>
                </c:pt>
                <c:pt idx="8">
                  <c:v>2.7706</c:v>
                </c:pt>
                <c:pt idx="9">
                  <c:v>2.783</c:v>
                </c:pt>
                <c:pt idx="10">
                  <c:v>1.8201</c:v>
                </c:pt>
                <c:pt idx="11">
                  <c:v>1.8201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3C4A5A"/>
                    </a:solidFill>
                    <a:latin typeface="+mn-lt"/>
                  </a:defRPr>
                </a:pPr>
                <a:r>
                  <a:rPr sz="1100" b="0" i="0" u="none" strike="noStrike">
                    <a:solidFill>
                      <a:srgbClr val="3C4A5A"/>
                    </a:solidFill>
                    <a:latin typeface="+mn-lt"/>
                  </a:rPr>
                  <a:t>maand (2022)</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C4A5A"/>
                </a:solidFill>
                <a:latin typeface="+mn-lt"/>
              </a:defRPr>
            </a:pPr>
            <a:endParaRPr lang="en-US"/>
          </a:p>
        </c:txPr>
        <c:crossAx val="2094734552"/>
        <c:crosses val="autoZero"/>
        <c:auto val="1"/>
        <c:lblAlgn val="ctr"/>
        <c:noMultiLvlLbl val="1"/>
      </c:catAx>
      <c:valAx>
        <c:axId val="2094734552"/>
        <c:scaling>
          <c:orientation val="minMax"/>
          <c:max val="3"/>
          <c:min val="0"/>
        </c:scaling>
        <c:delete val="0"/>
        <c:axPos val="l"/>
        <c:majorGridlines>
          <c:spPr>
            <a:ln w="9525" cap="flat">
              <a:solidFill>
                <a:srgbClr val="E3E8EE"/>
              </a:solidFill>
              <a:prstDash val="solid"/>
              <a:round/>
            </a:ln>
          </c:spPr>
        </c:majorGridlines>
        <c:title>
          <c:tx>
            <c:rich>
              <a:bodyPr/>
              <a:lstStyle/>
              <a:p>
                <a:pPr>
                  <a:defRPr sz="1100" b="0" i="0" u="none" strike="noStrike">
                    <a:solidFill>
                      <a:srgbClr val="3C4A5A"/>
                    </a:solidFill>
                    <a:latin typeface="+mn-lt"/>
                  </a:defRPr>
                </a:pPr>
                <a:r>
                  <a:rPr sz="1100" b="0" i="0" u="none" strike="noStrike">
                    <a:solidFill>
                      <a:srgbClr val="3C4A5A"/>
                    </a:solidFill>
                    <a:latin typeface="+mn-lt"/>
                  </a:rPr>
                  <a:t>euro per m³</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C4A5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83F"/>
                </a:solidFill>
                <a:latin typeface="+mj-lt"/>
              </a:defRPr>
            </a:pPr>
            <a:r>
              <a:rPr sz="1400" b="0" i="0" u="none" strike="noStrike">
                <a:solidFill>
                  <a:srgbClr val="14283F"/>
                </a:solidFill>
                <a:latin typeface="+mj-lt"/>
              </a:rPr>
              <a:t>Stroom: variabel leveringstarief (euro per kWh)</a:t>
            </a:r>
          </a:p>
        </c:rich>
      </c:tx>
      <c:layout/>
      <c:overlay val="0"/>
    </c:title>
    <c:autoTitleDeleted val="0"/>
    <c:plotArea>
      <c:layout/>
      <c:lineChart>
        <c:varyColors val="0"/>
        <c:ser>
          <c:idx val="0"/>
          <c:order val="0"/>
          <c:tx>
            <c:strRef>
              <c:f>Sheet1!$B$1</c:f>
              <c:strCache>
                <c:ptCount val="1"/>
                <c:pt idx="0">
                  <c:v>Stroom</c:v>
                </c:pt>
              </c:strCache>
            </c:strRef>
          </c:tx>
          <c:spPr>
            <a:solidFill>
              <a:srgbClr val="B9811A"/>
            </a:solidFill>
            <a:ln w="31750" cap="flat">
              <a:solidFill>
                <a:srgbClr val="B9811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B9811A"/>
              </a:solidFill>
              <a:ln w="9525" cap="flat">
                <a:solidFill>
                  <a:srgbClr val="B9811A"/>
                </a:solidFill>
                <a:prstDash val="solid"/>
                <a:round/>
              </a:ln>
              <a:effectLst/>
            </c:spPr>
          </c:marker>
          <c:cat>
            <c:multiLvlStrRef>
              <c:f>Sheet1!$A$2:$A$13</c:f>
              <c:multiLvlStrCache>
                <c:ptCount val="12"/>
                <c:lvl>
                  <c:pt idx="0">
                    <c:v>jan</c:v>
                  </c:pt>
                  <c:pt idx="1">
                    <c:v>feb</c:v>
                  </c:pt>
                  <c:pt idx="2">
                    <c:v>mrt</c:v>
                  </c:pt>
                  <c:pt idx="3">
                    <c:v>apr</c:v>
                  </c:pt>
                  <c:pt idx="4">
                    <c:v>mei</c:v>
                  </c:pt>
                  <c:pt idx="5">
                    <c:v>jun</c:v>
                  </c:pt>
                  <c:pt idx="6">
                    <c:v>jul</c:v>
                  </c:pt>
                  <c:pt idx="7">
                    <c:v>aug</c:v>
                  </c:pt>
                  <c:pt idx="8">
                    <c:v>sep</c:v>
                  </c:pt>
                  <c:pt idx="9">
                    <c:v>okt</c:v>
                  </c:pt>
                  <c:pt idx="10">
                    <c:v>nov</c:v>
                  </c:pt>
                  <c:pt idx="11">
                    <c:v>dec</c:v>
                  </c:pt>
                </c:lvl>
              </c:multiLvlStrCache>
            </c:multiLvlStrRef>
          </c:cat>
          <c:val>
            <c:numRef>
              <c:f>Sheet1!$B$2:$B$13</c:f>
              <c:numCache>
                <c:formatCode>General</c:formatCode>
                <c:ptCount val="12"/>
                <c:pt idx="0">
                  <c:v>0.3169</c:v>
                </c:pt>
                <c:pt idx="1">
                  <c:v>0.2966</c:v>
                </c:pt>
                <c:pt idx="2">
                  <c:v>0.4814</c:v>
                </c:pt>
                <c:pt idx="3">
                  <c:v>0.4363</c:v>
                </c:pt>
                <c:pt idx="4">
                  <c:v>0.3613</c:v>
                </c:pt>
                <c:pt idx="5">
                  <c:v>0.3342</c:v>
                </c:pt>
                <c:pt idx="6">
                  <c:v>0.4187</c:v>
                </c:pt>
                <c:pt idx="7">
                  <c:v>0.5028</c:v>
                </c:pt>
                <c:pt idx="8">
                  <c:v>0.6439</c:v>
                </c:pt>
                <c:pt idx="9">
                  <c:v>0.6588</c:v>
                </c:pt>
                <c:pt idx="10">
                  <c:v>0.5266</c:v>
                </c:pt>
                <c:pt idx="11">
                  <c:v>0.52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3C4A5A"/>
                    </a:solidFill>
                    <a:latin typeface="+mn-lt"/>
                  </a:defRPr>
                </a:pPr>
                <a:r>
                  <a:rPr sz="1100" b="0" i="0" u="none" strike="noStrike">
                    <a:solidFill>
                      <a:srgbClr val="3C4A5A"/>
                    </a:solidFill>
                    <a:latin typeface="+mn-lt"/>
                  </a:rPr>
                  <a:t>maand (2022)</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C4A5A"/>
                </a:solidFill>
                <a:latin typeface="+mn-lt"/>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9525" cap="flat">
              <a:solidFill>
                <a:srgbClr val="E3E8EE"/>
              </a:solidFill>
              <a:prstDash val="solid"/>
              <a:round/>
            </a:ln>
          </c:spPr>
        </c:majorGridlines>
        <c:title>
          <c:tx>
            <c:rich>
              <a:bodyPr/>
              <a:lstStyle/>
              <a:p>
                <a:pPr>
                  <a:defRPr sz="1100" b="0" i="0" u="none" strike="noStrike">
                    <a:solidFill>
                      <a:srgbClr val="3C4A5A"/>
                    </a:solidFill>
                    <a:latin typeface="+mn-lt"/>
                  </a:defRPr>
                </a:pPr>
                <a:r>
                  <a:rPr sz="1100" b="0" i="0" u="none" strike="noStrike">
                    <a:solidFill>
                      <a:srgbClr val="3C4A5A"/>
                    </a:solidFill>
                    <a:latin typeface="+mn-lt"/>
                  </a:rPr>
                  <a:t>euro per kWh</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C4A5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83F"/>
                </a:solidFill>
                <a:latin typeface="+mj-lt"/>
              </a:defRPr>
            </a:pPr>
            <a:r>
              <a:rPr sz="1400" b="0" i="0" u="none" strike="noStrike">
                <a:solidFill>
                  <a:srgbClr val="14283F"/>
                </a:solidFill>
                <a:latin typeface="+mj-lt"/>
              </a:rPr>
              <a:t>Aantal uren per jaar met een negatieve stroomprijs in Nederland</a:t>
            </a:r>
          </a:p>
        </c:rich>
      </c:tx>
      <c:layout/>
      <c:overlay val="0"/>
    </c:title>
    <c:autoTitleDeleted val="0"/>
    <c:plotArea>
      <c:layout/>
      <c:barChart>
        <c:barDir val="col"/>
        <c:grouping val="clustered"/>
        <c:varyColors val="0"/>
        <c:ser>
          <c:idx val="0"/>
          <c:order val="0"/>
          <c:tx>
            <c:strRef>
              <c:f>Sheet1!$B$1</c:f>
              <c:strCache>
                <c:ptCount val="1"/>
                <c:pt idx="0">
                  <c:v>Uren met negatieve stroomprijs</c:v>
                </c:pt>
              </c:strCache>
            </c:strRef>
          </c:tx>
          <c:spPr>
            <a:solidFill>
              <a:srgbClr val="1B6B55"/>
            </a:solidFill>
            <a:effectLst/>
          </c:spPr>
          <c:invertIfNegative val="0"/>
          <c:dLbls>
            <c:numFmt formatCode="#,##0" sourceLinked="0"/>
            <c:txPr>
              <a:bodyPr/>
              <a:lstStyle/>
              <a:p>
                <a:pPr>
                  <a:defRPr b="1" i="0" strike="noStrike" sz="1300" u="none">
                    <a:solidFill>
                      <a:srgbClr val="1F2A37"/>
                    </a:solidFill>
                    <a:latin typeface="+mn-lt"/>
                  </a:defRPr>
                </a:pPr>
              </a:p>
            </c:txPr>
            <c:showLegendKey val="0"/>
            <c:showVal val="1"/>
            <c:showCatName val="0"/>
            <c:showSerName val="0"/>
            <c:showPercent val="0"/>
            <c:showBubbleSize val="0"/>
            <c:showLeaderLines val="0"/>
          </c:dLbls>
          <c:cat>
            <c:multiLvlStrRef>
              <c:f>Sheet1!$A$2:$A$5</c:f>
              <c:multiLvlStrCache>
                <c:ptCount val="4"/>
                <c:lvl>
                  <c:pt idx="0">
                    <c:v>2022</c:v>
                  </c:pt>
                  <c:pt idx="1">
                    <c:v>2023</c:v>
                  </c:pt>
                  <c:pt idx="2">
                    <c:v>2024</c:v>
                  </c:pt>
                  <c:pt idx="3">
                    <c:v>2025</c:v>
                  </c:pt>
                </c:lvl>
              </c:multiLvlStrCache>
            </c:multiLvlStrRef>
          </c:cat>
          <c:val>
            <c:numRef>
              <c:f>Sheet1!$B$2:$B$5</c:f>
              <c:numCache>
                <c:formatCode>General</c:formatCode>
                <c:ptCount val="4"/>
                <c:pt idx="0">
                  <c:v>85</c:v>
                </c:pt>
                <c:pt idx="1">
                  <c:v>316</c:v>
                </c:pt>
                <c:pt idx="2">
                  <c:v>458</c:v>
                </c:pt>
                <c:pt idx="3">
                  <c:v>581</c:v>
                </c:pt>
              </c:numCache>
            </c:numRef>
          </c:val>
        </c:ser>
        <c:dLbls>
          <c:numFmt formatCode="#,##0" sourceLinked="0"/>
          <c:txPr>
            <a:bodyPr/>
            <a:lstStyle/>
            <a:p>
              <a:pPr>
                <a:defRPr b="1" i="0" strike="noStrike" sz="1300" u="none">
                  <a:solidFill>
                    <a:srgbClr val="1F2A37"/>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3C4A5A"/>
                    </a:solidFill>
                    <a:latin typeface="+mn-lt"/>
                  </a:defRPr>
                </a:pPr>
                <a:r>
                  <a:rPr sz="1100" b="0" i="0" u="none" strike="noStrike">
                    <a:solidFill>
                      <a:srgbClr val="3C4A5A"/>
                    </a:solidFill>
                    <a:latin typeface="+mn-lt"/>
                  </a:rPr>
                  <a:t>jaar</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C4A5A"/>
                </a:solidFill>
                <a:latin typeface="+mn-lt"/>
              </a:defRPr>
            </a:pPr>
            <a:endParaRPr lang="en-US"/>
          </a:p>
        </c:txPr>
        <c:crossAx val="2094734552"/>
        <c:crosses val="autoZero"/>
        <c:auto val="1"/>
        <c:lblAlgn val="ctr"/>
        <c:noMultiLvlLbl val="1"/>
      </c:catAx>
      <c:valAx>
        <c:axId val="2094734552"/>
        <c:scaling>
          <c:orientation val="minMax"/>
          <c:max val="700"/>
          <c:min val="0"/>
        </c:scaling>
        <c:delete val="0"/>
        <c:axPos val="l"/>
        <c:majorGridlines>
          <c:spPr>
            <a:ln w="9525" cap="flat">
              <a:solidFill>
                <a:srgbClr val="E3E8EE"/>
              </a:solidFill>
              <a:prstDash val="solid"/>
              <a:round/>
            </a:ln>
          </c:spPr>
        </c:majorGridlines>
        <c:title>
          <c:tx>
            <c:rich>
              <a:bodyPr/>
              <a:lstStyle/>
              <a:p>
                <a:pPr>
                  <a:defRPr sz="1100" b="0" i="0" u="none" strike="noStrike">
                    <a:solidFill>
                      <a:srgbClr val="3C4A5A"/>
                    </a:solidFill>
                    <a:latin typeface="+mn-lt"/>
                  </a:defRPr>
                </a:pPr>
                <a:r>
                  <a:rPr sz="1100" b="0" i="0" u="none" strike="noStrike">
                    <a:solidFill>
                      <a:srgbClr val="3C4A5A"/>
                    </a:solidFill>
                    <a:latin typeface="+mn-lt"/>
                  </a:rPr>
                  <a:t>aantal uren</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C4A5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TIJD: 0:00-0:30.
Welkom. Wij zijn groep 3 en presenteren sprint 1 en 2 van Project Enexis. In sprint 1 waren we de directie van Enexis en bedachten we een datavraagstuk; in sprint 2 waren we de consultant en onderzochten we de Nederlandse energiemarkt.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TIJD: 0:30-1:00.
We hebben deze keer vooraf een tijdschema gemaakt en geoefend. Zwaartepunt: het bedrijfsmodel (3 min) en de analyse met twee datavragen (6 min). Dat is wat we als feedback kregen na sprint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TIJD: 1:00-2:00.
Feedbackpunt: vertel hoe het onderzoek is gedaan. Wij deden deskresearch met officiële bronnen eerst, beoordeelden elke bron met CRAAP, analyseerden een CBS-dataset in Excel en hebben geen interviews gehouden, maar wel vragen voor de gastspreker voorbereid. Benoem eerlijk dat er geen interviews waren.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TIJD: 2:00-2:45.
Kort: Enexis is netbeheerder in vijf provincies, ongeveer 3 miljoen aansluitingen. Belangrijk verschil met een leverancier: Enexis verkoopt geen energie, maar vervoert die. Daarom is er geen concurrentie en toezicht door de ACM.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TIJD: 2:45-3:30.
Leg de keten uit: stroom wordt opgewekt, gaat via TenneT naar Enexis en via Enexis naar de klant. De leverancier zit er los van: die verkoopt de energie en stuurt de rekening. Klanten kiezen hun leverancier, niet hun netbeheerder.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TIJD: 3:30-5:00.
Feedbackpunt: niet alle negen bouwstenen kort, maar twee uitgebreid. We kozen kernactiviteiten en partners, omdat klantsegmenten en inkomsten grotendeels vastliggen in de wet. Loop de vier activiteiten langs met het cijfer erbij. Kernboodschap: het grootste probleem (vol net) zit in deze activiteiten, en daar zit ook de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TIJD: 5:00-6:30.
Tweede bouwsteen: partners. Geef bij elke partner het concrete voorbeeld. TenneT: Enexis kan in Brabant en Limburg pas verder als TenneT capaciteit vrijgeeft. Gemeenten: bepalen via de Transitievisie Warmte welke wijk van het gas af gaat. Leveranciers: innen het geld voor Enexis. Aannemers: voeren het werk uit. Kernboodschap: Enexis is afhankelijk van partners om het net sneller uit te breiden.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TIJD: 6:30-7:15.
Dit is onze hypothese uit sprint 1, de basis van ons datavraagstuk. De balken zijn onze verwachting, geen metingen. Toetsen kan met de open data van Enexis per postcode, gekoppeld aan CBS-buurtcijfers over het soort gebied. Dit sluit aan op advies 1 later: voorspellen waar het net vol loopt.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TIJD: 7:15-7:45.
Vier onderdelen: levering, netbeheer, energiebelasting en btw. Alleen het tweede deel gaat naar Enexis, en dat tarief zet de ACM vast. Brug naar de volgende slide: wat gebeurde er met de leveringsprijs in 2022?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TIJD: 7:45-9:15.
Datavraag 1. Lees eerst het antwoord bovenaan voor. Gas ging van 1,20 euro in januari naar 2,78 euro per m3 in oktober, stroom van 0,32 naar 0,66 euro per kWh. Stroom volgt gas omdat gascentrales vaak de stroomprijs bepalen. Loop de vier oorzaken onderaan langs. Let op: vanaf november gebruikt het CBS een nieuwe meetmethode, daarom zijn november en december gelijk. De data en grafiek staan ook in ons Excel-bestand.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TIJD: 9:15-10:30.
Datavraag 2. Lees het antwoord voor: van 85 uur in 2022 naar 581 uur in 2025, ongeveer 7% van het jaar. Dat is overcapaciteit: te veel stroom op hetzelfde moment. Tegelijk is er ondercapaciteit: ruim 15.000 bedrijven wachten op een aansluiting. Het net zit dus op sommige momenten en plekken vol, en op andere momenten is er te veel stroom. Dat is de kern van het probleem van Enexis.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TIJD: 10:30-11:15.
Het probleem speelt het sterkst in de provincies van Enexis. Netbeheerders verzwaren het net, maar dat gaat niet snel genoeg. Daarom ook slimme oplossingen: congestiemanagement, batterijen en dynamische contracten via de leveranciers.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TIJD: 11:15-12:00.
Vijf ontwikkelingen bovenaan, alleen noemen. Dan de drie leveranciers: Pure Energie goed (10), Eneco gemiddeld (8,1), Essent slecht (4,8) omdat het vooral vergroent met buitenlandse certificaten. Rechts: 11,2% van de woningen is aardgasvrij; voor het doel van 2030 moet het veel sneller. Voor Enexis: elke woning die van het gas gaat, vraagt meer van het stroomnet.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TIJD: 12:00-12:45.
We zochten eerst bij Enexis, maar vonden geen incident. Daarom drie incidenten bij leveranciers: een aanval van buiten, een lek bij een ingehuurd bedrijf en een dader van binnen. Per incident het AVG-artikel. Voor Enexis: slimme-meterdata zijn persoonsgegevens, dus alleen geanonimiseerd of samengevoegd gebruiken, zoals de open data met minimaal 10 aansluitingen per regel.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TIJD: 12:45-13:15.
Drie conclusies die alles samenvatten. Eindig met de hoofdboodschap: Enexis heeft de data al, maar moet die gebruiken om vooruit te kijken. Daarover gaat ons advies.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TIJD: 13:15-14:00.
Vier adviezen die volgen uit de analyse. Benadruk de middelste kolom: Enexis heeft al deze data. Advies 1 is ons datavraagstuk uit sprint 1. Rest kort.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TIJD: 14:00-14:20.
Kort: we hebben zes vragen voorbereid, hier de drie belangrijkste. Bij elke vraag zeggen waarom we hem stellen.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TIJD: 14:20-14:50.
Proces: wat ging in sprint 1 minder, en wat deden we in sprint 2 anders. GenAI: hulpmiddel, geen bron. Belangrijkste les: cijfers altijd zelf nazoeken.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TIJD: 14:50-15:00.
Bedanken en vragen beantwoorden. Achtergrondmateriaal: rapport sprint 2, Excel-bestand, samenwerkingsovereenkomst en reflectie.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77724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4013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777240"/>
          </a:xfrm>
          <a:prstGeom prst="rect">
            <a:avLst/>
          </a:prstGeom>
          <a:noFill/>
          <a:ln/>
        </p:spPr>
        <p:txBody>
          <a:bodyPr wrap="square" rtlCol="0"/>
          <a:lstStyle>
            <a:lvl1pPr algn="l" indent="0" marL="0">
              <a:buNone/>
              <a:defRPr lang="en-US" sz="3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4013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GREEN">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914400"/>
            <a:ext cx="10820095" cy="137160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4013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4013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85800" y="1600200"/>
            <a:ext cx="6400800" cy="256032"/>
          </a:xfrm>
          <a:prstGeom prst="rect">
            <a:avLst/>
          </a:prstGeom>
          <a:noFill/>
          <a:ln/>
        </p:spPr>
        <p:txBody>
          <a:bodyPr wrap="square" lIns="0" tIns="0" rIns="0" bIns="0" rtlCol="0" anchor="t"/>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DATALAB 1  ·  APPLIED DATA SCIENCE &amp; AI  ·  SPRINT 1 EN 2</a:t>
            </a:r>
            <a:endParaRPr lang="en-US" sz="1100" dirty="0"/>
          </a:p>
        </p:txBody>
      </p:sp>
      <p:sp>
        <p:nvSpPr>
          <p:cNvPr id="3" name="Text 1"/>
          <p:cNvSpPr txBox="1"/>
          <p:nvPr/>
        </p:nvSpPr>
        <p:spPr>
          <a:xfrm>
            <a:off x="685800" y="1920240"/>
            <a:ext cx="6400800" cy="100584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Project Enexis</a:t>
            </a:r>
            <a:endParaRPr lang="en-US" sz="5400" dirty="0"/>
          </a:p>
        </p:txBody>
      </p:sp>
      <p:sp>
        <p:nvSpPr>
          <p:cNvPr id="4" name="Text 2"/>
          <p:cNvSpPr txBox="1"/>
          <p:nvPr/>
        </p:nvSpPr>
        <p:spPr>
          <a:xfrm>
            <a:off x="685800" y="2971800"/>
            <a:ext cx="6035040" cy="822960"/>
          </a:xfrm>
          <a:prstGeom prst="rect">
            <a:avLst/>
          </a:prstGeom>
          <a:noFill/>
          <a:ln/>
        </p:spPr>
        <p:txBody>
          <a:bodyPr wrap="square" lIns="0" tIns="0" rIns="0" bIns="0" rtlCol="0" anchor="t"/>
          <a:lstStyle/>
          <a:p>
            <a:pPr indent="0" marL="0">
              <a:buNone/>
            </a:pPr>
            <a:r>
              <a:rPr lang="en-US" sz="2200" dirty="0">
                <a:solidFill>
                  <a:srgbClr val="C9D3DE"/>
                </a:solidFill>
                <a:latin typeface="Calibri" pitchFamily="34" charset="0"/>
                <a:ea typeface="Calibri" pitchFamily="34" charset="-122"/>
                <a:cs typeface="Calibri" pitchFamily="34" charset="-120"/>
              </a:rPr>
              <a:t>De Nederlandse energiemarkt en wat data voor Enexis kan doen</a:t>
            </a:r>
            <a:endParaRPr lang="en-US" sz="2200" dirty="0"/>
          </a:p>
        </p:txBody>
      </p:sp>
      <p:sp>
        <p:nvSpPr>
          <p:cNvPr id="5" name="Text 3"/>
          <p:cNvSpPr txBox="1"/>
          <p:nvPr/>
        </p:nvSpPr>
        <p:spPr>
          <a:xfrm>
            <a:off x="685800" y="4617720"/>
            <a:ext cx="5486400" cy="256032"/>
          </a:xfrm>
          <a:prstGeom prst="rect">
            <a:avLst/>
          </a:prstGeom>
          <a:noFill/>
          <a:ln/>
        </p:spPr>
        <p:txBody>
          <a:bodyPr wrap="square" lIns="0" tIns="0" rIns="0" bIns="0" rtlCol="0" anchor="t"/>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GROEP 3  ·  ADSAI-DH-1.A</a:t>
            </a:r>
            <a:endParaRPr lang="en-US" sz="1100" dirty="0"/>
          </a:p>
        </p:txBody>
      </p:sp>
      <p:sp>
        <p:nvSpPr>
          <p:cNvPr id="6" name="Text 4"/>
          <p:cNvSpPr txBox="1"/>
          <p:nvPr/>
        </p:nvSpPr>
        <p:spPr>
          <a:xfrm>
            <a:off x="685800" y="4937760"/>
            <a:ext cx="6400800" cy="32004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Joshua Ferreira  ·  Mohamed Badr el Din  ·  Redouan Afkir  ·  Jemairo van Rey</a:t>
            </a:r>
            <a:endParaRPr lang="en-US" sz="1400" dirty="0"/>
          </a:p>
        </p:txBody>
      </p:sp>
      <p:sp>
        <p:nvSpPr>
          <p:cNvPr id="7" name="netwerk lijn 0"/>
          <p:cNvSpPr/>
          <p:nvPr/>
        </p:nvSpPr>
        <p:spPr>
          <a:xfrm flipV="1">
            <a:off x="7360920" y="1399032"/>
            <a:ext cx="1271016" cy="502920"/>
          </a:xfrm>
          <a:prstGeom prst="line">
            <a:avLst/>
          </a:prstGeom>
          <a:noFill/>
          <a:ln w="12700">
            <a:solidFill>
              <a:srgbClr val="4A6078"/>
            </a:solidFill>
            <a:prstDash val="solid"/>
          </a:ln>
        </p:spPr>
      </p:sp>
      <p:sp>
        <p:nvSpPr>
          <p:cNvPr id="8" name="netwerk lijn 1"/>
          <p:cNvSpPr/>
          <p:nvPr/>
        </p:nvSpPr>
        <p:spPr>
          <a:xfrm flipV="1">
            <a:off x="7086600" y="1399032"/>
            <a:ext cx="1545336" cy="1810512"/>
          </a:xfrm>
          <a:prstGeom prst="line">
            <a:avLst/>
          </a:prstGeom>
          <a:noFill/>
          <a:ln w="12700">
            <a:solidFill>
              <a:srgbClr val="4A6078"/>
            </a:solidFill>
            <a:prstDash val="solid"/>
          </a:ln>
        </p:spPr>
      </p:sp>
      <p:sp>
        <p:nvSpPr>
          <p:cNvPr id="9" name="netwerk lijn 2"/>
          <p:cNvSpPr/>
          <p:nvPr/>
        </p:nvSpPr>
        <p:spPr>
          <a:xfrm flipV="1">
            <a:off x="8412480" y="1399032"/>
            <a:ext cx="219456" cy="2185416"/>
          </a:xfrm>
          <a:prstGeom prst="line">
            <a:avLst/>
          </a:prstGeom>
          <a:noFill/>
          <a:ln w="12700">
            <a:solidFill>
              <a:srgbClr val="4A6078"/>
            </a:solidFill>
            <a:prstDash val="solid"/>
          </a:ln>
        </p:spPr>
      </p:sp>
      <p:sp>
        <p:nvSpPr>
          <p:cNvPr id="10" name="netwerk lijn 3"/>
          <p:cNvSpPr/>
          <p:nvPr/>
        </p:nvSpPr>
        <p:spPr>
          <a:xfrm>
            <a:off x="8631936" y="1399032"/>
            <a:ext cx="1380744" cy="676656"/>
          </a:xfrm>
          <a:prstGeom prst="line">
            <a:avLst/>
          </a:prstGeom>
          <a:noFill/>
          <a:ln w="12700">
            <a:solidFill>
              <a:srgbClr val="4A6078"/>
            </a:solidFill>
            <a:prstDash val="solid"/>
          </a:ln>
        </p:spPr>
      </p:sp>
      <p:sp>
        <p:nvSpPr>
          <p:cNvPr id="11" name="netwerk lijn 4"/>
          <p:cNvSpPr/>
          <p:nvPr/>
        </p:nvSpPr>
        <p:spPr>
          <a:xfrm flipV="1">
            <a:off x="10012680" y="1655064"/>
            <a:ext cx="1179576" cy="420624"/>
          </a:xfrm>
          <a:prstGeom prst="line">
            <a:avLst/>
          </a:prstGeom>
          <a:noFill/>
          <a:ln w="12700">
            <a:solidFill>
              <a:srgbClr val="4A6078"/>
            </a:solidFill>
            <a:prstDash val="solid"/>
          </a:ln>
        </p:spPr>
      </p:sp>
      <p:sp>
        <p:nvSpPr>
          <p:cNvPr id="12" name="netwerk lijn 5"/>
          <p:cNvSpPr/>
          <p:nvPr/>
        </p:nvSpPr>
        <p:spPr>
          <a:xfrm flipV="1">
            <a:off x="11055096" y="1655064"/>
            <a:ext cx="137160" cy="1764792"/>
          </a:xfrm>
          <a:prstGeom prst="line">
            <a:avLst/>
          </a:prstGeom>
          <a:noFill/>
          <a:ln w="12700">
            <a:solidFill>
              <a:srgbClr val="4A6078"/>
            </a:solidFill>
            <a:prstDash val="solid"/>
          </a:ln>
        </p:spPr>
      </p:sp>
      <p:sp>
        <p:nvSpPr>
          <p:cNvPr id="13" name="netwerk lijn 6"/>
          <p:cNvSpPr/>
          <p:nvPr/>
        </p:nvSpPr>
        <p:spPr>
          <a:xfrm flipV="1">
            <a:off x="8412480" y="2075688"/>
            <a:ext cx="1600200" cy="1508760"/>
          </a:xfrm>
          <a:prstGeom prst="line">
            <a:avLst/>
          </a:prstGeom>
          <a:noFill/>
          <a:ln w="12700">
            <a:solidFill>
              <a:srgbClr val="4A6078"/>
            </a:solidFill>
            <a:prstDash val="solid"/>
          </a:ln>
        </p:spPr>
      </p:sp>
      <p:sp>
        <p:nvSpPr>
          <p:cNvPr id="14" name="netwerk lijn 7"/>
          <p:cNvSpPr/>
          <p:nvPr/>
        </p:nvSpPr>
        <p:spPr>
          <a:xfrm flipV="1">
            <a:off x="9738360" y="2075688"/>
            <a:ext cx="274320" cy="969264"/>
          </a:xfrm>
          <a:prstGeom prst="line">
            <a:avLst/>
          </a:prstGeom>
          <a:noFill/>
          <a:ln w="12700">
            <a:solidFill>
              <a:srgbClr val="4A6078"/>
            </a:solidFill>
            <a:prstDash val="solid"/>
          </a:ln>
        </p:spPr>
      </p:sp>
      <p:sp>
        <p:nvSpPr>
          <p:cNvPr id="15" name="netwerk lijn 8"/>
          <p:cNvSpPr/>
          <p:nvPr/>
        </p:nvSpPr>
        <p:spPr>
          <a:xfrm>
            <a:off x="7086600" y="3209544"/>
            <a:ext cx="1325880" cy="374904"/>
          </a:xfrm>
          <a:prstGeom prst="line">
            <a:avLst/>
          </a:prstGeom>
          <a:noFill/>
          <a:ln w="12700">
            <a:solidFill>
              <a:srgbClr val="4A6078"/>
            </a:solidFill>
            <a:prstDash val="solid"/>
          </a:ln>
        </p:spPr>
      </p:sp>
      <p:sp>
        <p:nvSpPr>
          <p:cNvPr id="16" name="netwerk lijn 9"/>
          <p:cNvSpPr/>
          <p:nvPr/>
        </p:nvSpPr>
        <p:spPr>
          <a:xfrm>
            <a:off x="7086600" y="3209544"/>
            <a:ext cx="320040" cy="1636776"/>
          </a:xfrm>
          <a:prstGeom prst="line">
            <a:avLst/>
          </a:prstGeom>
          <a:noFill/>
          <a:ln w="12700">
            <a:solidFill>
              <a:srgbClr val="4A6078"/>
            </a:solidFill>
            <a:prstDash val="solid"/>
          </a:ln>
        </p:spPr>
      </p:sp>
      <p:sp>
        <p:nvSpPr>
          <p:cNvPr id="17" name="netwerk lijn 10"/>
          <p:cNvSpPr/>
          <p:nvPr/>
        </p:nvSpPr>
        <p:spPr>
          <a:xfrm flipV="1">
            <a:off x="8412480" y="3044952"/>
            <a:ext cx="1325880" cy="539496"/>
          </a:xfrm>
          <a:prstGeom prst="line">
            <a:avLst/>
          </a:prstGeom>
          <a:noFill/>
          <a:ln w="12700">
            <a:solidFill>
              <a:srgbClr val="4A6078"/>
            </a:solidFill>
            <a:prstDash val="solid"/>
          </a:ln>
        </p:spPr>
      </p:sp>
      <p:sp>
        <p:nvSpPr>
          <p:cNvPr id="18" name="netwerk lijn 11"/>
          <p:cNvSpPr/>
          <p:nvPr/>
        </p:nvSpPr>
        <p:spPr>
          <a:xfrm>
            <a:off x="9738360" y="3044952"/>
            <a:ext cx="1316736" cy="374904"/>
          </a:xfrm>
          <a:prstGeom prst="line">
            <a:avLst/>
          </a:prstGeom>
          <a:noFill/>
          <a:ln w="12700">
            <a:solidFill>
              <a:srgbClr val="4A6078"/>
            </a:solidFill>
            <a:prstDash val="solid"/>
          </a:ln>
        </p:spPr>
      </p:sp>
      <p:sp>
        <p:nvSpPr>
          <p:cNvPr id="19" name="netwerk lijn 12"/>
          <p:cNvSpPr/>
          <p:nvPr/>
        </p:nvSpPr>
        <p:spPr>
          <a:xfrm>
            <a:off x="8412480" y="3584448"/>
            <a:ext cx="411480" cy="1691640"/>
          </a:xfrm>
          <a:prstGeom prst="line">
            <a:avLst/>
          </a:prstGeom>
          <a:noFill/>
          <a:ln w="12700">
            <a:solidFill>
              <a:srgbClr val="4A6078"/>
            </a:solidFill>
            <a:prstDash val="solid"/>
          </a:ln>
        </p:spPr>
      </p:sp>
      <p:sp>
        <p:nvSpPr>
          <p:cNvPr id="20" name="netwerk lijn 13"/>
          <p:cNvSpPr/>
          <p:nvPr/>
        </p:nvSpPr>
        <p:spPr>
          <a:xfrm flipV="1">
            <a:off x="8823960" y="3044952"/>
            <a:ext cx="914400" cy="2231136"/>
          </a:xfrm>
          <a:prstGeom prst="line">
            <a:avLst/>
          </a:prstGeom>
          <a:noFill/>
          <a:ln w="12700">
            <a:solidFill>
              <a:srgbClr val="4A6078"/>
            </a:solidFill>
            <a:prstDash val="solid"/>
          </a:ln>
        </p:spPr>
      </p:sp>
      <p:sp>
        <p:nvSpPr>
          <p:cNvPr id="21" name="netwerk lijn 14"/>
          <p:cNvSpPr/>
          <p:nvPr/>
        </p:nvSpPr>
        <p:spPr>
          <a:xfrm>
            <a:off x="9738360" y="3044952"/>
            <a:ext cx="356616" cy="1508760"/>
          </a:xfrm>
          <a:prstGeom prst="line">
            <a:avLst/>
          </a:prstGeom>
          <a:noFill/>
          <a:ln w="12700">
            <a:solidFill>
              <a:srgbClr val="4A6078"/>
            </a:solidFill>
            <a:prstDash val="solid"/>
          </a:ln>
        </p:spPr>
      </p:sp>
      <p:sp>
        <p:nvSpPr>
          <p:cNvPr id="22" name="netwerk lijn 15"/>
          <p:cNvSpPr/>
          <p:nvPr/>
        </p:nvSpPr>
        <p:spPr>
          <a:xfrm flipV="1">
            <a:off x="8823960" y="4553712"/>
            <a:ext cx="1271016" cy="722376"/>
          </a:xfrm>
          <a:prstGeom prst="line">
            <a:avLst/>
          </a:prstGeom>
          <a:noFill/>
          <a:ln w="12700">
            <a:solidFill>
              <a:srgbClr val="4A6078"/>
            </a:solidFill>
            <a:prstDash val="solid"/>
          </a:ln>
        </p:spPr>
      </p:sp>
      <p:sp>
        <p:nvSpPr>
          <p:cNvPr id="23" name="netwerk lijn 16"/>
          <p:cNvSpPr/>
          <p:nvPr/>
        </p:nvSpPr>
        <p:spPr>
          <a:xfrm>
            <a:off x="10094976" y="4553712"/>
            <a:ext cx="1197864" cy="466344"/>
          </a:xfrm>
          <a:prstGeom prst="line">
            <a:avLst/>
          </a:prstGeom>
          <a:noFill/>
          <a:ln w="12700">
            <a:solidFill>
              <a:srgbClr val="4A6078"/>
            </a:solidFill>
            <a:prstDash val="solid"/>
          </a:ln>
        </p:spPr>
      </p:sp>
      <p:sp>
        <p:nvSpPr>
          <p:cNvPr id="24" name="netwerk lijn 17"/>
          <p:cNvSpPr/>
          <p:nvPr/>
        </p:nvSpPr>
        <p:spPr>
          <a:xfrm>
            <a:off x="11055096" y="3419856"/>
            <a:ext cx="237744" cy="1600200"/>
          </a:xfrm>
          <a:prstGeom prst="line">
            <a:avLst/>
          </a:prstGeom>
          <a:noFill/>
          <a:ln w="12700">
            <a:solidFill>
              <a:srgbClr val="4A6078"/>
            </a:solidFill>
            <a:prstDash val="solid"/>
          </a:ln>
        </p:spPr>
      </p:sp>
      <p:sp>
        <p:nvSpPr>
          <p:cNvPr id="25" name="netwerk lijn 18"/>
          <p:cNvSpPr/>
          <p:nvPr/>
        </p:nvSpPr>
        <p:spPr>
          <a:xfrm>
            <a:off x="7406640" y="4846320"/>
            <a:ext cx="1417320" cy="429768"/>
          </a:xfrm>
          <a:prstGeom prst="line">
            <a:avLst/>
          </a:prstGeom>
          <a:noFill/>
          <a:ln w="12700">
            <a:solidFill>
              <a:srgbClr val="4A6078"/>
            </a:solidFill>
            <a:prstDash val="solid"/>
          </a:ln>
        </p:spPr>
      </p:sp>
      <p:sp>
        <p:nvSpPr>
          <p:cNvPr id="26" name="netwerk knoop 0"/>
          <p:cNvSpPr/>
          <p:nvPr/>
        </p:nvSpPr>
        <p:spPr>
          <a:xfrm>
            <a:off x="8554212" y="1321308"/>
            <a:ext cx="155448" cy="155448"/>
          </a:xfrm>
          <a:prstGeom prst="ellipse">
            <a:avLst/>
          </a:prstGeom>
          <a:solidFill>
            <a:schemeClr val="tx2"/>
          </a:solidFill>
          <a:ln w="15875">
            <a:solidFill>
              <a:srgbClr val="C9D3DE"/>
            </a:solidFill>
            <a:prstDash val="solid"/>
          </a:ln>
        </p:spPr>
      </p:sp>
      <p:sp>
        <p:nvSpPr>
          <p:cNvPr id="27" name="netwerk knoop 1"/>
          <p:cNvSpPr/>
          <p:nvPr/>
        </p:nvSpPr>
        <p:spPr>
          <a:xfrm>
            <a:off x="7283196" y="1824228"/>
            <a:ext cx="155448" cy="155448"/>
          </a:xfrm>
          <a:prstGeom prst="ellipse">
            <a:avLst/>
          </a:prstGeom>
          <a:solidFill>
            <a:schemeClr val="tx2"/>
          </a:solidFill>
          <a:ln w="15875">
            <a:solidFill>
              <a:srgbClr val="C9D3DE"/>
            </a:solidFill>
            <a:prstDash val="solid"/>
          </a:ln>
        </p:spPr>
      </p:sp>
      <p:sp>
        <p:nvSpPr>
          <p:cNvPr id="28" name="netwerk knoop 2"/>
          <p:cNvSpPr/>
          <p:nvPr/>
        </p:nvSpPr>
        <p:spPr>
          <a:xfrm>
            <a:off x="9893808" y="1956816"/>
            <a:ext cx="237744" cy="237744"/>
          </a:xfrm>
          <a:prstGeom prst="ellipse">
            <a:avLst/>
          </a:prstGeom>
          <a:solidFill>
            <a:schemeClr val="accent2"/>
          </a:solidFill>
          <a:ln w="15875">
            <a:solidFill>
              <a:schemeClr val="accent2"/>
            </a:solidFill>
            <a:prstDash val="solid"/>
          </a:ln>
        </p:spPr>
      </p:sp>
      <p:sp>
        <p:nvSpPr>
          <p:cNvPr id="29" name="netwerk knoop 3"/>
          <p:cNvSpPr/>
          <p:nvPr/>
        </p:nvSpPr>
        <p:spPr>
          <a:xfrm>
            <a:off x="11114532" y="1577340"/>
            <a:ext cx="155448" cy="155448"/>
          </a:xfrm>
          <a:prstGeom prst="ellipse">
            <a:avLst/>
          </a:prstGeom>
          <a:solidFill>
            <a:schemeClr val="tx2"/>
          </a:solidFill>
          <a:ln w="15875">
            <a:solidFill>
              <a:srgbClr val="C9D3DE"/>
            </a:solidFill>
            <a:prstDash val="solid"/>
          </a:ln>
        </p:spPr>
      </p:sp>
      <p:sp>
        <p:nvSpPr>
          <p:cNvPr id="30" name="netwerk knoop 4"/>
          <p:cNvSpPr/>
          <p:nvPr/>
        </p:nvSpPr>
        <p:spPr>
          <a:xfrm>
            <a:off x="7008876" y="3131820"/>
            <a:ext cx="155448" cy="155448"/>
          </a:xfrm>
          <a:prstGeom prst="ellipse">
            <a:avLst/>
          </a:prstGeom>
          <a:solidFill>
            <a:schemeClr val="tx2"/>
          </a:solidFill>
          <a:ln w="15875">
            <a:solidFill>
              <a:srgbClr val="C9D3DE"/>
            </a:solidFill>
            <a:prstDash val="solid"/>
          </a:ln>
        </p:spPr>
      </p:sp>
      <p:sp>
        <p:nvSpPr>
          <p:cNvPr id="31" name="netwerk knoop 5"/>
          <p:cNvSpPr/>
          <p:nvPr/>
        </p:nvSpPr>
        <p:spPr>
          <a:xfrm>
            <a:off x="9660636" y="2967228"/>
            <a:ext cx="155448" cy="155448"/>
          </a:xfrm>
          <a:prstGeom prst="ellipse">
            <a:avLst/>
          </a:prstGeom>
          <a:solidFill>
            <a:schemeClr val="tx2"/>
          </a:solidFill>
          <a:ln w="15875">
            <a:solidFill>
              <a:srgbClr val="C9D3DE"/>
            </a:solidFill>
            <a:prstDash val="solid"/>
          </a:ln>
        </p:spPr>
      </p:sp>
      <p:sp>
        <p:nvSpPr>
          <p:cNvPr id="32" name="netwerk knoop 6"/>
          <p:cNvSpPr/>
          <p:nvPr/>
        </p:nvSpPr>
        <p:spPr>
          <a:xfrm>
            <a:off x="8293608" y="3465576"/>
            <a:ext cx="237744" cy="237744"/>
          </a:xfrm>
          <a:prstGeom prst="ellipse">
            <a:avLst/>
          </a:prstGeom>
          <a:solidFill>
            <a:schemeClr val="accent2"/>
          </a:solidFill>
          <a:ln w="15875">
            <a:solidFill>
              <a:schemeClr val="accent2"/>
            </a:solidFill>
            <a:prstDash val="solid"/>
          </a:ln>
        </p:spPr>
      </p:sp>
      <p:sp>
        <p:nvSpPr>
          <p:cNvPr id="33" name="netwerk knoop 7"/>
          <p:cNvSpPr/>
          <p:nvPr/>
        </p:nvSpPr>
        <p:spPr>
          <a:xfrm>
            <a:off x="10977372" y="3342132"/>
            <a:ext cx="155448" cy="155448"/>
          </a:xfrm>
          <a:prstGeom prst="ellipse">
            <a:avLst/>
          </a:prstGeom>
          <a:solidFill>
            <a:schemeClr val="tx2"/>
          </a:solidFill>
          <a:ln w="15875">
            <a:solidFill>
              <a:srgbClr val="C9D3DE"/>
            </a:solidFill>
            <a:prstDash val="solid"/>
          </a:ln>
        </p:spPr>
      </p:sp>
      <p:sp>
        <p:nvSpPr>
          <p:cNvPr id="34" name="netwerk knoop 8"/>
          <p:cNvSpPr/>
          <p:nvPr/>
        </p:nvSpPr>
        <p:spPr>
          <a:xfrm>
            <a:off x="9976104" y="4434840"/>
            <a:ext cx="237744" cy="237744"/>
          </a:xfrm>
          <a:prstGeom prst="ellipse">
            <a:avLst/>
          </a:prstGeom>
          <a:solidFill>
            <a:schemeClr val="accent2"/>
          </a:solidFill>
          <a:ln w="15875">
            <a:solidFill>
              <a:schemeClr val="accent2"/>
            </a:solidFill>
            <a:prstDash val="solid"/>
          </a:ln>
        </p:spPr>
      </p:sp>
      <p:sp>
        <p:nvSpPr>
          <p:cNvPr id="35" name="netwerk knoop 9"/>
          <p:cNvSpPr/>
          <p:nvPr/>
        </p:nvSpPr>
        <p:spPr>
          <a:xfrm>
            <a:off x="7328916" y="4768596"/>
            <a:ext cx="155448" cy="155448"/>
          </a:xfrm>
          <a:prstGeom prst="ellipse">
            <a:avLst/>
          </a:prstGeom>
          <a:solidFill>
            <a:schemeClr val="tx2"/>
          </a:solidFill>
          <a:ln w="15875">
            <a:solidFill>
              <a:srgbClr val="C9D3DE"/>
            </a:solidFill>
            <a:prstDash val="solid"/>
          </a:ln>
        </p:spPr>
      </p:sp>
      <p:sp>
        <p:nvSpPr>
          <p:cNvPr id="36" name="netwerk knoop 10"/>
          <p:cNvSpPr/>
          <p:nvPr/>
        </p:nvSpPr>
        <p:spPr>
          <a:xfrm>
            <a:off x="8746236" y="5198364"/>
            <a:ext cx="155448" cy="155448"/>
          </a:xfrm>
          <a:prstGeom prst="ellipse">
            <a:avLst/>
          </a:prstGeom>
          <a:solidFill>
            <a:schemeClr val="tx2"/>
          </a:solidFill>
          <a:ln w="15875">
            <a:solidFill>
              <a:srgbClr val="C9D3DE"/>
            </a:solidFill>
            <a:prstDash val="solid"/>
          </a:ln>
        </p:spPr>
      </p:sp>
      <p:sp>
        <p:nvSpPr>
          <p:cNvPr id="37" name="netwerk knoop 11"/>
          <p:cNvSpPr/>
          <p:nvPr/>
        </p:nvSpPr>
        <p:spPr>
          <a:xfrm>
            <a:off x="11215116" y="4942332"/>
            <a:ext cx="155448" cy="155448"/>
          </a:xfrm>
          <a:prstGeom prst="ellipse">
            <a:avLst/>
          </a:prstGeom>
          <a:solidFill>
            <a:schemeClr val="tx2"/>
          </a:solidFill>
          <a:ln w="15875">
            <a:solidFill>
              <a:srgbClr val="C9D3DE"/>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Opbouw van deze presentatie</a:t>
            </a:r>
            <a:endParaRPr lang="en-US" sz="3400" dirty="0"/>
          </a:p>
        </p:txBody>
      </p:sp>
      <p:sp>
        <p:nvSpPr>
          <p:cNvPr id="3" name="blok Introductie"/>
          <p:cNvSpPr/>
          <p:nvPr/>
        </p:nvSpPr>
        <p:spPr>
          <a:xfrm>
            <a:off x="685800" y="1600200"/>
            <a:ext cx="2514600" cy="3566160"/>
          </a:xfrm>
          <a:prstGeom prst="roundRect">
            <a:avLst>
              <a:gd name="adj" fmla="val 4364"/>
            </a:avLst>
          </a:prstGeom>
          <a:solidFill>
            <a:schemeClr val="bg2"/>
          </a:solidFill>
          <a:ln w="12700">
            <a:solidFill>
              <a:schemeClr val="bg2"/>
            </a:solidFill>
            <a:prstDash val="solid"/>
          </a:ln>
        </p:spPr>
      </p:sp>
      <p:sp>
        <p:nvSpPr>
          <p:cNvPr id="4" name="nummer 1"/>
          <p:cNvSpPr/>
          <p:nvPr/>
        </p:nvSpPr>
        <p:spPr>
          <a:xfrm>
            <a:off x="960120" y="1874520"/>
            <a:ext cx="420624" cy="420624"/>
          </a:xfrm>
          <a:prstGeom prst="ellipse">
            <a:avLst/>
          </a:prstGeom>
          <a:solidFill>
            <a:schemeClr val="accent1"/>
          </a:solidFill>
          <a:ln w="12700">
            <a:solidFill>
              <a:schemeClr val="accent1"/>
            </a:solidFill>
            <a:prstDash val="solid"/>
          </a:ln>
        </p:spPr>
      </p:sp>
      <p:sp>
        <p:nvSpPr>
          <p:cNvPr id="5" name="Text 3"/>
          <p:cNvSpPr txBox="1"/>
          <p:nvPr/>
        </p:nvSpPr>
        <p:spPr>
          <a:xfrm>
            <a:off x="960120" y="187452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960120" y="2468880"/>
            <a:ext cx="196596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Introductie</a:t>
            </a:r>
            <a:endParaRPr lang="en-US" sz="2000" dirty="0"/>
          </a:p>
        </p:txBody>
      </p:sp>
      <p:sp>
        <p:nvSpPr>
          <p:cNvPr id="7" name="Text 5"/>
          <p:cNvSpPr txBox="1"/>
          <p:nvPr/>
        </p:nvSpPr>
        <p:spPr>
          <a:xfrm>
            <a:off x="960120" y="2926080"/>
            <a:ext cx="1965960" cy="685800"/>
          </a:xfrm>
          <a:prstGeom prst="rect">
            <a:avLst/>
          </a:prstGeom>
          <a:noFill/>
          <a:ln/>
        </p:spPr>
        <p:txBody>
          <a:bodyPr wrap="square" lIns="0" tIns="0" rIns="0" bIns="0" rtlCol="0" anchor="t"/>
          <a:lstStyle/>
          <a:p>
            <a:pPr indent="0" marL="0">
              <a:buNone/>
            </a:pPr>
            <a:r>
              <a:rPr lang="en-US" sz="3800" b="1" dirty="0">
                <a:solidFill>
                  <a:schemeClr val="accent1"/>
                </a:solidFill>
                <a:latin typeface="Cambria" pitchFamily="34" charset="0"/>
                <a:ea typeface="Cambria" pitchFamily="34" charset="-122"/>
                <a:cs typeface="Cambria" pitchFamily="34" charset="-120"/>
              </a:rPr>
              <a:t>3 min</a:t>
            </a:r>
            <a:endParaRPr lang="en-US" sz="3800" dirty="0"/>
          </a:p>
        </p:txBody>
      </p:sp>
      <p:sp>
        <p:nvSpPr>
          <p:cNvPr id="8" name="Text 6"/>
          <p:cNvSpPr txBox="1"/>
          <p:nvPr/>
        </p:nvSpPr>
        <p:spPr>
          <a:xfrm>
            <a:off x="960120" y="3749040"/>
            <a:ext cx="1965960" cy="1280160"/>
          </a:xfrm>
          <a:prstGeom prst="rect">
            <a:avLst/>
          </a:prstGeom>
          <a:noFill/>
          <a:ln/>
        </p:spPr>
        <p:txBody>
          <a:bodyPr wrap="square" lIns="0" tIns="0" rIns="0" bIns="0" rtlCol="0" anchor="t"/>
          <a:lstStyle/>
          <a:p>
            <a:pPr indent="0" marL="0">
              <a:spcAft>
                <a:spcPts val="600"/>
              </a:spcAft>
              <a:buNone/>
            </a:pPr>
            <a:r>
              <a:rPr lang="en-US" sz="1400" dirty="0">
                <a:solidFill>
                  <a:schemeClr val="accent5"/>
                </a:solidFill>
                <a:latin typeface="Calibri" pitchFamily="34" charset="0"/>
                <a:ea typeface="Calibri" pitchFamily="34" charset="-122"/>
                <a:cs typeface="Calibri" pitchFamily="34" charset="-120"/>
              </a:rPr>
              <a:t>Onderzoeksmethode</a:t>
            </a:r>
            <a:endParaRPr lang="en-US" sz="1400" dirty="0"/>
          </a:p>
          <a:p>
            <a:pPr indent="0" marL="0">
              <a:spcAft>
                <a:spcPts val="600"/>
              </a:spcAft>
              <a:buNone/>
            </a:pPr>
            <a:r>
              <a:rPr lang="en-US" sz="1400" dirty="0">
                <a:solidFill>
                  <a:schemeClr val="accent5"/>
                </a:solidFill>
                <a:latin typeface="Calibri" pitchFamily="34" charset="0"/>
                <a:ea typeface="Calibri" pitchFamily="34" charset="-122"/>
                <a:cs typeface="Calibri" pitchFamily="34" charset="-120"/>
              </a:rPr>
              <a:t>Wie is Enexis?</a:t>
            </a:r>
            <a:endParaRPr lang="en-US" sz="1400" dirty="0"/>
          </a:p>
          <a:p>
            <a:pPr indent="0" marL="0">
              <a:spcAft>
                <a:spcPts val="600"/>
              </a:spcAft>
              <a:buNone/>
            </a:pPr>
            <a:r>
              <a:rPr lang="en-US" sz="1400" dirty="0">
                <a:solidFill>
                  <a:schemeClr val="accent5"/>
                </a:solidFill>
                <a:latin typeface="Calibri" pitchFamily="34" charset="0"/>
                <a:ea typeface="Calibri" pitchFamily="34" charset="-122"/>
                <a:cs typeface="Calibri" pitchFamily="34" charset="-120"/>
              </a:rPr>
              <a:t>Enexis in de energiemarkt</a:t>
            </a:r>
            <a:endParaRPr lang="en-US" sz="1400" dirty="0"/>
          </a:p>
        </p:txBody>
      </p:sp>
      <p:sp>
        <p:nvSpPr>
          <p:cNvPr id="9" name="blok Bedrijfsmodel"/>
          <p:cNvSpPr/>
          <p:nvPr/>
        </p:nvSpPr>
        <p:spPr>
          <a:xfrm>
            <a:off x="3429000" y="1600200"/>
            <a:ext cx="2514600" cy="3566160"/>
          </a:xfrm>
          <a:prstGeom prst="roundRect">
            <a:avLst>
              <a:gd name="adj" fmla="val 4364"/>
            </a:avLst>
          </a:prstGeom>
          <a:solidFill>
            <a:schemeClr val="accent1"/>
          </a:solidFill>
          <a:ln w="12700">
            <a:solidFill>
              <a:schemeClr val="accent1"/>
            </a:solidFill>
            <a:prstDash val="solid"/>
          </a:ln>
        </p:spPr>
      </p:sp>
      <p:sp>
        <p:nvSpPr>
          <p:cNvPr id="10" name="nummer 2"/>
          <p:cNvSpPr/>
          <p:nvPr/>
        </p:nvSpPr>
        <p:spPr>
          <a:xfrm>
            <a:off x="3703320" y="1874520"/>
            <a:ext cx="420624" cy="420624"/>
          </a:xfrm>
          <a:prstGeom prst="ellipse">
            <a:avLst/>
          </a:prstGeom>
          <a:solidFill>
            <a:schemeClr val="accent2"/>
          </a:solidFill>
          <a:ln w="12700">
            <a:solidFill>
              <a:schemeClr val="accent2"/>
            </a:solidFill>
            <a:prstDash val="solid"/>
          </a:ln>
        </p:spPr>
      </p:sp>
      <p:sp>
        <p:nvSpPr>
          <p:cNvPr id="11" name="Text 9"/>
          <p:cNvSpPr txBox="1"/>
          <p:nvPr/>
        </p:nvSpPr>
        <p:spPr>
          <a:xfrm>
            <a:off x="3703320" y="1874520"/>
            <a:ext cx="420624" cy="420624"/>
          </a:xfrm>
          <a:prstGeom prst="rect">
            <a:avLst/>
          </a:prstGeom>
          <a:noFill/>
          <a:ln/>
        </p:spPr>
        <p:txBody>
          <a:bodyPr wrap="square" lIns="0" tIns="0" rIns="0" bIns="0" rtlCol="0" anchor="ctr"/>
          <a:lstStyle/>
          <a:p>
            <a:pPr algn="ctr" indent="0" marL="0">
              <a:buNone/>
            </a:pPr>
            <a:r>
              <a:rPr lang="en-US" sz="1600" b="1" dirty="0">
                <a:solidFill>
                  <a:schemeClr val="tx2"/>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3703320" y="2468880"/>
            <a:ext cx="1965960" cy="41148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Bedrijfsmodel</a:t>
            </a:r>
            <a:endParaRPr lang="en-US" sz="2000" dirty="0"/>
          </a:p>
        </p:txBody>
      </p:sp>
      <p:sp>
        <p:nvSpPr>
          <p:cNvPr id="13" name="Text 11"/>
          <p:cNvSpPr txBox="1"/>
          <p:nvPr/>
        </p:nvSpPr>
        <p:spPr>
          <a:xfrm>
            <a:off x="3703320" y="2926080"/>
            <a:ext cx="1965960" cy="685800"/>
          </a:xfrm>
          <a:prstGeom prst="rect">
            <a:avLst/>
          </a:prstGeom>
          <a:noFill/>
          <a:ln/>
        </p:spPr>
        <p:txBody>
          <a:bodyPr wrap="square" lIns="0" tIns="0" rIns="0" bIns="0" rtlCol="0" anchor="t"/>
          <a:lstStyle/>
          <a:p>
            <a:pPr indent="0" marL="0">
              <a:buNone/>
            </a:pPr>
            <a:r>
              <a:rPr lang="en-US" sz="3800" b="1" dirty="0">
                <a:solidFill>
                  <a:schemeClr val="accent2"/>
                </a:solidFill>
                <a:latin typeface="Cambria" pitchFamily="34" charset="0"/>
                <a:ea typeface="Cambria" pitchFamily="34" charset="-122"/>
                <a:cs typeface="Cambria" pitchFamily="34" charset="-120"/>
              </a:rPr>
              <a:t>3 min</a:t>
            </a:r>
            <a:endParaRPr lang="en-US" sz="3800" dirty="0"/>
          </a:p>
        </p:txBody>
      </p:sp>
      <p:sp>
        <p:nvSpPr>
          <p:cNvPr id="14" name="Text 12"/>
          <p:cNvSpPr txBox="1"/>
          <p:nvPr/>
        </p:nvSpPr>
        <p:spPr>
          <a:xfrm>
            <a:off x="3703320" y="3749040"/>
            <a:ext cx="1965960" cy="1280160"/>
          </a:xfrm>
          <a:prstGeom prst="rect">
            <a:avLst/>
          </a:prstGeom>
          <a:noFill/>
          <a:ln/>
        </p:spPr>
        <p:txBody>
          <a:bodyPr wrap="square" lIns="0" tIns="0" rIns="0" bIns="0" rtlCol="0" anchor="t"/>
          <a:lstStyle/>
          <a:p>
            <a:pPr indent="0" marL="0">
              <a:spcAft>
                <a:spcPts val="600"/>
              </a:spcAft>
              <a:buNone/>
            </a:pPr>
            <a:r>
              <a:rPr lang="en-US" sz="1400" dirty="0">
                <a:solidFill>
                  <a:schemeClr val="bg1"/>
                </a:solidFill>
                <a:latin typeface="Calibri" pitchFamily="34" charset="0"/>
                <a:ea typeface="Calibri" pitchFamily="34" charset="-122"/>
                <a:cs typeface="Calibri" pitchFamily="34" charset="-120"/>
              </a:rPr>
              <a:t>BMC: kernactiviteiten</a:t>
            </a:r>
            <a:endParaRPr lang="en-US" sz="1400" dirty="0"/>
          </a:p>
          <a:p>
            <a:pPr indent="0" marL="0">
              <a:spcAft>
                <a:spcPts val="600"/>
              </a:spcAft>
              <a:buNone/>
            </a:pPr>
            <a:r>
              <a:rPr lang="en-US" sz="1400" dirty="0">
                <a:solidFill>
                  <a:schemeClr val="bg1"/>
                </a:solidFill>
                <a:latin typeface="Calibri" pitchFamily="34" charset="0"/>
                <a:ea typeface="Calibri" pitchFamily="34" charset="-122"/>
                <a:cs typeface="Calibri" pitchFamily="34" charset="-120"/>
              </a:rPr>
              <a:t>BMC: belangrijkste partners</a:t>
            </a:r>
            <a:endParaRPr lang="en-US" sz="1400" dirty="0"/>
          </a:p>
        </p:txBody>
      </p:sp>
      <p:sp>
        <p:nvSpPr>
          <p:cNvPr id="15" name="blok Analyse"/>
          <p:cNvSpPr/>
          <p:nvPr/>
        </p:nvSpPr>
        <p:spPr>
          <a:xfrm>
            <a:off x="6172200" y="1600200"/>
            <a:ext cx="2514600" cy="3566160"/>
          </a:xfrm>
          <a:prstGeom prst="roundRect">
            <a:avLst>
              <a:gd name="adj" fmla="val 4364"/>
            </a:avLst>
          </a:prstGeom>
          <a:solidFill>
            <a:schemeClr val="accent1"/>
          </a:solidFill>
          <a:ln w="12700">
            <a:solidFill>
              <a:schemeClr val="accent1"/>
            </a:solidFill>
            <a:prstDash val="solid"/>
          </a:ln>
        </p:spPr>
      </p:sp>
      <p:sp>
        <p:nvSpPr>
          <p:cNvPr id="16" name="nummer 3"/>
          <p:cNvSpPr/>
          <p:nvPr/>
        </p:nvSpPr>
        <p:spPr>
          <a:xfrm>
            <a:off x="6446520" y="1874520"/>
            <a:ext cx="420624" cy="420624"/>
          </a:xfrm>
          <a:prstGeom prst="ellipse">
            <a:avLst/>
          </a:prstGeom>
          <a:solidFill>
            <a:schemeClr val="accent2"/>
          </a:solidFill>
          <a:ln w="12700">
            <a:solidFill>
              <a:schemeClr val="accent2"/>
            </a:solidFill>
            <a:prstDash val="solid"/>
          </a:ln>
        </p:spPr>
      </p:sp>
      <p:sp>
        <p:nvSpPr>
          <p:cNvPr id="17" name="Text 15"/>
          <p:cNvSpPr txBox="1"/>
          <p:nvPr/>
        </p:nvSpPr>
        <p:spPr>
          <a:xfrm>
            <a:off x="6446520" y="1874520"/>
            <a:ext cx="420624" cy="420624"/>
          </a:xfrm>
          <a:prstGeom prst="rect">
            <a:avLst/>
          </a:prstGeom>
          <a:noFill/>
          <a:ln/>
        </p:spPr>
        <p:txBody>
          <a:bodyPr wrap="square" lIns="0" tIns="0" rIns="0" bIns="0" rtlCol="0" anchor="ctr"/>
          <a:lstStyle/>
          <a:p>
            <a:pPr algn="ctr" indent="0" marL="0">
              <a:buNone/>
            </a:pPr>
            <a:r>
              <a:rPr lang="en-US" sz="1600" b="1" dirty="0">
                <a:solidFill>
                  <a:schemeClr val="tx2"/>
                </a:solidFill>
                <a:latin typeface="Cambria" pitchFamily="34" charset="0"/>
                <a:ea typeface="Cambria" pitchFamily="34" charset="-122"/>
                <a:cs typeface="Cambria" pitchFamily="34" charset="-120"/>
              </a:rPr>
              <a:t>3</a:t>
            </a:r>
            <a:endParaRPr lang="en-US" sz="1600" dirty="0"/>
          </a:p>
        </p:txBody>
      </p:sp>
      <p:sp>
        <p:nvSpPr>
          <p:cNvPr id="18" name="Text 16"/>
          <p:cNvSpPr txBox="1"/>
          <p:nvPr/>
        </p:nvSpPr>
        <p:spPr>
          <a:xfrm>
            <a:off x="6446520" y="2468880"/>
            <a:ext cx="1965960" cy="41148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Analyse</a:t>
            </a:r>
            <a:endParaRPr lang="en-US" sz="2000" dirty="0"/>
          </a:p>
        </p:txBody>
      </p:sp>
      <p:sp>
        <p:nvSpPr>
          <p:cNvPr id="19" name="Text 17"/>
          <p:cNvSpPr txBox="1"/>
          <p:nvPr/>
        </p:nvSpPr>
        <p:spPr>
          <a:xfrm>
            <a:off x="6446520" y="2926080"/>
            <a:ext cx="1965960" cy="685800"/>
          </a:xfrm>
          <a:prstGeom prst="rect">
            <a:avLst/>
          </a:prstGeom>
          <a:noFill/>
          <a:ln/>
        </p:spPr>
        <p:txBody>
          <a:bodyPr wrap="square" lIns="0" tIns="0" rIns="0" bIns="0" rtlCol="0" anchor="t"/>
          <a:lstStyle/>
          <a:p>
            <a:pPr indent="0" marL="0">
              <a:buNone/>
            </a:pPr>
            <a:r>
              <a:rPr lang="en-US" sz="3800" b="1" dirty="0">
                <a:solidFill>
                  <a:schemeClr val="accent2"/>
                </a:solidFill>
                <a:latin typeface="Cambria" pitchFamily="34" charset="0"/>
                <a:ea typeface="Cambria" pitchFamily="34" charset="-122"/>
                <a:cs typeface="Cambria" pitchFamily="34" charset="-120"/>
              </a:rPr>
              <a:t>6 min</a:t>
            </a:r>
            <a:endParaRPr lang="en-US" sz="3800" dirty="0"/>
          </a:p>
        </p:txBody>
      </p:sp>
      <p:sp>
        <p:nvSpPr>
          <p:cNvPr id="20" name="Text 18"/>
          <p:cNvSpPr txBox="1"/>
          <p:nvPr/>
        </p:nvSpPr>
        <p:spPr>
          <a:xfrm>
            <a:off x="6446520" y="3749040"/>
            <a:ext cx="1965960" cy="1280160"/>
          </a:xfrm>
          <a:prstGeom prst="rect">
            <a:avLst/>
          </a:prstGeom>
          <a:noFill/>
          <a:ln/>
        </p:spPr>
        <p:txBody>
          <a:bodyPr wrap="square" lIns="0" tIns="0" rIns="0" bIns="0" rtlCol="0" anchor="t"/>
          <a:lstStyle/>
          <a:p>
            <a:pPr indent="0" marL="0">
              <a:spcAft>
                <a:spcPts val="600"/>
              </a:spcAft>
              <a:buNone/>
            </a:pPr>
            <a:r>
              <a:rPr lang="en-US" sz="1400" dirty="0">
                <a:solidFill>
                  <a:schemeClr val="bg1"/>
                </a:solidFill>
                <a:latin typeface="Calibri" pitchFamily="34" charset="0"/>
                <a:ea typeface="Calibri" pitchFamily="34" charset="-122"/>
                <a:cs typeface="Calibri" pitchFamily="34" charset="-120"/>
              </a:rPr>
              <a:t>Hypothese en prijsopbouw</a:t>
            </a:r>
            <a:endParaRPr lang="en-US" sz="1400" dirty="0"/>
          </a:p>
          <a:p>
            <a:pPr indent="0" marL="0">
              <a:spcAft>
                <a:spcPts val="600"/>
              </a:spcAft>
              <a:buNone/>
            </a:pPr>
            <a:r>
              <a:rPr lang="en-US" sz="1400" dirty="0">
                <a:solidFill>
                  <a:schemeClr val="bg1"/>
                </a:solidFill>
                <a:latin typeface="Calibri" pitchFamily="34" charset="0"/>
                <a:ea typeface="Calibri" pitchFamily="34" charset="-122"/>
                <a:cs typeface="Calibri" pitchFamily="34" charset="-120"/>
              </a:rPr>
              <a:t>Twee datavragen met grafiek</a:t>
            </a:r>
            <a:endParaRPr lang="en-US" sz="1400" dirty="0"/>
          </a:p>
          <a:p>
            <a:pPr indent="0" marL="0">
              <a:spcAft>
                <a:spcPts val="600"/>
              </a:spcAft>
              <a:buNone/>
            </a:pPr>
            <a:r>
              <a:rPr lang="en-US" sz="1400" dirty="0">
                <a:solidFill>
                  <a:schemeClr val="bg1"/>
                </a:solidFill>
                <a:latin typeface="Calibri" pitchFamily="34" charset="0"/>
                <a:ea typeface="Calibri" pitchFamily="34" charset="-122"/>
                <a:cs typeface="Calibri" pitchFamily="34" charset="-120"/>
              </a:rPr>
              <a:t>Capaciteit, duurzaamheid en privacy</a:t>
            </a:r>
            <a:endParaRPr lang="en-US" sz="1400" dirty="0"/>
          </a:p>
        </p:txBody>
      </p:sp>
      <p:sp>
        <p:nvSpPr>
          <p:cNvPr id="21" name="blok Conclusie"/>
          <p:cNvSpPr/>
          <p:nvPr/>
        </p:nvSpPr>
        <p:spPr>
          <a:xfrm>
            <a:off x="8915400" y="1600200"/>
            <a:ext cx="2514600" cy="3566160"/>
          </a:xfrm>
          <a:prstGeom prst="roundRect">
            <a:avLst>
              <a:gd name="adj" fmla="val 4364"/>
            </a:avLst>
          </a:prstGeom>
          <a:solidFill>
            <a:schemeClr val="bg2"/>
          </a:solidFill>
          <a:ln w="12700">
            <a:solidFill>
              <a:schemeClr val="bg2"/>
            </a:solidFill>
            <a:prstDash val="solid"/>
          </a:ln>
        </p:spPr>
      </p:sp>
      <p:sp>
        <p:nvSpPr>
          <p:cNvPr id="22" name="nummer 4"/>
          <p:cNvSpPr/>
          <p:nvPr/>
        </p:nvSpPr>
        <p:spPr>
          <a:xfrm>
            <a:off x="9189720" y="1874520"/>
            <a:ext cx="420624" cy="420624"/>
          </a:xfrm>
          <a:prstGeom prst="ellipse">
            <a:avLst/>
          </a:prstGeom>
          <a:solidFill>
            <a:schemeClr val="accent1"/>
          </a:solidFill>
          <a:ln w="12700">
            <a:solidFill>
              <a:schemeClr val="accent1"/>
            </a:solidFill>
            <a:prstDash val="solid"/>
          </a:ln>
        </p:spPr>
      </p:sp>
      <p:sp>
        <p:nvSpPr>
          <p:cNvPr id="23" name="Text 21"/>
          <p:cNvSpPr txBox="1"/>
          <p:nvPr/>
        </p:nvSpPr>
        <p:spPr>
          <a:xfrm>
            <a:off x="9189720" y="187452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4</a:t>
            </a:r>
            <a:endParaRPr lang="en-US" sz="1600" dirty="0"/>
          </a:p>
        </p:txBody>
      </p:sp>
      <p:sp>
        <p:nvSpPr>
          <p:cNvPr id="24" name="Text 22"/>
          <p:cNvSpPr txBox="1"/>
          <p:nvPr/>
        </p:nvSpPr>
        <p:spPr>
          <a:xfrm>
            <a:off x="9189720" y="2468880"/>
            <a:ext cx="196596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Conclusie</a:t>
            </a:r>
            <a:endParaRPr lang="en-US" sz="2000" dirty="0"/>
          </a:p>
        </p:txBody>
      </p:sp>
      <p:sp>
        <p:nvSpPr>
          <p:cNvPr id="25" name="Text 23"/>
          <p:cNvSpPr txBox="1"/>
          <p:nvPr/>
        </p:nvSpPr>
        <p:spPr>
          <a:xfrm>
            <a:off x="9189720" y="2926080"/>
            <a:ext cx="1965960" cy="685800"/>
          </a:xfrm>
          <a:prstGeom prst="rect">
            <a:avLst/>
          </a:prstGeom>
          <a:noFill/>
          <a:ln/>
        </p:spPr>
        <p:txBody>
          <a:bodyPr wrap="square" lIns="0" tIns="0" rIns="0" bIns="0" rtlCol="0" anchor="t"/>
          <a:lstStyle/>
          <a:p>
            <a:pPr indent="0" marL="0">
              <a:buNone/>
            </a:pPr>
            <a:r>
              <a:rPr lang="en-US" sz="3800" b="1" dirty="0">
                <a:solidFill>
                  <a:schemeClr val="accent1"/>
                </a:solidFill>
                <a:latin typeface="Cambria" pitchFamily="34" charset="0"/>
                <a:ea typeface="Cambria" pitchFamily="34" charset="-122"/>
                <a:cs typeface="Cambria" pitchFamily="34" charset="-120"/>
              </a:rPr>
              <a:t>3 min</a:t>
            </a:r>
            <a:endParaRPr lang="en-US" sz="3800" dirty="0"/>
          </a:p>
        </p:txBody>
      </p:sp>
      <p:sp>
        <p:nvSpPr>
          <p:cNvPr id="26" name="Text 24"/>
          <p:cNvSpPr txBox="1"/>
          <p:nvPr/>
        </p:nvSpPr>
        <p:spPr>
          <a:xfrm>
            <a:off x="9189720" y="3749040"/>
            <a:ext cx="1965960" cy="1280160"/>
          </a:xfrm>
          <a:prstGeom prst="rect">
            <a:avLst/>
          </a:prstGeom>
          <a:noFill/>
          <a:ln/>
        </p:spPr>
        <p:txBody>
          <a:bodyPr wrap="square" lIns="0" tIns="0" rIns="0" bIns="0" rtlCol="0" anchor="t"/>
          <a:lstStyle/>
          <a:p>
            <a:pPr indent="0" marL="0">
              <a:spcAft>
                <a:spcPts val="600"/>
              </a:spcAft>
              <a:buNone/>
            </a:pPr>
            <a:r>
              <a:rPr lang="en-US" sz="1400" dirty="0">
                <a:solidFill>
                  <a:schemeClr val="accent5"/>
                </a:solidFill>
                <a:latin typeface="Calibri" pitchFamily="34" charset="0"/>
                <a:ea typeface="Calibri" pitchFamily="34" charset="-122"/>
                <a:cs typeface="Calibri" pitchFamily="34" charset="-120"/>
              </a:rPr>
              <a:t>Conclusie en advies</a:t>
            </a:r>
            <a:endParaRPr lang="en-US" sz="1400" dirty="0"/>
          </a:p>
          <a:p>
            <a:pPr indent="0" marL="0">
              <a:spcAft>
                <a:spcPts val="600"/>
              </a:spcAft>
              <a:buNone/>
            </a:pPr>
            <a:r>
              <a:rPr lang="en-US" sz="1400" dirty="0">
                <a:solidFill>
                  <a:schemeClr val="accent5"/>
                </a:solidFill>
                <a:latin typeface="Calibri" pitchFamily="34" charset="0"/>
                <a:ea typeface="Calibri" pitchFamily="34" charset="-122"/>
                <a:cs typeface="Calibri" pitchFamily="34" charset="-120"/>
              </a:rPr>
              <a:t>Vragen voor de gastspreker</a:t>
            </a:r>
            <a:endParaRPr lang="en-US" sz="1400" dirty="0"/>
          </a:p>
          <a:p>
            <a:pPr indent="0" marL="0">
              <a:spcAft>
                <a:spcPts val="600"/>
              </a:spcAft>
              <a:buNone/>
            </a:pPr>
            <a:r>
              <a:rPr lang="en-US" sz="1400" dirty="0">
                <a:solidFill>
                  <a:schemeClr val="accent5"/>
                </a:solidFill>
                <a:latin typeface="Calibri" pitchFamily="34" charset="0"/>
                <a:ea typeface="Calibri" pitchFamily="34" charset="-122"/>
                <a:cs typeface="Calibri" pitchFamily="34" charset="-120"/>
              </a:rPr>
              <a:t>Samenwerking en GenAI</a:t>
            </a:r>
            <a:endParaRPr lang="en-US" sz="1400" dirty="0"/>
          </a:p>
        </p:txBody>
      </p:sp>
      <p:sp>
        <p:nvSpPr>
          <p:cNvPr id="27" name="Text 25"/>
          <p:cNvSpPr txBox="1"/>
          <p:nvPr/>
        </p:nvSpPr>
        <p:spPr>
          <a:xfrm>
            <a:off x="685800" y="5440680"/>
            <a:ext cx="10789920" cy="365760"/>
          </a:xfrm>
          <a:prstGeom prst="rect">
            <a:avLst/>
          </a:prstGeom>
          <a:noFill/>
          <a:ln/>
        </p:spPr>
        <p:txBody>
          <a:bodyPr wrap="square" lIns="0" tIns="0" rIns="0" bIns="0" rtlCol="0" anchor="t"/>
          <a:lstStyle/>
          <a:p>
            <a:pPr indent="0" marL="0">
              <a:buNone/>
            </a:pPr>
            <a:r>
              <a:rPr lang="en-US" sz="1400" i="1" dirty="0">
                <a:solidFill>
                  <a:schemeClr val="accent5"/>
                </a:solidFill>
                <a:latin typeface="Calibri" pitchFamily="34" charset="0"/>
                <a:ea typeface="Calibri" pitchFamily="34" charset="-122"/>
                <a:cs typeface="Calibri" pitchFamily="34" charset="-120"/>
              </a:rPr>
              <a:t>BMC en de datavragen krijgen samen de meeste tijd: dat waren de belangrijkste feedbackpunten uit sprint 1.</a:t>
            </a:r>
            <a:endParaRPr lang="en-US" sz="1400" dirty="0"/>
          </a:p>
        </p:txBody>
      </p:sp>
      <p:sp>
        <p:nvSpPr>
          <p:cNvPr id="28" name="Text 26"/>
          <p:cNvSpPr txBox="1"/>
          <p:nvPr/>
        </p:nvSpPr>
        <p:spPr>
          <a:xfrm>
            <a:off x="685800" y="6355080"/>
            <a:ext cx="96012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Totaal 15 minuten. Groen = zwaartepunt van de presentatie.</a:t>
            </a:r>
            <a:endParaRPr lang="en-US" sz="1000" dirty="0"/>
          </a:p>
        </p:txBody>
      </p:sp>
      <p:sp>
        <p:nvSpPr>
          <p:cNvPr id="25" name="Slide Number Placeholder 0"/>
          <p:cNvSpPr>
            <a:spLocks noGrp="1"/>
          </p:cNvSpPr>
          <p:nvPr>
            <p:ph type="sldNum" sz="quarter" idx="4294967295"/>
          </p:nvPr>
        </p:nvSpPr>
        <p:spPr>
          <a:xfrm>
            <a:off x="1114013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Hoe we het onderzoek hebben gedaan</a:t>
            </a:r>
            <a:endParaRPr lang="en-US" sz="3400" dirty="0"/>
          </a:p>
        </p:txBody>
      </p:sp>
      <p:sp>
        <p:nvSpPr>
          <p:cNvPr id="3" name="Text 1"/>
          <p:cNvSpPr txBox="1"/>
          <p:nvPr/>
        </p:nvSpPr>
        <p:spPr>
          <a:xfrm>
            <a:off x="685800" y="1234440"/>
            <a:ext cx="10789920" cy="365760"/>
          </a:xfrm>
          <a:prstGeom prst="rect">
            <a:avLst/>
          </a:prstGeom>
          <a:noFill/>
          <a:ln/>
        </p:spPr>
        <p:txBody>
          <a:bodyPr wrap="square" lIns="0" tIns="0" rIns="0" bIns="0" rtlCol="0" anchor="t"/>
          <a:lstStyle/>
          <a:p>
            <a:pPr indent="0" marL="0">
              <a:buNone/>
            </a:pPr>
            <a:r>
              <a:rPr lang="en-US" sz="1600" dirty="0">
                <a:solidFill>
                  <a:schemeClr val="accent5"/>
                </a:solidFill>
                <a:latin typeface="Calibri" pitchFamily="34" charset="0"/>
                <a:ea typeface="Calibri" pitchFamily="34" charset="-122"/>
                <a:cs typeface="Calibri" pitchFamily="34" charset="-120"/>
              </a:rPr>
              <a:t>Onze conclusies komen niet uit de lucht vallen: elk cijfer komt uit een bron die we zelf hebben gecontroleerd.</a:t>
            </a:r>
            <a:endParaRPr lang="en-US" sz="1600" dirty="0"/>
          </a:p>
        </p:txBody>
      </p:sp>
      <p:sp>
        <p:nvSpPr>
          <p:cNvPr id="4" name="methode Deskresearch"/>
          <p:cNvSpPr/>
          <p:nvPr/>
        </p:nvSpPr>
        <p:spPr>
          <a:xfrm>
            <a:off x="685800" y="1874520"/>
            <a:ext cx="2514600" cy="2926080"/>
          </a:xfrm>
          <a:prstGeom prst="roundRect">
            <a:avLst>
              <a:gd name="adj" fmla="val 4364"/>
            </a:avLst>
          </a:prstGeom>
          <a:solidFill>
            <a:schemeClr val="bg2"/>
          </a:solidFill>
          <a:ln w="12700">
            <a:solidFill>
              <a:schemeClr val="bg2"/>
            </a:solidFill>
            <a:prstDash val="solid"/>
          </a:ln>
        </p:spPr>
      </p:sp>
      <p:sp>
        <p:nvSpPr>
          <p:cNvPr id="5" name="nummer 1"/>
          <p:cNvSpPr/>
          <p:nvPr/>
        </p:nvSpPr>
        <p:spPr>
          <a:xfrm>
            <a:off x="960120" y="2148840"/>
            <a:ext cx="420624" cy="420624"/>
          </a:xfrm>
          <a:prstGeom prst="ellipse">
            <a:avLst/>
          </a:prstGeom>
          <a:solidFill>
            <a:schemeClr val="accent1"/>
          </a:solidFill>
          <a:ln w="12700">
            <a:solidFill>
              <a:schemeClr val="accent1"/>
            </a:solidFill>
            <a:prstDash val="solid"/>
          </a:ln>
        </p:spPr>
      </p:sp>
      <p:sp>
        <p:nvSpPr>
          <p:cNvPr id="6" name="Text 4"/>
          <p:cNvSpPr txBox="1"/>
          <p:nvPr/>
        </p:nvSpPr>
        <p:spPr>
          <a:xfrm>
            <a:off x="960120" y="21488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960120" y="2743200"/>
            <a:ext cx="1965960" cy="41148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Deskresearch</a:t>
            </a:r>
            <a:endParaRPr lang="en-US" sz="1900" dirty="0"/>
          </a:p>
        </p:txBody>
      </p:sp>
      <p:sp>
        <p:nvSpPr>
          <p:cNvPr id="8" name="Text 6"/>
          <p:cNvSpPr txBox="1"/>
          <p:nvPr/>
        </p:nvSpPr>
        <p:spPr>
          <a:xfrm>
            <a:off x="960120" y="3200400"/>
            <a:ext cx="1965960" cy="150876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Officiële bronnen eerst: CBS, ACM, Rijksoverheid, PBL en de jaarverslagen van Enexis. Nieuws en vakbladen alleen als aanvulling.</a:t>
            </a:r>
            <a:endParaRPr lang="en-US" sz="1400" dirty="0"/>
          </a:p>
        </p:txBody>
      </p:sp>
      <p:sp>
        <p:nvSpPr>
          <p:cNvPr id="9" name="methode Bronbeoordeling"/>
          <p:cNvSpPr/>
          <p:nvPr/>
        </p:nvSpPr>
        <p:spPr>
          <a:xfrm>
            <a:off x="3429000" y="1874520"/>
            <a:ext cx="2514600" cy="2926080"/>
          </a:xfrm>
          <a:prstGeom prst="roundRect">
            <a:avLst>
              <a:gd name="adj" fmla="val 4364"/>
            </a:avLst>
          </a:prstGeom>
          <a:solidFill>
            <a:schemeClr val="bg2"/>
          </a:solidFill>
          <a:ln w="12700">
            <a:solidFill>
              <a:schemeClr val="bg2"/>
            </a:solidFill>
            <a:prstDash val="solid"/>
          </a:ln>
        </p:spPr>
      </p:sp>
      <p:sp>
        <p:nvSpPr>
          <p:cNvPr id="10" name="nummer 2"/>
          <p:cNvSpPr/>
          <p:nvPr/>
        </p:nvSpPr>
        <p:spPr>
          <a:xfrm>
            <a:off x="3703320" y="2148840"/>
            <a:ext cx="420624" cy="420624"/>
          </a:xfrm>
          <a:prstGeom prst="ellipse">
            <a:avLst/>
          </a:prstGeom>
          <a:solidFill>
            <a:schemeClr val="accent1"/>
          </a:solidFill>
          <a:ln w="12700">
            <a:solidFill>
              <a:schemeClr val="accent1"/>
            </a:solidFill>
            <a:prstDash val="solid"/>
          </a:ln>
        </p:spPr>
      </p:sp>
      <p:sp>
        <p:nvSpPr>
          <p:cNvPr id="11" name="Text 9"/>
          <p:cNvSpPr txBox="1"/>
          <p:nvPr/>
        </p:nvSpPr>
        <p:spPr>
          <a:xfrm>
            <a:off x="3703320" y="21488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3703320" y="2743200"/>
            <a:ext cx="1965960" cy="41148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Bronbeoordeling</a:t>
            </a:r>
            <a:endParaRPr lang="en-US" sz="1900" dirty="0"/>
          </a:p>
        </p:txBody>
      </p:sp>
      <p:sp>
        <p:nvSpPr>
          <p:cNvPr id="13" name="Text 11"/>
          <p:cNvSpPr txBox="1"/>
          <p:nvPr/>
        </p:nvSpPr>
        <p:spPr>
          <a:xfrm>
            <a:off x="3703320" y="3200400"/>
            <a:ext cx="1965960" cy="150876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Elke bron beoordeeld met de CRAAP-methode en vermeld volgens APA: 7 bronnen in sprint 1, 32 in sprint 2.</a:t>
            </a:r>
            <a:endParaRPr lang="en-US" sz="1400" dirty="0"/>
          </a:p>
        </p:txBody>
      </p:sp>
      <p:sp>
        <p:nvSpPr>
          <p:cNvPr id="14" name="methode Data-analyse"/>
          <p:cNvSpPr/>
          <p:nvPr/>
        </p:nvSpPr>
        <p:spPr>
          <a:xfrm>
            <a:off x="6172200" y="1874520"/>
            <a:ext cx="2514600" cy="2926080"/>
          </a:xfrm>
          <a:prstGeom prst="roundRect">
            <a:avLst>
              <a:gd name="adj" fmla="val 4364"/>
            </a:avLst>
          </a:prstGeom>
          <a:solidFill>
            <a:schemeClr val="bg2"/>
          </a:solidFill>
          <a:ln w="12700">
            <a:solidFill>
              <a:schemeClr val="bg2"/>
            </a:solidFill>
            <a:prstDash val="solid"/>
          </a:ln>
        </p:spPr>
      </p:sp>
      <p:sp>
        <p:nvSpPr>
          <p:cNvPr id="15" name="nummer 3"/>
          <p:cNvSpPr/>
          <p:nvPr/>
        </p:nvSpPr>
        <p:spPr>
          <a:xfrm>
            <a:off x="6446520" y="2148840"/>
            <a:ext cx="420624" cy="420624"/>
          </a:xfrm>
          <a:prstGeom prst="ellipse">
            <a:avLst/>
          </a:prstGeom>
          <a:solidFill>
            <a:schemeClr val="accent1"/>
          </a:solidFill>
          <a:ln w="12700">
            <a:solidFill>
              <a:schemeClr val="accent1"/>
            </a:solidFill>
            <a:prstDash val="solid"/>
          </a:ln>
        </p:spPr>
      </p:sp>
      <p:sp>
        <p:nvSpPr>
          <p:cNvPr id="16" name="Text 14"/>
          <p:cNvSpPr txBox="1"/>
          <p:nvPr/>
        </p:nvSpPr>
        <p:spPr>
          <a:xfrm>
            <a:off x="6446520" y="21488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6446520" y="2743200"/>
            <a:ext cx="1965960" cy="41148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Data-analyse</a:t>
            </a:r>
            <a:endParaRPr lang="en-US" sz="1900" dirty="0"/>
          </a:p>
        </p:txBody>
      </p:sp>
      <p:sp>
        <p:nvSpPr>
          <p:cNvPr id="18" name="Text 16"/>
          <p:cNvSpPr txBox="1"/>
          <p:nvPr/>
        </p:nvSpPr>
        <p:spPr>
          <a:xfrm>
            <a:off x="6446520" y="3200400"/>
            <a:ext cx="1965960" cy="150876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CBS-dataset met energietarieven per maand in Excel gezet en gevisualiseerd. Open data van Enexis per postcode verkend.</a:t>
            </a:r>
            <a:endParaRPr lang="en-US" sz="1400" dirty="0"/>
          </a:p>
        </p:txBody>
      </p:sp>
      <p:sp>
        <p:nvSpPr>
          <p:cNvPr id="19" name="methode Interviews"/>
          <p:cNvSpPr/>
          <p:nvPr/>
        </p:nvSpPr>
        <p:spPr>
          <a:xfrm>
            <a:off x="8915400" y="1874520"/>
            <a:ext cx="2514600" cy="2926080"/>
          </a:xfrm>
          <a:prstGeom prst="roundRect">
            <a:avLst>
              <a:gd name="adj" fmla="val 4364"/>
            </a:avLst>
          </a:prstGeom>
          <a:solidFill>
            <a:schemeClr val="bg2"/>
          </a:solidFill>
          <a:ln w="12700">
            <a:solidFill>
              <a:schemeClr val="bg2"/>
            </a:solidFill>
            <a:prstDash val="solid"/>
          </a:ln>
        </p:spPr>
      </p:sp>
      <p:sp>
        <p:nvSpPr>
          <p:cNvPr id="20" name="nummer 4"/>
          <p:cNvSpPr/>
          <p:nvPr/>
        </p:nvSpPr>
        <p:spPr>
          <a:xfrm>
            <a:off x="9189720" y="2148840"/>
            <a:ext cx="420624" cy="420624"/>
          </a:xfrm>
          <a:prstGeom prst="ellipse">
            <a:avLst/>
          </a:prstGeom>
          <a:solidFill>
            <a:schemeClr val="accent1"/>
          </a:solidFill>
          <a:ln w="12700">
            <a:solidFill>
              <a:schemeClr val="accent1"/>
            </a:solidFill>
            <a:prstDash val="solid"/>
          </a:ln>
        </p:spPr>
      </p:sp>
      <p:sp>
        <p:nvSpPr>
          <p:cNvPr id="21" name="Text 19"/>
          <p:cNvSpPr txBox="1"/>
          <p:nvPr/>
        </p:nvSpPr>
        <p:spPr>
          <a:xfrm>
            <a:off x="9189720" y="21488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9189720" y="2743200"/>
            <a:ext cx="1965960" cy="41148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Interviews</a:t>
            </a:r>
            <a:endParaRPr lang="en-US" sz="1900" dirty="0"/>
          </a:p>
        </p:txBody>
      </p:sp>
      <p:sp>
        <p:nvSpPr>
          <p:cNvPr id="23" name="Text 21"/>
          <p:cNvSpPr txBox="1"/>
          <p:nvPr/>
        </p:nvSpPr>
        <p:spPr>
          <a:xfrm>
            <a:off x="9189720" y="3200400"/>
            <a:ext cx="1965960" cy="150876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Geen interviews gehouden. Wel zes vragen voorbereid voor de gastspreker om onze aannames te toetsen.</a:t>
            </a:r>
            <a:endParaRPr lang="en-US" sz="1400" dirty="0"/>
          </a:p>
        </p:txBody>
      </p:sp>
      <p:sp>
        <p:nvSpPr>
          <p:cNvPr id="24" name="kernboodschap methode"/>
          <p:cNvSpPr/>
          <p:nvPr/>
        </p:nvSpPr>
        <p:spPr>
          <a:xfrm>
            <a:off x="685800" y="5074920"/>
            <a:ext cx="10789920" cy="914400"/>
          </a:xfrm>
          <a:prstGeom prst="roundRect">
            <a:avLst>
              <a:gd name="adj" fmla="val 12000"/>
            </a:avLst>
          </a:prstGeom>
          <a:solidFill>
            <a:schemeClr val="tx2"/>
          </a:solidFill>
          <a:ln w="12700">
            <a:solidFill>
              <a:schemeClr val="tx2"/>
            </a:solidFill>
            <a:prstDash val="solid"/>
          </a:ln>
        </p:spPr>
      </p:sp>
      <p:sp>
        <p:nvSpPr>
          <p:cNvPr id="25" name="accent stip"/>
          <p:cNvSpPr/>
          <p:nvPr/>
        </p:nvSpPr>
        <p:spPr>
          <a:xfrm>
            <a:off x="1005840" y="5303520"/>
            <a:ext cx="457200" cy="457200"/>
          </a:xfrm>
          <a:prstGeom prst="ellipse">
            <a:avLst/>
          </a:prstGeom>
          <a:solidFill>
            <a:schemeClr val="accent2"/>
          </a:solidFill>
          <a:ln w="12700">
            <a:solidFill>
              <a:schemeClr val="accent2"/>
            </a:solidFill>
            <a:prstDash val="solid"/>
          </a:ln>
        </p:spPr>
      </p:sp>
      <p:sp>
        <p:nvSpPr>
          <p:cNvPr id="26" name="Text 24"/>
          <p:cNvSpPr txBox="1"/>
          <p:nvPr/>
        </p:nvSpPr>
        <p:spPr>
          <a:xfrm>
            <a:off x="1691640" y="5120640"/>
            <a:ext cx="9509760" cy="822960"/>
          </a:xfrm>
          <a:prstGeom prst="rect">
            <a:avLst/>
          </a:prstGeom>
          <a:noFill/>
          <a:ln/>
        </p:spPr>
        <p:txBody>
          <a:bodyPr wrap="square" lIns="0" tIns="0" rIns="0" bIns="0" rtlCol="0" anchor="ctr"/>
          <a:lstStyle/>
          <a:p>
            <a:pPr indent="0" marL="0">
              <a:buNone/>
            </a:pPr>
            <a:r>
              <a:rPr lang="en-US" sz="1500" dirty="0">
                <a:solidFill>
                  <a:schemeClr val="bg1"/>
                </a:solidFill>
                <a:latin typeface="Calibri" pitchFamily="34" charset="0"/>
                <a:ea typeface="Calibri" pitchFamily="34" charset="-122"/>
                <a:cs typeface="Calibri" pitchFamily="34" charset="-120"/>
              </a:rPr>
              <a:t>Bronnen met een eigen belang (bijv. Enexis zelf of vergelijkingssites) gebruiken we alleen voor feiten, nooit als enige bron voor een conclusie.</a:t>
            </a:r>
            <a:endParaRPr lang="en-US" sz="1500" dirty="0"/>
          </a:p>
        </p:txBody>
      </p:sp>
      <p:sp>
        <p:nvSpPr>
          <p:cNvPr id="27" name="Text 25"/>
          <p:cNvSpPr txBox="1"/>
          <p:nvPr/>
        </p:nvSpPr>
        <p:spPr>
          <a:xfrm>
            <a:off x="685800" y="6355080"/>
            <a:ext cx="96012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Volledige bronnenlijst en CRAAP-beoordeling: rapport sprint 2, literatuurlijst en bijlage A</a:t>
            </a:r>
            <a:endParaRPr lang="en-US" sz="1000" dirty="0"/>
          </a:p>
        </p:txBody>
      </p:sp>
      <p:sp>
        <p:nvSpPr>
          <p:cNvPr id="25" name="Slide Number Placeholder 0"/>
          <p:cNvSpPr>
            <a:spLocks noGrp="1"/>
          </p:cNvSpPr>
          <p:nvPr>
            <p:ph type="sldNum" sz="quarter" idx="4294967295"/>
          </p:nvPr>
        </p:nvSpPr>
        <p:spPr>
          <a:xfrm>
            <a:off x="1114013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Wie is Enexis?</a:t>
            </a:r>
            <a:endParaRPr lang="en-US" sz="3400" dirty="0"/>
          </a:p>
        </p:txBody>
      </p:sp>
      <p:sp>
        <p:nvSpPr>
          <p:cNvPr id="3" name="Text 1"/>
          <p:cNvSpPr txBox="1"/>
          <p:nvPr/>
        </p:nvSpPr>
        <p:spPr>
          <a:xfrm>
            <a:off x="685800" y="1508760"/>
            <a:ext cx="5394960" cy="2377440"/>
          </a:xfrm>
          <a:prstGeom prst="rect">
            <a:avLst/>
          </a:prstGeom>
          <a:noFill/>
          <a:ln/>
        </p:spPr>
        <p:txBody>
          <a:bodyPr wrap="square" lIns="0" tIns="0" rIns="0" bIns="0" rtlCol="0" anchor="t"/>
          <a:lstStyle/>
          <a:p>
            <a:pPr indent="0" marL="0">
              <a:buNone/>
            </a:pPr>
            <a:r>
              <a:rPr lang="en-US" sz="1700" dirty="0">
                <a:solidFill>
                  <a:schemeClr val="accent5"/>
                </a:solidFill>
                <a:latin typeface="Calibri" pitchFamily="34" charset="0"/>
                <a:ea typeface="Calibri" pitchFamily="34" charset="-122"/>
                <a:cs typeface="Calibri" pitchFamily="34" charset="-120"/>
              </a:rPr>
              <a:t>Enexis is een regionale netbeheerder: het zorgt voor de stroom- en gasnetten in Groningen, Drenthe, Overijssel, Noord-Brabant en Limburg.</a:t>
            </a:r>
            <a:endParaRPr lang="en-US" sz="1700" dirty="0"/>
          </a:p>
          <a:p>
            <a:pPr indent="0" marL="0">
              <a:buNone/>
            </a:pPr>
            <a:r>
              <a:rPr lang="en-US" sz="800" dirty="0">
                <a:solidFill>
                  <a:schemeClr val="accent5"/>
                </a:solidFill>
                <a:latin typeface="Calibri" pitchFamily="34" charset="0"/>
                <a:ea typeface="Calibri" pitchFamily="34" charset="-122"/>
                <a:cs typeface="Calibri" pitchFamily="34" charset="-120"/>
              </a:rPr>
              <a:t> </a:t>
            </a:r>
            <a:endParaRPr lang="en-US" sz="1700" dirty="0"/>
          </a:p>
          <a:p>
            <a:pPr indent="0" marL="0">
              <a:buNone/>
            </a:pPr>
            <a:r>
              <a:rPr lang="en-US" sz="1700" dirty="0">
                <a:solidFill>
                  <a:schemeClr val="accent5"/>
                </a:solidFill>
                <a:latin typeface="Calibri" pitchFamily="34" charset="0"/>
                <a:ea typeface="Calibri" pitchFamily="34" charset="-122"/>
                <a:cs typeface="Calibri" pitchFamily="34" charset="-120"/>
              </a:rPr>
              <a:t>Enexis is van de kabels en leidingen, niet van de stroom zelf. Per gebied is er één netbeheerder, dus klanten kunnen niet kiezen. Daarom houdt de ACM toezicht op de tarieven en de kwaliteit.</a:t>
            </a:r>
            <a:endParaRPr lang="en-US" sz="1700" dirty="0"/>
          </a:p>
        </p:txBody>
      </p:sp>
      <p:sp>
        <p:nvSpPr>
          <p:cNvPr id="4" name="doelen Enexis"/>
          <p:cNvSpPr/>
          <p:nvPr/>
        </p:nvSpPr>
        <p:spPr>
          <a:xfrm>
            <a:off x="685800" y="4069080"/>
            <a:ext cx="5394960" cy="1737360"/>
          </a:xfrm>
          <a:prstGeom prst="roundRect">
            <a:avLst>
              <a:gd name="adj" fmla="val 6316"/>
            </a:avLst>
          </a:prstGeom>
          <a:solidFill>
            <a:schemeClr val="accent1"/>
          </a:solidFill>
          <a:ln w="12700">
            <a:solidFill>
              <a:schemeClr val="accent1"/>
            </a:solidFill>
            <a:prstDash val="solid"/>
          </a:ln>
        </p:spPr>
      </p:sp>
      <p:sp>
        <p:nvSpPr>
          <p:cNvPr id="5" name="Text 3"/>
          <p:cNvSpPr txBox="1"/>
          <p:nvPr/>
        </p:nvSpPr>
        <p:spPr>
          <a:xfrm>
            <a:off x="960120" y="4251960"/>
            <a:ext cx="4846320" cy="256032"/>
          </a:xfrm>
          <a:prstGeom prst="rect">
            <a:avLst/>
          </a:prstGeom>
          <a:noFill/>
          <a:ln/>
        </p:spPr>
        <p:txBody>
          <a:bodyPr wrap="square" lIns="0" tIns="0" rIns="0" bIns="0" rtlCol="0" anchor="t"/>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WAARIN ENEXIS ZICH WIL ONDERSCHEIDEN</a:t>
            </a:r>
            <a:endParaRPr lang="en-US" sz="1100" dirty="0"/>
          </a:p>
        </p:txBody>
      </p:sp>
      <p:sp>
        <p:nvSpPr>
          <p:cNvPr id="6" name="Text 4"/>
          <p:cNvSpPr txBox="1"/>
          <p:nvPr/>
        </p:nvSpPr>
        <p:spPr>
          <a:xfrm>
            <a:off x="960120" y="4572000"/>
            <a:ext cx="4846320" cy="1097280"/>
          </a:xfrm>
          <a:prstGeom prst="rect">
            <a:avLst/>
          </a:prstGeom>
          <a:noFill/>
          <a:ln/>
        </p:spPr>
        <p:txBody>
          <a:bodyPr wrap="square" lIns="0" tIns="0" rIns="0" bIns="0" rtlCol="0" anchor="t"/>
          <a:lstStyle/>
          <a:p>
            <a:pPr indent="0" marL="0">
              <a:buNone/>
            </a:pPr>
            <a:r>
              <a:rPr lang="en-US" sz="1500" dirty="0">
                <a:solidFill>
                  <a:schemeClr val="bg1"/>
                </a:solidFill>
                <a:latin typeface="Calibri" pitchFamily="34" charset="0"/>
                <a:ea typeface="Calibri" pitchFamily="34" charset="-122"/>
                <a:cs typeface="Calibri" pitchFamily="34" charset="-120"/>
              </a:rPr>
              <a:t>Geen concurrentie om klanten, maar maatschappelijke waarde: veiligheid, betrouwbaarheid, betaalbaarheid en toegankelijkheid.</a:t>
            </a:r>
            <a:endParaRPr lang="en-US" sz="1500" dirty="0"/>
          </a:p>
        </p:txBody>
      </p:sp>
      <p:sp>
        <p:nvSpPr>
          <p:cNvPr id="7" name="stat ± 3 mln"/>
          <p:cNvSpPr/>
          <p:nvPr/>
        </p:nvSpPr>
        <p:spPr>
          <a:xfrm>
            <a:off x="6537960" y="1508760"/>
            <a:ext cx="4965192" cy="914400"/>
          </a:xfrm>
          <a:prstGeom prst="roundRect">
            <a:avLst>
              <a:gd name="adj" fmla="val 12000"/>
            </a:avLst>
          </a:prstGeom>
          <a:solidFill>
            <a:schemeClr val="bg2"/>
          </a:solidFill>
          <a:ln w="12700">
            <a:solidFill>
              <a:schemeClr val="bg2"/>
            </a:solidFill>
            <a:prstDash val="solid"/>
          </a:ln>
        </p:spPr>
      </p:sp>
      <p:sp>
        <p:nvSpPr>
          <p:cNvPr id="8" name="Text 6"/>
          <p:cNvSpPr txBox="1"/>
          <p:nvPr/>
        </p:nvSpPr>
        <p:spPr>
          <a:xfrm>
            <a:off x="6812280" y="1508760"/>
            <a:ext cx="1920240" cy="91440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 3 mln</a:t>
            </a:r>
            <a:endParaRPr lang="en-US" sz="2800" dirty="0"/>
          </a:p>
        </p:txBody>
      </p:sp>
      <p:sp>
        <p:nvSpPr>
          <p:cNvPr id="9" name="Text 7"/>
          <p:cNvSpPr txBox="1"/>
          <p:nvPr/>
        </p:nvSpPr>
        <p:spPr>
          <a:xfrm>
            <a:off x="8778240" y="1508760"/>
            <a:ext cx="2560320" cy="914400"/>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huishoudens en bedrijven in het verzorgingsgebied</a:t>
            </a:r>
            <a:endParaRPr lang="en-US" sz="1400" dirty="0"/>
          </a:p>
        </p:txBody>
      </p:sp>
      <p:sp>
        <p:nvSpPr>
          <p:cNvPr id="10" name="stat 6.602"/>
          <p:cNvSpPr/>
          <p:nvPr/>
        </p:nvSpPr>
        <p:spPr>
          <a:xfrm>
            <a:off x="6537960" y="2606040"/>
            <a:ext cx="4965192" cy="914400"/>
          </a:xfrm>
          <a:prstGeom prst="roundRect">
            <a:avLst>
              <a:gd name="adj" fmla="val 12000"/>
            </a:avLst>
          </a:prstGeom>
          <a:solidFill>
            <a:schemeClr val="bg2"/>
          </a:solidFill>
          <a:ln w="12700">
            <a:solidFill>
              <a:schemeClr val="bg2"/>
            </a:solidFill>
            <a:prstDash val="solid"/>
          </a:ln>
        </p:spPr>
      </p:sp>
      <p:sp>
        <p:nvSpPr>
          <p:cNvPr id="11" name="Text 9"/>
          <p:cNvSpPr txBox="1"/>
          <p:nvPr/>
        </p:nvSpPr>
        <p:spPr>
          <a:xfrm>
            <a:off x="6812280" y="2606040"/>
            <a:ext cx="1920240" cy="91440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6.602</a:t>
            </a:r>
            <a:endParaRPr lang="en-US" sz="2800" dirty="0"/>
          </a:p>
        </p:txBody>
      </p:sp>
      <p:sp>
        <p:nvSpPr>
          <p:cNvPr id="12" name="Text 10"/>
          <p:cNvSpPr txBox="1"/>
          <p:nvPr/>
        </p:nvSpPr>
        <p:spPr>
          <a:xfrm>
            <a:off x="8778240" y="2606040"/>
            <a:ext cx="2560320" cy="914400"/>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eigen medewerkers eind 2025</a:t>
            </a:r>
            <a:endParaRPr lang="en-US" sz="1400" dirty="0"/>
          </a:p>
        </p:txBody>
      </p:sp>
      <p:sp>
        <p:nvSpPr>
          <p:cNvPr id="13" name="stat € 1,9 mld"/>
          <p:cNvSpPr/>
          <p:nvPr/>
        </p:nvSpPr>
        <p:spPr>
          <a:xfrm>
            <a:off x="6537960" y="3703320"/>
            <a:ext cx="4965192" cy="914400"/>
          </a:xfrm>
          <a:prstGeom prst="roundRect">
            <a:avLst>
              <a:gd name="adj" fmla="val 12000"/>
            </a:avLst>
          </a:prstGeom>
          <a:solidFill>
            <a:schemeClr val="bg2"/>
          </a:solidFill>
          <a:ln w="12700">
            <a:solidFill>
              <a:schemeClr val="bg2"/>
            </a:solidFill>
            <a:prstDash val="solid"/>
          </a:ln>
        </p:spPr>
      </p:sp>
      <p:sp>
        <p:nvSpPr>
          <p:cNvPr id="14" name="Text 12"/>
          <p:cNvSpPr txBox="1"/>
          <p:nvPr/>
        </p:nvSpPr>
        <p:spPr>
          <a:xfrm>
            <a:off x="6812280" y="3703320"/>
            <a:ext cx="1920240" cy="91440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€ 1,9 mld</a:t>
            </a:r>
            <a:endParaRPr lang="en-US" sz="2800" dirty="0"/>
          </a:p>
        </p:txBody>
      </p:sp>
      <p:sp>
        <p:nvSpPr>
          <p:cNvPr id="15" name="Text 13"/>
          <p:cNvSpPr txBox="1"/>
          <p:nvPr/>
        </p:nvSpPr>
        <p:spPr>
          <a:xfrm>
            <a:off x="8778240" y="3703320"/>
            <a:ext cx="2560320" cy="914400"/>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geïnvesteerd in de netten in 2025</a:t>
            </a:r>
            <a:endParaRPr lang="en-US" sz="1400" dirty="0"/>
          </a:p>
        </p:txBody>
      </p:sp>
      <p:sp>
        <p:nvSpPr>
          <p:cNvPr id="16" name="stat 1 van 6"/>
          <p:cNvSpPr/>
          <p:nvPr/>
        </p:nvSpPr>
        <p:spPr>
          <a:xfrm>
            <a:off x="6537960" y="4800600"/>
            <a:ext cx="4965192" cy="914400"/>
          </a:xfrm>
          <a:prstGeom prst="roundRect">
            <a:avLst>
              <a:gd name="adj" fmla="val 12000"/>
            </a:avLst>
          </a:prstGeom>
          <a:solidFill>
            <a:schemeClr val="bg2"/>
          </a:solidFill>
          <a:ln w="12700">
            <a:solidFill>
              <a:schemeClr val="bg2"/>
            </a:solidFill>
            <a:prstDash val="solid"/>
          </a:ln>
        </p:spPr>
      </p:sp>
      <p:sp>
        <p:nvSpPr>
          <p:cNvPr id="17" name="Text 15"/>
          <p:cNvSpPr txBox="1"/>
          <p:nvPr/>
        </p:nvSpPr>
        <p:spPr>
          <a:xfrm>
            <a:off x="6812280" y="4800600"/>
            <a:ext cx="1920240" cy="91440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1 van 6</a:t>
            </a:r>
            <a:endParaRPr lang="en-US" sz="2800" dirty="0"/>
          </a:p>
        </p:txBody>
      </p:sp>
      <p:sp>
        <p:nvSpPr>
          <p:cNvPr id="18" name="Text 16"/>
          <p:cNvSpPr txBox="1"/>
          <p:nvPr/>
        </p:nvSpPr>
        <p:spPr>
          <a:xfrm>
            <a:off x="8778240" y="4800600"/>
            <a:ext cx="2560320" cy="914400"/>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regionale netbeheerders in Nederland</a:t>
            </a:r>
            <a:endParaRPr lang="en-US" sz="1400" dirty="0"/>
          </a:p>
        </p:txBody>
      </p:sp>
      <p:sp>
        <p:nvSpPr>
          <p:cNvPr id="19" name="Text 17"/>
          <p:cNvSpPr txBox="1"/>
          <p:nvPr/>
        </p:nvSpPr>
        <p:spPr>
          <a:xfrm>
            <a:off x="685800" y="6355080"/>
            <a:ext cx="96012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Bronnen: Enexis Holding N.V. (2026); Enexis Groep (2026)</a:t>
            </a:r>
            <a:endParaRPr lang="en-US" sz="1000" dirty="0"/>
          </a:p>
        </p:txBody>
      </p:sp>
      <p:sp>
        <p:nvSpPr>
          <p:cNvPr id="25" name="Slide Number Placeholder 0"/>
          <p:cNvSpPr>
            <a:spLocks noGrp="1"/>
          </p:cNvSpPr>
          <p:nvPr>
            <p:ph type="sldNum" sz="quarter" idx="4294967295"/>
          </p:nvPr>
        </p:nvSpPr>
        <p:spPr>
          <a:xfrm>
            <a:off x="1114013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Waar staat Enexis in de energiemarkt?</a:t>
            </a:r>
            <a:endParaRPr lang="en-US" sz="3400" dirty="0"/>
          </a:p>
        </p:txBody>
      </p:sp>
      <p:sp>
        <p:nvSpPr>
          <p:cNvPr id="3" name="Text 1"/>
          <p:cNvSpPr txBox="1"/>
          <p:nvPr/>
        </p:nvSpPr>
        <p:spPr>
          <a:xfrm>
            <a:off x="685800" y="1234440"/>
            <a:ext cx="10789920" cy="365760"/>
          </a:xfrm>
          <a:prstGeom prst="rect">
            <a:avLst/>
          </a:prstGeom>
          <a:noFill/>
          <a:ln/>
        </p:spPr>
        <p:txBody>
          <a:bodyPr wrap="square" lIns="0" tIns="0" rIns="0" bIns="0" rtlCol="0" anchor="t"/>
          <a:lstStyle/>
          <a:p>
            <a:pPr indent="0" marL="0">
              <a:buNone/>
            </a:pPr>
            <a:r>
              <a:rPr lang="en-US" sz="1600" dirty="0">
                <a:solidFill>
                  <a:schemeClr val="accent5"/>
                </a:solidFill>
                <a:latin typeface="Calibri" pitchFamily="34" charset="0"/>
                <a:ea typeface="Calibri" pitchFamily="34" charset="-122"/>
                <a:cs typeface="Calibri" pitchFamily="34" charset="-120"/>
              </a:rPr>
              <a:t>De markt is in tweeën geknipt: netbeheerders vervoeren de energie, leveranciers verkopen hem.</a:t>
            </a:r>
            <a:endParaRPr lang="en-US" sz="1600" dirty="0"/>
          </a:p>
        </p:txBody>
      </p:sp>
      <p:sp>
        <p:nvSpPr>
          <p:cNvPr id="4" name="keten Opwek"/>
          <p:cNvSpPr/>
          <p:nvPr/>
        </p:nvSpPr>
        <p:spPr>
          <a:xfrm>
            <a:off x="685800" y="3063240"/>
            <a:ext cx="2331720" cy="1325880"/>
          </a:xfrm>
          <a:prstGeom prst="roundRect">
            <a:avLst>
              <a:gd name="adj" fmla="val 8276"/>
            </a:avLst>
          </a:prstGeom>
          <a:solidFill>
            <a:schemeClr val="bg2"/>
          </a:solidFill>
          <a:ln w="12700">
            <a:solidFill>
              <a:schemeClr val="bg2"/>
            </a:solidFill>
            <a:prstDash val="solid"/>
          </a:ln>
        </p:spPr>
      </p:sp>
      <p:sp>
        <p:nvSpPr>
          <p:cNvPr id="5" name="Text 3"/>
          <p:cNvSpPr txBox="1"/>
          <p:nvPr/>
        </p:nvSpPr>
        <p:spPr>
          <a:xfrm>
            <a:off x="914400" y="3246120"/>
            <a:ext cx="187452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Opwek</a:t>
            </a:r>
            <a:endParaRPr lang="en-US" sz="2000" dirty="0"/>
          </a:p>
        </p:txBody>
      </p:sp>
      <p:sp>
        <p:nvSpPr>
          <p:cNvPr id="6" name="Text 4"/>
          <p:cNvSpPr txBox="1"/>
          <p:nvPr/>
        </p:nvSpPr>
        <p:spPr>
          <a:xfrm>
            <a:off x="914400" y="3703320"/>
            <a:ext cx="1874520" cy="59436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Centrales, windparken en zonnepanelen</a:t>
            </a:r>
            <a:endParaRPr lang="en-US" sz="1400" dirty="0"/>
          </a:p>
        </p:txBody>
      </p:sp>
      <p:sp>
        <p:nvSpPr>
          <p:cNvPr id="7" name="pijl 0"/>
          <p:cNvSpPr/>
          <p:nvPr/>
        </p:nvSpPr>
        <p:spPr>
          <a:xfrm>
            <a:off x="3108960" y="3566160"/>
            <a:ext cx="274320" cy="320040"/>
          </a:xfrm>
          <a:prstGeom prst="rightArrow">
            <a:avLst/>
          </a:prstGeom>
          <a:solidFill>
            <a:schemeClr val="accent1"/>
          </a:solidFill>
          <a:ln w="12700">
            <a:solidFill>
              <a:schemeClr val="accent1"/>
            </a:solidFill>
            <a:prstDash val="solid"/>
          </a:ln>
        </p:spPr>
      </p:sp>
      <p:sp>
        <p:nvSpPr>
          <p:cNvPr id="8" name="keten TenneT"/>
          <p:cNvSpPr/>
          <p:nvPr/>
        </p:nvSpPr>
        <p:spPr>
          <a:xfrm>
            <a:off x="3474720" y="3063240"/>
            <a:ext cx="2331720" cy="1325880"/>
          </a:xfrm>
          <a:prstGeom prst="roundRect">
            <a:avLst>
              <a:gd name="adj" fmla="val 8276"/>
            </a:avLst>
          </a:prstGeom>
          <a:solidFill>
            <a:schemeClr val="bg2"/>
          </a:solidFill>
          <a:ln w="12700">
            <a:solidFill>
              <a:schemeClr val="bg2"/>
            </a:solidFill>
            <a:prstDash val="solid"/>
          </a:ln>
        </p:spPr>
      </p:sp>
      <p:sp>
        <p:nvSpPr>
          <p:cNvPr id="9" name="Text 7"/>
          <p:cNvSpPr txBox="1"/>
          <p:nvPr/>
        </p:nvSpPr>
        <p:spPr>
          <a:xfrm>
            <a:off x="3703320" y="3246120"/>
            <a:ext cx="187452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TenneT</a:t>
            </a:r>
            <a:endParaRPr lang="en-US" sz="2000" dirty="0"/>
          </a:p>
        </p:txBody>
      </p:sp>
      <p:sp>
        <p:nvSpPr>
          <p:cNvPr id="10" name="Text 8"/>
          <p:cNvSpPr txBox="1"/>
          <p:nvPr/>
        </p:nvSpPr>
        <p:spPr>
          <a:xfrm>
            <a:off x="3703320" y="3703320"/>
            <a:ext cx="1874520" cy="59436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Landelijk hoogspanningsnet</a:t>
            </a:r>
            <a:endParaRPr lang="en-US" sz="1400" dirty="0"/>
          </a:p>
        </p:txBody>
      </p:sp>
      <p:sp>
        <p:nvSpPr>
          <p:cNvPr id="11" name="pijl 1"/>
          <p:cNvSpPr/>
          <p:nvPr/>
        </p:nvSpPr>
        <p:spPr>
          <a:xfrm>
            <a:off x="5897880" y="3566160"/>
            <a:ext cx="274320" cy="320040"/>
          </a:xfrm>
          <a:prstGeom prst="rightArrow">
            <a:avLst/>
          </a:prstGeom>
          <a:solidFill>
            <a:schemeClr val="accent1"/>
          </a:solidFill>
          <a:ln w="12700">
            <a:solidFill>
              <a:schemeClr val="accent1"/>
            </a:solidFill>
            <a:prstDash val="solid"/>
          </a:ln>
        </p:spPr>
      </p:sp>
      <p:sp>
        <p:nvSpPr>
          <p:cNvPr id="12" name="keten Enexis"/>
          <p:cNvSpPr/>
          <p:nvPr/>
        </p:nvSpPr>
        <p:spPr>
          <a:xfrm>
            <a:off x="6263640" y="3063240"/>
            <a:ext cx="2331720" cy="1325880"/>
          </a:xfrm>
          <a:prstGeom prst="roundRect">
            <a:avLst>
              <a:gd name="adj" fmla="val 8276"/>
            </a:avLst>
          </a:prstGeom>
          <a:solidFill>
            <a:schemeClr val="accent1"/>
          </a:solidFill>
          <a:ln w="12700">
            <a:solidFill>
              <a:schemeClr val="accent1"/>
            </a:solidFill>
            <a:prstDash val="solid"/>
          </a:ln>
        </p:spPr>
      </p:sp>
      <p:sp>
        <p:nvSpPr>
          <p:cNvPr id="13" name="Text 11"/>
          <p:cNvSpPr txBox="1"/>
          <p:nvPr/>
        </p:nvSpPr>
        <p:spPr>
          <a:xfrm>
            <a:off x="6492240" y="3246120"/>
            <a:ext cx="1874520" cy="41148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Enexis</a:t>
            </a:r>
            <a:endParaRPr lang="en-US" sz="2000" dirty="0"/>
          </a:p>
        </p:txBody>
      </p:sp>
      <p:sp>
        <p:nvSpPr>
          <p:cNvPr id="14" name="Text 12"/>
          <p:cNvSpPr txBox="1"/>
          <p:nvPr/>
        </p:nvSpPr>
        <p:spPr>
          <a:xfrm>
            <a:off x="6492240" y="3703320"/>
            <a:ext cx="1874520" cy="59436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Regionaal net, tot aan de meterkast</a:t>
            </a:r>
            <a:endParaRPr lang="en-US" sz="1400" dirty="0"/>
          </a:p>
        </p:txBody>
      </p:sp>
      <p:sp>
        <p:nvSpPr>
          <p:cNvPr id="15" name="pijl 2"/>
          <p:cNvSpPr/>
          <p:nvPr/>
        </p:nvSpPr>
        <p:spPr>
          <a:xfrm>
            <a:off x="8686800" y="3566160"/>
            <a:ext cx="274320" cy="320040"/>
          </a:xfrm>
          <a:prstGeom prst="rightArrow">
            <a:avLst/>
          </a:prstGeom>
          <a:solidFill>
            <a:schemeClr val="accent1"/>
          </a:solidFill>
          <a:ln w="12700">
            <a:solidFill>
              <a:schemeClr val="accent1"/>
            </a:solidFill>
            <a:prstDash val="solid"/>
          </a:ln>
        </p:spPr>
      </p:sp>
      <p:sp>
        <p:nvSpPr>
          <p:cNvPr id="16" name="keten Klant"/>
          <p:cNvSpPr/>
          <p:nvPr/>
        </p:nvSpPr>
        <p:spPr>
          <a:xfrm>
            <a:off x="9052560" y="3063240"/>
            <a:ext cx="2331720" cy="1325880"/>
          </a:xfrm>
          <a:prstGeom prst="roundRect">
            <a:avLst>
              <a:gd name="adj" fmla="val 8276"/>
            </a:avLst>
          </a:prstGeom>
          <a:solidFill>
            <a:schemeClr val="bg2"/>
          </a:solidFill>
          <a:ln w="12700">
            <a:solidFill>
              <a:schemeClr val="bg2"/>
            </a:solidFill>
            <a:prstDash val="solid"/>
          </a:ln>
        </p:spPr>
      </p:sp>
      <p:sp>
        <p:nvSpPr>
          <p:cNvPr id="17" name="Text 15"/>
          <p:cNvSpPr txBox="1"/>
          <p:nvPr/>
        </p:nvSpPr>
        <p:spPr>
          <a:xfrm>
            <a:off x="9281160" y="3246120"/>
            <a:ext cx="187452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Klant</a:t>
            </a:r>
            <a:endParaRPr lang="en-US" sz="2000" dirty="0"/>
          </a:p>
        </p:txBody>
      </p:sp>
      <p:sp>
        <p:nvSpPr>
          <p:cNvPr id="18" name="Text 16"/>
          <p:cNvSpPr txBox="1"/>
          <p:nvPr/>
        </p:nvSpPr>
        <p:spPr>
          <a:xfrm>
            <a:off x="9281160" y="3703320"/>
            <a:ext cx="1874520" cy="59436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Huishouden of bedrijf</a:t>
            </a:r>
            <a:endParaRPr lang="en-US" sz="1400" dirty="0"/>
          </a:p>
        </p:txBody>
      </p:sp>
      <p:sp>
        <p:nvSpPr>
          <p:cNvPr id="19" name="leverancier"/>
          <p:cNvSpPr/>
          <p:nvPr/>
        </p:nvSpPr>
        <p:spPr>
          <a:xfrm>
            <a:off x="9052560" y="1783080"/>
            <a:ext cx="2331720" cy="960120"/>
          </a:xfrm>
          <a:prstGeom prst="roundRect">
            <a:avLst>
              <a:gd name="adj" fmla="val 11429"/>
            </a:avLst>
          </a:prstGeom>
          <a:solidFill>
            <a:schemeClr val="tx2"/>
          </a:solidFill>
          <a:ln w="12700">
            <a:solidFill>
              <a:schemeClr val="tx2"/>
            </a:solidFill>
            <a:prstDash val="solid"/>
          </a:ln>
        </p:spPr>
      </p:sp>
      <p:sp>
        <p:nvSpPr>
          <p:cNvPr id="20" name="Text 18"/>
          <p:cNvSpPr txBox="1"/>
          <p:nvPr/>
        </p:nvSpPr>
        <p:spPr>
          <a:xfrm>
            <a:off x="9281160" y="1874520"/>
            <a:ext cx="1920240" cy="36576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Leverancier</a:t>
            </a:r>
            <a:endParaRPr lang="en-US" sz="1800" dirty="0"/>
          </a:p>
        </p:txBody>
      </p:sp>
      <p:sp>
        <p:nvSpPr>
          <p:cNvPr id="21" name="Text 19"/>
          <p:cNvSpPr txBox="1"/>
          <p:nvPr/>
        </p:nvSpPr>
        <p:spPr>
          <a:xfrm>
            <a:off x="9281160" y="2240280"/>
            <a:ext cx="1920240" cy="457200"/>
          </a:xfrm>
          <a:prstGeom prst="rect">
            <a:avLst/>
          </a:prstGeom>
          <a:noFill/>
          <a:ln/>
        </p:spPr>
        <p:txBody>
          <a:bodyPr wrap="square" lIns="0" tIns="0" rIns="0" bIns="0" rtlCol="0" anchor="t"/>
          <a:lstStyle/>
          <a:p>
            <a:pPr indent="0" marL="0">
              <a:buNone/>
            </a:pPr>
            <a:r>
              <a:rPr lang="en-US" sz="1300" dirty="0">
                <a:solidFill>
                  <a:srgbClr val="C9D3DE"/>
                </a:solidFill>
                <a:latin typeface="Calibri" pitchFamily="34" charset="0"/>
                <a:ea typeface="Calibri" pitchFamily="34" charset="-122"/>
                <a:cs typeface="Calibri" pitchFamily="34" charset="-120"/>
              </a:rPr>
              <a:t>Verkoopt energie, stuurt de rekening</a:t>
            </a:r>
            <a:endParaRPr lang="en-US" sz="1300" dirty="0"/>
          </a:p>
        </p:txBody>
      </p:sp>
      <p:sp>
        <p:nvSpPr>
          <p:cNvPr id="22" name="lijn leverancier klant"/>
          <p:cNvSpPr/>
          <p:nvPr/>
        </p:nvSpPr>
        <p:spPr>
          <a:xfrm>
            <a:off x="10218420" y="2743200"/>
            <a:ext cx="914" cy="320040"/>
          </a:xfrm>
          <a:prstGeom prst="line">
            <a:avLst/>
          </a:prstGeom>
          <a:noFill/>
          <a:ln w="19050">
            <a:solidFill>
              <a:schemeClr val="tx2"/>
            </a:solidFill>
            <a:prstDash val="dash"/>
            <a:tailEnd type="triangle"/>
          </a:ln>
        </p:spPr>
      </p:sp>
      <p:sp>
        <p:nvSpPr>
          <p:cNvPr id="23" name="Text 21"/>
          <p:cNvSpPr txBox="1"/>
          <p:nvPr/>
        </p:nvSpPr>
        <p:spPr>
          <a:xfrm>
            <a:off x="685800" y="4754880"/>
            <a:ext cx="1005840" cy="73152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2</a:t>
            </a:r>
            <a:endParaRPr lang="en-US" sz="3400" dirty="0"/>
          </a:p>
        </p:txBody>
      </p:sp>
      <p:sp>
        <p:nvSpPr>
          <p:cNvPr id="24" name="Text 22"/>
          <p:cNvSpPr txBox="1"/>
          <p:nvPr/>
        </p:nvSpPr>
        <p:spPr>
          <a:xfrm>
            <a:off x="1737360" y="4754880"/>
            <a:ext cx="2377440" cy="822960"/>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landelijke netbeheerders: TenneT (stroom) en Gasunie (gas)</a:t>
            </a:r>
            <a:endParaRPr lang="en-US" sz="1400" dirty="0"/>
          </a:p>
        </p:txBody>
      </p:sp>
      <p:sp>
        <p:nvSpPr>
          <p:cNvPr id="25" name="Text 23"/>
          <p:cNvSpPr txBox="1"/>
          <p:nvPr/>
        </p:nvSpPr>
        <p:spPr>
          <a:xfrm>
            <a:off x="4343400" y="4754880"/>
            <a:ext cx="1005840" cy="73152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6</a:t>
            </a:r>
            <a:endParaRPr lang="en-US" sz="3400" dirty="0"/>
          </a:p>
        </p:txBody>
      </p:sp>
      <p:sp>
        <p:nvSpPr>
          <p:cNvPr id="26" name="Text 24"/>
          <p:cNvSpPr txBox="1"/>
          <p:nvPr/>
        </p:nvSpPr>
        <p:spPr>
          <a:xfrm>
            <a:off x="5394960" y="4754880"/>
            <a:ext cx="2377440" cy="822960"/>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regionale netbeheerders, waaronder Enexis, Liander en Stedin</a:t>
            </a:r>
            <a:endParaRPr lang="en-US" sz="1400" dirty="0"/>
          </a:p>
        </p:txBody>
      </p:sp>
      <p:sp>
        <p:nvSpPr>
          <p:cNvPr id="27" name="Text 25"/>
          <p:cNvSpPr txBox="1"/>
          <p:nvPr/>
        </p:nvSpPr>
        <p:spPr>
          <a:xfrm>
            <a:off x="8001000" y="4754880"/>
            <a:ext cx="1005840" cy="73152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50+</a:t>
            </a:r>
            <a:endParaRPr lang="en-US" sz="3400" dirty="0"/>
          </a:p>
        </p:txBody>
      </p:sp>
      <p:sp>
        <p:nvSpPr>
          <p:cNvPr id="28" name="Text 26"/>
          <p:cNvSpPr txBox="1"/>
          <p:nvPr/>
        </p:nvSpPr>
        <p:spPr>
          <a:xfrm>
            <a:off x="9052560" y="4754880"/>
            <a:ext cx="2377440" cy="822960"/>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leveranciers met een ACM-vergunning; Vattenfall, Essent en Eneco zijn de grootste</a:t>
            </a:r>
            <a:endParaRPr lang="en-US" sz="1400" dirty="0"/>
          </a:p>
        </p:txBody>
      </p:sp>
      <p:sp>
        <p:nvSpPr>
          <p:cNvPr id="29" name="Text 27"/>
          <p:cNvSpPr txBox="1"/>
          <p:nvPr/>
        </p:nvSpPr>
        <p:spPr>
          <a:xfrm>
            <a:off x="685800" y="6355080"/>
            <a:ext cx="96012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Bronnen: ACM (z.d.); Energyzero (z.d.); Keuze.nl (z.d.)</a:t>
            </a:r>
            <a:endParaRPr lang="en-US" sz="1000" dirty="0"/>
          </a:p>
        </p:txBody>
      </p:sp>
      <p:sp>
        <p:nvSpPr>
          <p:cNvPr id="25" name="Slide Number Placeholder 0"/>
          <p:cNvSpPr>
            <a:spLocks noGrp="1"/>
          </p:cNvSpPr>
          <p:nvPr>
            <p:ph type="sldNum" sz="quarter" idx="4294967295"/>
          </p:nvPr>
        </p:nvSpPr>
        <p:spPr>
          <a:xfrm>
            <a:off x="1114013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Bedrijfsmodel 1: de kernactiviteiten</a:t>
            </a:r>
            <a:endParaRPr lang="en-US" sz="3400" dirty="0"/>
          </a:p>
        </p:txBody>
      </p:sp>
      <p:sp>
        <p:nvSpPr>
          <p:cNvPr id="3" name="Text 1"/>
          <p:cNvSpPr txBox="1"/>
          <p:nvPr/>
        </p:nvSpPr>
        <p:spPr>
          <a:xfrm>
            <a:off x="685800" y="1234440"/>
            <a:ext cx="10789920" cy="640080"/>
          </a:xfrm>
          <a:prstGeom prst="rect">
            <a:avLst/>
          </a:prstGeom>
          <a:noFill/>
          <a:ln/>
        </p:spPr>
        <p:txBody>
          <a:bodyPr wrap="square" lIns="0" tIns="0" rIns="0" bIns="0" rtlCol="0" anchor="t"/>
          <a:lstStyle/>
          <a:p>
            <a:pPr indent="0" marL="0">
              <a:buNone/>
            </a:pPr>
            <a:r>
              <a:rPr lang="en-US" sz="1600" dirty="0">
                <a:solidFill>
                  <a:schemeClr val="accent5"/>
                </a:solidFill>
                <a:latin typeface="Calibri" pitchFamily="34" charset="0"/>
                <a:ea typeface="Calibri" pitchFamily="34" charset="-122"/>
                <a:cs typeface="Calibri" pitchFamily="34" charset="-120"/>
              </a:rPr>
              <a:t>Uit ons Business Model Canvas kiezen we de twee bouwstenen die voor Enexis het zwaarst wegen. De rest ligt grotendeels vast in de wet.</a:t>
            </a:r>
            <a:endParaRPr lang="en-US" sz="1600" dirty="0"/>
          </a:p>
        </p:txBody>
      </p:sp>
      <p:sp>
        <p:nvSpPr>
          <p:cNvPr id="4" name="activiteit Aansluiten"/>
          <p:cNvSpPr/>
          <p:nvPr/>
        </p:nvSpPr>
        <p:spPr>
          <a:xfrm>
            <a:off x="685800" y="2011680"/>
            <a:ext cx="3383280" cy="1828800"/>
          </a:xfrm>
          <a:prstGeom prst="roundRect">
            <a:avLst>
              <a:gd name="adj" fmla="val 6000"/>
            </a:avLst>
          </a:prstGeom>
          <a:solidFill>
            <a:schemeClr val="bg2"/>
          </a:solidFill>
          <a:ln w="12700">
            <a:solidFill>
              <a:schemeClr val="bg2"/>
            </a:solidFill>
            <a:prstDash val="solid"/>
          </a:ln>
        </p:spPr>
      </p:sp>
      <p:sp>
        <p:nvSpPr>
          <p:cNvPr id="5" name="nummer 1"/>
          <p:cNvSpPr/>
          <p:nvPr/>
        </p:nvSpPr>
        <p:spPr>
          <a:xfrm>
            <a:off x="960120" y="2286000"/>
            <a:ext cx="420624" cy="420624"/>
          </a:xfrm>
          <a:prstGeom prst="ellipse">
            <a:avLst/>
          </a:prstGeom>
          <a:solidFill>
            <a:schemeClr val="accent1"/>
          </a:solidFill>
          <a:ln w="12700">
            <a:solidFill>
              <a:schemeClr val="accent1"/>
            </a:solidFill>
            <a:prstDash val="solid"/>
          </a:ln>
        </p:spPr>
      </p:sp>
      <p:sp>
        <p:nvSpPr>
          <p:cNvPr id="6" name="Text 4"/>
          <p:cNvSpPr txBox="1"/>
          <p:nvPr/>
        </p:nvSpPr>
        <p:spPr>
          <a:xfrm>
            <a:off x="960120" y="228600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554480" y="2286000"/>
            <a:ext cx="2286000" cy="420624"/>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Aansluiten</a:t>
            </a:r>
            <a:endParaRPr lang="en-US" sz="1800" dirty="0"/>
          </a:p>
        </p:txBody>
      </p:sp>
      <p:sp>
        <p:nvSpPr>
          <p:cNvPr id="8" name="Text 6"/>
          <p:cNvSpPr txBox="1"/>
          <p:nvPr/>
        </p:nvSpPr>
        <p:spPr>
          <a:xfrm>
            <a:off x="960120" y="2834640"/>
            <a:ext cx="2834640" cy="91440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Nieuwe huizen en bedrijven aansluiten. Landelijk wachten eind 2025 15.014 bedrijven op een aansluiting voor afname.</a:t>
            </a:r>
            <a:endParaRPr lang="en-US" sz="1400" dirty="0"/>
          </a:p>
        </p:txBody>
      </p:sp>
      <p:sp>
        <p:nvSpPr>
          <p:cNvPr id="9" name="activiteit Net verzwaren"/>
          <p:cNvSpPr/>
          <p:nvPr/>
        </p:nvSpPr>
        <p:spPr>
          <a:xfrm>
            <a:off x="4297680" y="2011680"/>
            <a:ext cx="3383280" cy="1828800"/>
          </a:xfrm>
          <a:prstGeom prst="roundRect">
            <a:avLst>
              <a:gd name="adj" fmla="val 6000"/>
            </a:avLst>
          </a:prstGeom>
          <a:solidFill>
            <a:schemeClr val="bg2"/>
          </a:solidFill>
          <a:ln w="12700">
            <a:solidFill>
              <a:schemeClr val="bg2"/>
            </a:solidFill>
            <a:prstDash val="solid"/>
          </a:ln>
        </p:spPr>
      </p:sp>
      <p:sp>
        <p:nvSpPr>
          <p:cNvPr id="10" name="nummer 2"/>
          <p:cNvSpPr/>
          <p:nvPr/>
        </p:nvSpPr>
        <p:spPr>
          <a:xfrm>
            <a:off x="4572000" y="2286000"/>
            <a:ext cx="420624" cy="420624"/>
          </a:xfrm>
          <a:prstGeom prst="ellipse">
            <a:avLst/>
          </a:prstGeom>
          <a:solidFill>
            <a:schemeClr val="accent1"/>
          </a:solidFill>
          <a:ln w="12700">
            <a:solidFill>
              <a:schemeClr val="accent1"/>
            </a:solidFill>
            <a:prstDash val="solid"/>
          </a:ln>
        </p:spPr>
      </p:sp>
      <p:sp>
        <p:nvSpPr>
          <p:cNvPr id="11" name="Text 9"/>
          <p:cNvSpPr txBox="1"/>
          <p:nvPr/>
        </p:nvSpPr>
        <p:spPr>
          <a:xfrm>
            <a:off x="4572000" y="228600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5166360" y="2286000"/>
            <a:ext cx="2286000" cy="420624"/>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Net verzwaren</a:t>
            </a:r>
            <a:endParaRPr lang="en-US" sz="1800" dirty="0"/>
          </a:p>
        </p:txBody>
      </p:sp>
      <p:sp>
        <p:nvSpPr>
          <p:cNvPr id="13" name="Text 11"/>
          <p:cNvSpPr txBox="1"/>
          <p:nvPr/>
        </p:nvSpPr>
        <p:spPr>
          <a:xfrm>
            <a:off x="4572000" y="2834640"/>
            <a:ext cx="2834640" cy="91440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Kabels en stations uitbreiden. In 2025: € 1,9 miljard geïnvesteerd en 1.260 MVA extra netcapaciteit.</a:t>
            </a:r>
            <a:endParaRPr lang="en-US" sz="1400" dirty="0"/>
          </a:p>
        </p:txBody>
      </p:sp>
      <p:sp>
        <p:nvSpPr>
          <p:cNvPr id="14" name="activiteit Storingen oplossen"/>
          <p:cNvSpPr/>
          <p:nvPr/>
        </p:nvSpPr>
        <p:spPr>
          <a:xfrm>
            <a:off x="685800" y="4023360"/>
            <a:ext cx="3383280" cy="1828800"/>
          </a:xfrm>
          <a:prstGeom prst="roundRect">
            <a:avLst>
              <a:gd name="adj" fmla="val 6000"/>
            </a:avLst>
          </a:prstGeom>
          <a:solidFill>
            <a:schemeClr val="bg2"/>
          </a:solidFill>
          <a:ln w="12700">
            <a:solidFill>
              <a:schemeClr val="bg2"/>
            </a:solidFill>
            <a:prstDash val="solid"/>
          </a:ln>
        </p:spPr>
      </p:sp>
      <p:sp>
        <p:nvSpPr>
          <p:cNvPr id="15" name="nummer 3"/>
          <p:cNvSpPr/>
          <p:nvPr/>
        </p:nvSpPr>
        <p:spPr>
          <a:xfrm>
            <a:off x="960120" y="4297680"/>
            <a:ext cx="420624" cy="420624"/>
          </a:xfrm>
          <a:prstGeom prst="ellipse">
            <a:avLst/>
          </a:prstGeom>
          <a:solidFill>
            <a:schemeClr val="accent1"/>
          </a:solidFill>
          <a:ln w="12700">
            <a:solidFill>
              <a:schemeClr val="accent1"/>
            </a:solidFill>
            <a:prstDash val="solid"/>
          </a:ln>
        </p:spPr>
      </p:sp>
      <p:sp>
        <p:nvSpPr>
          <p:cNvPr id="16" name="Text 14"/>
          <p:cNvSpPr txBox="1"/>
          <p:nvPr/>
        </p:nvSpPr>
        <p:spPr>
          <a:xfrm>
            <a:off x="960120" y="429768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1554480" y="4297680"/>
            <a:ext cx="2286000" cy="420624"/>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Storingen oplossen</a:t>
            </a:r>
            <a:endParaRPr lang="en-US" sz="1800" dirty="0"/>
          </a:p>
        </p:txBody>
      </p:sp>
      <p:sp>
        <p:nvSpPr>
          <p:cNvPr id="18" name="Text 16"/>
          <p:cNvSpPr txBox="1"/>
          <p:nvPr/>
        </p:nvSpPr>
        <p:spPr>
          <a:xfrm>
            <a:off x="960120" y="4846320"/>
            <a:ext cx="2834640" cy="91440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Snel weer stroom bij de klant. Gemiddelde uitvalduur in 2025: 18,8 minuten.</a:t>
            </a:r>
            <a:endParaRPr lang="en-US" sz="1400" dirty="0"/>
          </a:p>
        </p:txBody>
      </p:sp>
      <p:sp>
        <p:nvSpPr>
          <p:cNvPr id="19" name="activiteit Congestie beheren"/>
          <p:cNvSpPr/>
          <p:nvPr/>
        </p:nvSpPr>
        <p:spPr>
          <a:xfrm>
            <a:off x="4297680" y="4023360"/>
            <a:ext cx="3383280" cy="1828800"/>
          </a:xfrm>
          <a:prstGeom prst="roundRect">
            <a:avLst>
              <a:gd name="adj" fmla="val 6000"/>
            </a:avLst>
          </a:prstGeom>
          <a:solidFill>
            <a:schemeClr val="bg2"/>
          </a:solidFill>
          <a:ln w="12700">
            <a:solidFill>
              <a:schemeClr val="bg2"/>
            </a:solidFill>
            <a:prstDash val="solid"/>
          </a:ln>
        </p:spPr>
      </p:sp>
      <p:sp>
        <p:nvSpPr>
          <p:cNvPr id="20" name="nummer 4"/>
          <p:cNvSpPr/>
          <p:nvPr/>
        </p:nvSpPr>
        <p:spPr>
          <a:xfrm>
            <a:off x="4572000" y="4297680"/>
            <a:ext cx="420624" cy="420624"/>
          </a:xfrm>
          <a:prstGeom prst="ellipse">
            <a:avLst/>
          </a:prstGeom>
          <a:solidFill>
            <a:schemeClr val="accent1"/>
          </a:solidFill>
          <a:ln w="12700">
            <a:solidFill>
              <a:schemeClr val="accent1"/>
            </a:solidFill>
            <a:prstDash val="solid"/>
          </a:ln>
        </p:spPr>
      </p:sp>
      <p:sp>
        <p:nvSpPr>
          <p:cNvPr id="21" name="Text 19"/>
          <p:cNvSpPr txBox="1"/>
          <p:nvPr/>
        </p:nvSpPr>
        <p:spPr>
          <a:xfrm>
            <a:off x="4572000" y="429768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5166360" y="4297680"/>
            <a:ext cx="2286000" cy="420624"/>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Congestie beheren</a:t>
            </a:r>
            <a:endParaRPr lang="en-US" sz="1800" dirty="0"/>
          </a:p>
        </p:txBody>
      </p:sp>
      <p:sp>
        <p:nvSpPr>
          <p:cNvPr id="23" name="Text 21"/>
          <p:cNvSpPr txBox="1"/>
          <p:nvPr/>
        </p:nvSpPr>
        <p:spPr>
          <a:xfrm>
            <a:off x="4572000" y="4846320"/>
            <a:ext cx="2834640" cy="91440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Ruimte op het net slim verdelen. In 2025 speelde Enexis 542 MW flexibele capaciteit vrij.</a:t>
            </a:r>
            <a:endParaRPr lang="en-US" sz="1400" dirty="0"/>
          </a:p>
        </p:txBody>
      </p:sp>
      <p:sp>
        <p:nvSpPr>
          <p:cNvPr id="24" name="waarom kernactiviteiten"/>
          <p:cNvSpPr/>
          <p:nvPr/>
        </p:nvSpPr>
        <p:spPr>
          <a:xfrm>
            <a:off x="8092440" y="2011680"/>
            <a:ext cx="3410712" cy="3840480"/>
          </a:xfrm>
          <a:prstGeom prst="roundRect">
            <a:avLst>
              <a:gd name="adj" fmla="val 3217"/>
            </a:avLst>
          </a:prstGeom>
          <a:solidFill>
            <a:schemeClr val="tx2"/>
          </a:solidFill>
          <a:ln w="12700">
            <a:solidFill>
              <a:schemeClr val="tx2"/>
            </a:solidFill>
            <a:prstDash val="solid"/>
          </a:ln>
        </p:spPr>
      </p:sp>
      <p:sp>
        <p:nvSpPr>
          <p:cNvPr id="25" name="Text 23"/>
          <p:cNvSpPr txBox="1"/>
          <p:nvPr/>
        </p:nvSpPr>
        <p:spPr>
          <a:xfrm>
            <a:off x="8366760" y="2240280"/>
            <a:ext cx="2926080" cy="256032"/>
          </a:xfrm>
          <a:prstGeom prst="rect">
            <a:avLst/>
          </a:prstGeom>
          <a:noFill/>
          <a:ln/>
        </p:spPr>
        <p:txBody>
          <a:bodyPr wrap="square" lIns="0" tIns="0" rIns="0" bIns="0" rtlCol="0" anchor="t"/>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WAAROM DEZE BOUWSTEEN?</a:t>
            </a:r>
            <a:endParaRPr lang="en-US" sz="1100" dirty="0"/>
          </a:p>
        </p:txBody>
      </p:sp>
      <p:sp>
        <p:nvSpPr>
          <p:cNvPr id="26" name="Text 24"/>
          <p:cNvSpPr txBox="1"/>
          <p:nvPr/>
        </p:nvSpPr>
        <p:spPr>
          <a:xfrm>
            <a:off x="8366760" y="2606040"/>
            <a:ext cx="2880360" cy="3108960"/>
          </a:xfrm>
          <a:prstGeom prst="rect">
            <a:avLst/>
          </a:prstGeom>
          <a:noFill/>
          <a:ln/>
        </p:spPr>
        <p:txBody>
          <a:bodyPr wrap="square" lIns="0" tIns="0" rIns="0" bIns="0" rtlCol="0" anchor="t"/>
          <a:lstStyle/>
          <a:p>
            <a:pPr indent="0" marL="0">
              <a:buNone/>
            </a:pPr>
            <a:r>
              <a:rPr lang="en-US" sz="1500" dirty="0">
                <a:solidFill>
                  <a:schemeClr val="bg1"/>
                </a:solidFill>
                <a:latin typeface="Calibri" pitchFamily="34" charset="0"/>
                <a:ea typeface="Calibri" pitchFamily="34" charset="-122"/>
                <a:cs typeface="Calibri" pitchFamily="34" charset="-120"/>
              </a:rPr>
              <a:t>Het net zit vol. Of Enexis dat oplost, hangt af van wat het doet: aansluiten, verzwaren en de ruimte verdelen.</a:t>
            </a:r>
            <a:endParaRPr lang="en-US" sz="1500" dirty="0"/>
          </a:p>
          <a:p>
            <a:pPr indent="0" marL="0">
              <a:buNone/>
            </a:pPr>
            <a:r>
              <a:rPr lang="en-US" sz="800" dirty="0">
                <a:solidFill>
                  <a:schemeClr val="bg1"/>
                </a:solidFill>
                <a:latin typeface="Calibri" pitchFamily="34" charset="0"/>
                <a:ea typeface="Calibri" pitchFamily="34" charset="-122"/>
                <a:cs typeface="Calibri" pitchFamily="34" charset="-120"/>
              </a:rPr>
              <a:t> </a:t>
            </a:r>
            <a:endParaRPr lang="en-US" sz="1500" dirty="0"/>
          </a:p>
          <a:p>
            <a:pPr indent="0" marL="0">
              <a:buNone/>
            </a:pPr>
            <a:r>
              <a:rPr lang="en-US" sz="1500" dirty="0">
                <a:solidFill>
                  <a:schemeClr val="bg1"/>
                </a:solidFill>
                <a:latin typeface="Calibri" pitchFamily="34" charset="0"/>
                <a:ea typeface="Calibri" pitchFamily="34" charset="-122"/>
                <a:cs typeface="Calibri" pitchFamily="34" charset="-120"/>
              </a:rPr>
              <a:t>Hier zit ook de meeste data: meterstanden, storingen en de wachtlijst.</a:t>
            </a:r>
            <a:endParaRPr lang="en-US" sz="1500" dirty="0"/>
          </a:p>
        </p:txBody>
      </p:sp>
      <p:sp>
        <p:nvSpPr>
          <p:cNvPr id="27" name="Text 25"/>
          <p:cNvSpPr txBox="1"/>
          <p:nvPr/>
        </p:nvSpPr>
        <p:spPr>
          <a:xfrm>
            <a:off x="685800" y="6355080"/>
            <a:ext cx="96012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Bronnen: eigen Business Model Canvas (sprint 1); Enexis Groep (2026); Enexis Netbeheer (2026); Netbeheer Nederland (z.d.)</a:t>
            </a:r>
            <a:endParaRPr lang="en-US" sz="1000" dirty="0"/>
          </a:p>
        </p:txBody>
      </p:sp>
      <p:sp>
        <p:nvSpPr>
          <p:cNvPr id="25" name="Slide Number Placeholder 0"/>
          <p:cNvSpPr>
            <a:spLocks noGrp="1"/>
          </p:cNvSpPr>
          <p:nvPr>
            <p:ph type="sldNum" sz="quarter" idx="4294967295"/>
          </p:nvPr>
        </p:nvSpPr>
        <p:spPr>
          <a:xfrm>
            <a:off x="1114013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Bedrijfsmodel 2: de belangrijkste partners</a:t>
            </a:r>
            <a:endParaRPr lang="en-US" sz="3400" dirty="0"/>
          </a:p>
        </p:txBody>
      </p:sp>
      <p:sp>
        <p:nvSpPr>
          <p:cNvPr id="3" name="Text 1"/>
          <p:cNvSpPr txBox="1"/>
          <p:nvPr/>
        </p:nvSpPr>
        <p:spPr>
          <a:xfrm>
            <a:off x="685800" y="1234440"/>
            <a:ext cx="10789920" cy="365760"/>
          </a:xfrm>
          <a:prstGeom prst="rect">
            <a:avLst/>
          </a:prstGeom>
          <a:noFill/>
          <a:ln/>
        </p:spPr>
        <p:txBody>
          <a:bodyPr wrap="square" lIns="0" tIns="0" rIns="0" bIns="0" rtlCol="0" anchor="t"/>
          <a:lstStyle/>
          <a:p>
            <a:pPr indent="0" marL="0">
              <a:buNone/>
            </a:pPr>
            <a:r>
              <a:rPr lang="en-US" sz="1600" dirty="0">
                <a:solidFill>
                  <a:schemeClr val="accent5"/>
                </a:solidFill>
                <a:latin typeface="Calibri" pitchFamily="34" charset="0"/>
                <a:ea typeface="Calibri" pitchFamily="34" charset="-122"/>
                <a:cs typeface="Calibri" pitchFamily="34" charset="-120"/>
              </a:rPr>
              <a:t>Enexis kan het net niet alleen sneller maken. Bij elke kernactiviteit is een partner nodig.</a:t>
            </a:r>
            <a:endParaRPr lang="en-US" sz="1600" dirty="0"/>
          </a:p>
        </p:txBody>
      </p:sp>
      <p:sp>
        <p:nvSpPr>
          <p:cNvPr id="4" name="partner TenneT"/>
          <p:cNvSpPr/>
          <p:nvPr/>
        </p:nvSpPr>
        <p:spPr>
          <a:xfrm>
            <a:off x="685800" y="1828800"/>
            <a:ext cx="5257800" cy="1920240"/>
          </a:xfrm>
          <a:prstGeom prst="roundRect">
            <a:avLst>
              <a:gd name="adj" fmla="val 5714"/>
            </a:avLst>
          </a:prstGeom>
          <a:solidFill>
            <a:schemeClr val="bg2"/>
          </a:solidFill>
          <a:ln w="12700">
            <a:solidFill>
              <a:schemeClr val="bg2"/>
            </a:solidFill>
            <a:prstDash val="solid"/>
          </a:ln>
        </p:spPr>
      </p:sp>
      <p:sp>
        <p:nvSpPr>
          <p:cNvPr id="5" name="nummer 1"/>
          <p:cNvSpPr/>
          <p:nvPr/>
        </p:nvSpPr>
        <p:spPr>
          <a:xfrm>
            <a:off x="960120" y="2103120"/>
            <a:ext cx="420624" cy="420624"/>
          </a:xfrm>
          <a:prstGeom prst="ellipse">
            <a:avLst/>
          </a:prstGeom>
          <a:solidFill>
            <a:schemeClr val="accent1"/>
          </a:solidFill>
          <a:ln w="12700">
            <a:solidFill>
              <a:schemeClr val="accent1"/>
            </a:solidFill>
            <a:prstDash val="solid"/>
          </a:ln>
        </p:spPr>
      </p:sp>
      <p:sp>
        <p:nvSpPr>
          <p:cNvPr id="6" name="Text 4"/>
          <p:cNvSpPr txBox="1"/>
          <p:nvPr/>
        </p:nvSpPr>
        <p:spPr>
          <a:xfrm>
            <a:off x="960120" y="210312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554480" y="2103120"/>
            <a:ext cx="4160520" cy="420624"/>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TenneT</a:t>
            </a:r>
            <a:endParaRPr lang="en-US" sz="1800" dirty="0"/>
          </a:p>
        </p:txBody>
      </p:sp>
      <p:sp>
        <p:nvSpPr>
          <p:cNvPr id="8" name="Text 6"/>
          <p:cNvSpPr txBox="1"/>
          <p:nvPr/>
        </p:nvSpPr>
        <p:spPr>
          <a:xfrm>
            <a:off x="1554480" y="2560320"/>
            <a:ext cx="4160520" cy="3200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Beheert het hoogspanningsnet boven Enexis.</a:t>
            </a:r>
            <a:endParaRPr lang="en-US" sz="1400" dirty="0"/>
          </a:p>
        </p:txBody>
      </p:sp>
      <p:sp>
        <p:nvSpPr>
          <p:cNvPr id="9" name="Text 7"/>
          <p:cNvSpPr txBox="1"/>
          <p:nvPr/>
        </p:nvSpPr>
        <p:spPr>
          <a:xfrm>
            <a:off x="1554480" y="2880360"/>
            <a:ext cx="4160520" cy="77724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In Brabant en Limburg wacht Enexis op extra capaciteit van TenneT voordat het zelf weer klanten kan aansluiten.</a:t>
            </a:r>
            <a:endParaRPr lang="en-US" sz="1400" dirty="0"/>
          </a:p>
        </p:txBody>
      </p:sp>
      <p:sp>
        <p:nvSpPr>
          <p:cNvPr id="10" name="partner Gemeenten en provincies"/>
          <p:cNvSpPr/>
          <p:nvPr/>
        </p:nvSpPr>
        <p:spPr>
          <a:xfrm>
            <a:off x="6126480" y="1828800"/>
            <a:ext cx="5257800" cy="1920240"/>
          </a:xfrm>
          <a:prstGeom prst="roundRect">
            <a:avLst>
              <a:gd name="adj" fmla="val 5714"/>
            </a:avLst>
          </a:prstGeom>
          <a:solidFill>
            <a:schemeClr val="bg2"/>
          </a:solidFill>
          <a:ln w="12700">
            <a:solidFill>
              <a:schemeClr val="bg2"/>
            </a:solidFill>
            <a:prstDash val="solid"/>
          </a:ln>
        </p:spPr>
      </p:sp>
      <p:sp>
        <p:nvSpPr>
          <p:cNvPr id="11" name="nummer 2"/>
          <p:cNvSpPr/>
          <p:nvPr/>
        </p:nvSpPr>
        <p:spPr>
          <a:xfrm>
            <a:off x="6400800" y="2103120"/>
            <a:ext cx="420624" cy="420624"/>
          </a:xfrm>
          <a:prstGeom prst="ellipse">
            <a:avLst/>
          </a:prstGeom>
          <a:solidFill>
            <a:schemeClr val="accent1"/>
          </a:solidFill>
          <a:ln w="12700">
            <a:solidFill>
              <a:schemeClr val="accent1"/>
            </a:solidFill>
            <a:prstDash val="solid"/>
          </a:ln>
        </p:spPr>
      </p:sp>
      <p:sp>
        <p:nvSpPr>
          <p:cNvPr id="12" name="Text 10"/>
          <p:cNvSpPr txBox="1"/>
          <p:nvPr/>
        </p:nvSpPr>
        <p:spPr>
          <a:xfrm>
            <a:off x="6400800" y="210312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6995160" y="2103120"/>
            <a:ext cx="4160520" cy="420624"/>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Gemeenten en provincies</a:t>
            </a:r>
            <a:endParaRPr lang="en-US" sz="1800" dirty="0"/>
          </a:p>
        </p:txBody>
      </p:sp>
      <p:sp>
        <p:nvSpPr>
          <p:cNvPr id="14" name="Text 12"/>
          <p:cNvSpPr txBox="1"/>
          <p:nvPr/>
        </p:nvSpPr>
        <p:spPr>
          <a:xfrm>
            <a:off x="6995160" y="2560320"/>
            <a:ext cx="4160520" cy="3200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Bepalen welke wijken wanneer van het gas af gaan.</a:t>
            </a:r>
            <a:endParaRPr lang="en-US" sz="1400" dirty="0"/>
          </a:p>
        </p:txBody>
      </p:sp>
      <p:sp>
        <p:nvSpPr>
          <p:cNvPr id="15" name="Text 13"/>
          <p:cNvSpPr txBox="1"/>
          <p:nvPr/>
        </p:nvSpPr>
        <p:spPr>
          <a:xfrm>
            <a:off x="6995160" y="2880360"/>
            <a:ext cx="4160520" cy="77724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Hun Transitievisie Warmte bepaalt waar Enexis het stroomnet moet verzwaren en het gasnet kan afbouwen.</a:t>
            </a:r>
            <a:endParaRPr lang="en-US" sz="1400" dirty="0"/>
          </a:p>
        </p:txBody>
      </p:sp>
      <p:sp>
        <p:nvSpPr>
          <p:cNvPr id="16" name="partner Energieleveranciers"/>
          <p:cNvSpPr/>
          <p:nvPr/>
        </p:nvSpPr>
        <p:spPr>
          <a:xfrm>
            <a:off x="685800" y="3931920"/>
            <a:ext cx="5257800" cy="1920240"/>
          </a:xfrm>
          <a:prstGeom prst="roundRect">
            <a:avLst>
              <a:gd name="adj" fmla="val 5714"/>
            </a:avLst>
          </a:prstGeom>
          <a:solidFill>
            <a:schemeClr val="bg2"/>
          </a:solidFill>
          <a:ln w="12700">
            <a:solidFill>
              <a:schemeClr val="bg2"/>
            </a:solidFill>
            <a:prstDash val="solid"/>
          </a:ln>
        </p:spPr>
      </p:sp>
      <p:sp>
        <p:nvSpPr>
          <p:cNvPr id="17" name="nummer 3"/>
          <p:cNvSpPr/>
          <p:nvPr/>
        </p:nvSpPr>
        <p:spPr>
          <a:xfrm>
            <a:off x="960120" y="4206240"/>
            <a:ext cx="420624" cy="420624"/>
          </a:xfrm>
          <a:prstGeom prst="ellipse">
            <a:avLst/>
          </a:prstGeom>
          <a:solidFill>
            <a:schemeClr val="accent1"/>
          </a:solidFill>
          <a:ln w="12700">
            <a:solidFill>
              <a:schemeClr val="accent1"/>
            </a:solidFill>
            <a:prstDash val="solid"/>
          </a:ln>
        </p:spPr>
      </p:sp>
      <p:sp>
        <p:nvSpPr>
          <p:cNvPr id="18" name="Text 16"/>
          <p:cNvSpPr txBox="1"/>
          <p:nvPr/>
        </p:nvSpPr>
        <p:spPr>
          <a:xfrm>
            <a:off x="960120" y="42062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3</a:t>
            </a:r>
            <a:endParaRPr lang="en-US" sz="1600" dirty="0"/>
          </a:p>
        </p:txBody>
      </p:sp>
      <p:sp>
        <p:nvSpPr>
          <p:cNvPr id="19" name="Text 17"/>
          <p:cNvSpPr txBox="1"/>
          <p:nvPr/>
        </p:nvSpPr>
        <p:spPr>
          <a:xfrm>
            <a:off x="1554480" y="4206240"/>
            <a:ext cx="4160520" cy="420624"/>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Energieleveranciers</a:t>
            </a:r>
            <a:endParaRPr lang="en-US" sz="1800" dirty="0"/>
          </a:p>
        </p:txBody>
      </p:sp>
      <p:sp>
        <p:nvSpPr>
          <p:cNvPr id="20" name="Text 18"/>
          <p:cNvSpPr txBox="1"/>
          <p:nvPr/>
        </p:nvSpPr>
        <p:spPr>
          <a:xfrm>
            <a:off x="1554480" y="4663440"/>
            <a:ext cx="4160520" cy="3200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Verkopen de energie aan de klant.</a:t>
            </a:r>
            <a:endParaRPr lang="en-US" sz="1400" dirty="0"/>
          </a:p>
        </p:txBody>
      </p:sp>
      <p:sp>
        <p:nvSpPr>
          <p:cNvPr id="21" name="Text 19"/>
          <p:cNvSpPr txBox="1"/>
          <p:nvPr/>
        </p:nvSpPr>
        <p:spPr>
          <a:xfrm>
            <a:off x="1554480" y="4983480"/>
            <a:ext cx="4160520" cy="77724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Ze innen de netbeheerkosten voor Enexis via de energierekening en regelen overstappen van klanten.</a:t>
            </a:r>
            <a:endParaRPr lang="en-US" sz="1400" dirty="0"/>
          </a:p>
        </p:txBody>
      </p:sp>
      <p:sp>
        <p:nvSpPr>
          <p:cNvPr id="22" name="partner Aannemers en technici"/>
          <p:cNvSpPr/>
          <p:nvPr/>
        </p:nvSpPr>
        <p:spPr>
          <a:xfrm>
            <a:off x="6126480" y="3931920"/>
            <a:ext cx="5257800" cy="1920240"/>
          </a:xfrm>
          <a:prstGeom prst="roundRect">
            <a:avLst>
              <a:gd name="adj" fmla="val 5714"/>
            </a:avLst>
          </a:prstGeom>
          <a:solidFill>
            <a:schemeClr val="bg2"/>
          </a:solidFill>
          <a:ln w="12700">
            <a:solidFill>
              <a:schemeClr val="bg2"/>
            </a:solidFill>
            <a:prstDash val="solid"/>
          </a:ln>
        </p:spPr>
      </p:sp>
      <p:sp>
        <p:nvSpPr>
          <p:cNvPr id="23" name="nummer 4"/>
          <p:cNvSpPr/>
          <p:nvPr/>
        </p:nvSpPr>
        <p:spPr>
          <a:xfrm>
            <a:off x="6400800" y="4206240"/>
            <a:ext cx="420624" cy="420624"/>
          </a:xfrm>
          <a:prstGeom prst="ellipse">
            <a:avLst/>
          </a:prstGeom>
          <a:solidFill>
            <a:schemeClr val="accent1"/>
          </a:solidFill>
          <a:ln w="12700">
            <a:solidFill>
              <a:schemeClr val="accent1"/>
            </a:solidFill>
            <a:prstDash val="solid"/>
          </a:ln>
        </p:spPr>
      </p:sp>
      <p:sp>
        <p:nvSpPr>
          <p:cNvPr id="24" name="Text 22"/>
          <p:cNvSpPr txBox="1"/>
          <p:nvPr/>
        </p:nvSpPr>
        <p:spPr>
          <a:xfrm>
            <a:off x="6400800" y="42062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4</a:t>
            </a:r>
            <a:endParaRPr lang="en-US" sz="1600" dirty="0"/>
          </a:p>
        </p:txBody>
      </p:sp>
      <p:sp>
        <p:nvSpPr>
          <p:cNvPr id="25" name="Text 23"/>
          <p:cNvSpPr txBox="1"/>
          <p:nvPr/>
        </p:nvSpPr>
        <p:spPr>
          <a:xfrm>
            <a:off x="6995160" y="4206240"/>
            <a:ext cx="4160520" cy="420624"/>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Aannemers en technici</a:t>
            </a:r>
            <a:endParaRPr lang="en-US" sz="1800" dirty="0"/>
          </a:p>
        </p:txBody>
      </p:sp>
      <p:sp>
        <p:nvSpPr>
          <p:cNvPr id="26" name="Text 24"/>
          <p:cNvSpPr txBox="1"/>
          <p:nvPr/>
        </p:nvSpPr>
        <p:spPr>
          <a:xfrm>
            <a:off x="6995160" y="4663440"/>
            <a:ext cx="4160520" cy="3200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Voeren het werk aan het net uit.</a:t>
            </a:r>
            <a:endParaRPr lang="en-US" sz="1400" dirty="0"/>
          </a:p>
        </p:txBody>
      </p:sp>
      <p:sp>
        <p:nvSpPr>
          <p:cNvPr id="27" name="Text 25"/>
          <p:cNvSpPr txBox="1"/>
          <p:nvPr/>
        </p:nvSpPr>
        <p:spPr>
          <a:xfrm>
            <a:off x="6995160" y="4983480"/>
            <a:ext cx="4160520" cy="77724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Zonder genoeg mensen en materiaal blijft een investering van € 1,9 miljard op papier staan.</a:t>
            </a:r>
            <a:endParaRPr lang="en-US" sz="1400" dirty="0"/>
          </a:p>
        </p:txBody>
      </p:sp>
      <p:sp>
        <p:nvSpPr>
          <p:cNvPr id="28" name="Text 26"/>
          <p:cNvSpPr txBox="1"/>
          <p:nvPr/>
        </p:nvSpPr>
        <p:spPr>
          <a:xfrm>
            <a:off x="685800" y="6355080"/>
            <a:ext cx="96012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Bronnen: eigen Business Model Canvas (sprint 1); Enexis Groep (2026); Solar Magazine (2026b); RVO (2022)</a:t>
            </a:r>
            <a:endParaRPr lang="en-US" sz="1000" dirty="0"/>
          </a:p>
        </p:txBody>
      </p:sp>
      <p:sp>
        <p:nvSpPr>
          <p:cNvPr id="25" name="Slide Number Placeholder 0"/>
          <p:cNvSpPr>
            <a:spLocks noGrp="1"/>
          </p:cNvSpPr>
          <p:nvPr>
            <p:ph type="sldNum" sz="quarter" idx="4294967295"/>
          </p:nvPr>
        </p:nvSpPr>
        <p:spPr>
          <a:xfrm>
            <a:off x="1114013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85800" y="548640"/>
            <a:ext cx="5486400" cy="256032"/>
          </a:xfrm>
          <a:prstGeom prst="rect">
            <a:avLst/>
          </a:prstGeom>
          <a:noFill/>
          <a:ln/>
        </p:spPr>
        <p:txBody>
          <a:bodyPr wrap="square" lIns="0" tIns="0" rIns="0" bIns="0" rtlCol="0" anchor="t"/>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ONZE HYPOTHESE UIT SPRINT 1</a:t>
            </a:r>
            <a:endParaRPr lang="en-US" sz="1100" dirty="0"/>
          </a:p>
        </p:txBody>
      </p:sp>
      <p:sp>
        <p:nvSpPr>
          <p:cNvPr id="3" name="Text 0"/>
          <p:cNvSpPr/>
          <p:nvPr>
            <p:ph idx="100" type="title" hasCustomPrompt="1"/>
          </p:nvPr>
        </p:nvSpPr>
        <p:spPr>
          <a:xfrm>
            <a:off x="685800" y="914400"/>
            <a:ext cx="10820095" cy="13716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Postcodegebieden met bedrijfsterrein verbruiken het meest, woongebieden gemiddeld en natuurlijk terrein het minst</a:t>
            </a:r>
            <a:endParaRPr lang="en-US" sz="3200" dirty="0"/>
          </a:p>
        </p:txBody>
      </p:sp>
      <p:sp>
        <p:nvSpPr>
          <p:cNvPr id="4" name="balk Bedrijfsterrein"/>
          <p:cNvSpPr/>
          <p:nvPr/>
        </p:nvSpPr>
        <p:spPr>
          <a:xfrm>
            <a:off x="685800" y="2788920"/>
            <a:ext cx="2606040" cy="2240280"/>
          </a:xfrm>
          <a:prstGeom prst="roundRect">
            <a:avLst>
              <a:gd name="adj" fmla="val 3265"/>
            </a:avLst>
          </a:prstGeom>
          <a:solidFill>
            <a:schemeClr val="accent2"/>
          </a:solidFill>
          <a:ln w="12700">
            <a:solidFill>
              <a:schemeClr val="accent2"/>
            </a:solidFill>
            <a:prstDash val="solid"/>
          </a:ln>
        </p:spPr>
      </p:sp>
      <p:sp>
        <p:nvSpPr>
          <p:cNvPr id="5" name="Text 3"/>
          <p:cNvSpPr txBox="1"/>
          <p:nvPr/>
        </p:nvSpPr>
        <p:spPr>
          <a:xfrm>
            <a:off x="685800" y="5166360"/>
            <a:ext cx="2606040" cy="32004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Bedrijfsterrein</a:t>
            </a:r>
            <a:endParaRPr lang="en-US" sz="1600" dirty="0"/>
          </a:p>
        </p:txBody>
      </p:sp>
      <p:sp>
        <p:nvSpPr>
          <p:cNvPr id="6" name="Text 4"/>
          <p:cNvSpPr txBox="1"/>
          <p:nvPr/>
        </p:nvSpPr>
        <p:spPr>
          <a:xfrm>
            <a:off x="685800" y="5486400"/>
            <a:ext cx="2606040" cy="274320"/>
          </a:xfrm>
          <a:prstGeom prst="rect">
            <a:avLst/>
          </a:prstGeom>
          <a:noFill/>
          <a:ln/>
        </p:spPr>
        <p:txBody>
          <a:bodyPr wrap="square" lIns="0" tIns="0" rIns="0" bIns="0" rtlCol="0" anchor="t"/>
          <a:lstStyle/>
          <a:p>
            <a:pPr indent="0" marL="0">
              <a:buNone/>
            </a:pPr>
            <a:r>
              <a:rPr lang="en-US" sz="1300" dirty="0">
                <a:solidFill>
                  <a:srgbClr val="D7E6E0"/>
                </a:solidFill>
                <a:latin typeface="Calibri" pitchFamily="34" charset="0"/>
                <a:ea typeface="Calibri" pitchFamily="34" charset="-122"/>
                <a:cs typeface="Calibri" pitchFamily="34" charset="-120"/>
              </a:rPr>
              <a:t>Hoog verbruik</a:t>
            </a:r>
            <a:endParaRPr lang="en-US" sz="1300" dirty="0"/>
          </a:p>
        </p:txBody>
      </p:sp>
      <p:sp>
        <p:nvSpPr>
          <p:cNvPr id="7" name="balk Woongebied"/>
          <p:cNvSpPr/>
          <p:nvPr/>
        </p:nvSpPr>
        <p:spPr>
          <a:xfrm>
            <a:off x="3566160" y="3657600"/>
            <a:ext cx="2606040" cy="1371600"/>
          </a:xfrm>
          <a:prstGeom prst="roundRect">
            <a:avLst>
              <a:gd name="adj" fmla="val 5333"/>
            </a:avLst>
          </a:prstGeom>
          <a:solidFill>
            <a:schemeClr val="accent2"/>
          </a:solidFill>
          <a:ln w="12700">
            <a:solidFill>
              <a:schemeClr val="accent2"/>
            </a:solidFill>
            <a:prstDash val="solid"/>
          </a:ln>
        </p:spPr>
      </p:sp>
      <p:sp>
        <p:nvSpPr>
          <p:cNvPr id="8" name="Text 6"/>
          <p:cNvSpPr txBox="1"/>
          <p:nvPr/>
        </p:nvSpPr>
        <p:spPr>
          <a:xfrm>
            <a:off x="3566160" y="5166360"/>
            <a:ext cx="2606040" cy="32004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Woongebied</a:t>
            </a:r>
            <a:endParaRPr lang="en-US" sz="1600" dirty="0"/>
          </a:p>
        </p:txBody>
      </p:sp>
      <p:sp>
        <p:nvSpPr>
          <p:cNvPr id="9" name="Text 7"/>
          <p:cNvSpPr txBox="1"/>
          <p:nvPr/>
        </p:nvSpPr>
        <p:spPr>
          <a:xfrm>
            <a:off x="3566160" y="5486400"/>
            <a:ext cx="2606040" cy="274320"/>
          </a:xfrm>
          <a:prstGeom prst="rect">
            <a:avLst/>
          </a:prstGeom>
          <a:noFill/>
          <a:ln/>
        </p:spPr>
        <p:txBody>
          <a:bodyPr wrap="square" lIns="0" tIns="0" rIns="0" bIns="0" rtlCol="0" anchor="t"/>
          <a:lstStyle/>
          <a:p>
            <a:pPr indent="0" marL="0">
              <a:buNone/>
            </a:pPr>
            <a:r>
              <a:rPr lang="en-US" sz="1300" dirty="0">
                <a:solidFill>
                  <a:srgbClr val="D7E6E0"/>
                </a:solidFill>
                <a:latin typeface="Calibri" pitchFamily="34" charset="0"/>
                <a:ea typeface="Calibri" pitchFamily="34" charset="-122"/>
                <a:cs typeface="Calibri" pitchFamily="34" charset="-120"/>
              </a:rPr>
              <a:t>Gemiddeld verbruik</a:t>
            </a:r>
            <a:endParaRPr lang="en-US" sz="1300" dirty="0"/>
          </a:p>
        </p:txBody>
      </p:sp>
      <p:sp>
        <p:nvSpPr>
          <p:cNvPr id="10" name="balk Natuurlijk terrein"/>
          <p:cNvSpPr/>
          <p:nvPr/>
        </p:nvSpPr>
        <p:spPr>
          <a:xfrm>
            <a:off x="6446520" y="4480560"/>
            <a:ext cx="2606040" cy="548640"/>
          </a:xfrm>
          <a:prstGeom prst="roundRect">
            <a:avLst>
              <a:gd name="adj" fmla="val 13333"/>
            </a:avLst>
          </a:prstGeom>
          <a:solidFill>
            <a:schemeClr val="accent2"/>
          </a:solidFill>
          <a:ln w="12700">
            <a:solidFill>
              <a:schemeClr val="accent2"/>
            </a:solidFill>
            <a:prstDash val="solid"/>
          </a:ln>
        </p:spPr>
      </p:sp>
      <p:sp>
        <p:nvSpPr>
          <p:cNvPr id="11" name="Text 9"/>
          <p:cNvSpPr txBox="1"/>
          <p:nvPr/>
        </p:nvSpPr>
        <p:spPr>
          <a:xfrm>
            <a:off x="6446520" y="5166360"/>
            <a:ext cx="2606040" cy="32004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Natuurlijk terrein</a:t>
            </a:r>
            <a:endParaRPr lang="en-US" sz="1600" dirty="0"/>
          </a:p>
        </p:txBody>
      </p:sp>
      <p:sp>
        <p:nvSpPr>
          <p:cNvPr id="12" name="Text 10"/>
          <p:cNvSpPr txBox="1"/>
          <p:nvPr/>
        </p:nvSpPr>
        <p:spPr>
          <a:xfrm>
            <a:off x="6446520" y="5486400"/>
            <a:ext cx="2606040" cy="274320"/>
          </a:xfrm>
          <a:prstGeom prst="rect">
            <a:avLst/>
          </a:prstGeom>
          <a:noFill/>
          <a:ln/>
        </p:spPr>
        <p:txBody>
          <a:bodyPr wrap="square" lIns="0" tIns="0" rIns="0" bIns="0" rtlCol="0" anchor="t"/>
          <a:lstStyle/>
          <a:p>
            <a:pPr indent="0" marL="0">
              <a:buNone/>
            </a:pPr>
            <a:r>
              <a:rPr lang="en-US" sz="1300" dirty="0">
                <a:solidFill>
                  <a:srgbClr val="D7E6E0"/>
                </a:solidFill>
                <a:latin typeface="Calibri" pitchFamily="34" charset="0"/>
                <a:ea typeface="Calibri" pitchFamily="34" charset="-122"/>
                <a:cs typeface="Calibri" pitchFamily="34" charset="-120"/>
              </a:rPr>
              <a:t>Laag verbruik</a:t>
            </a:r>
            <a:endParaRPr lang="en-US" sz="1300" dirty="0"/>
          </a:p>
        </p:txBody>
      </p:sp>
      <p:sp>
        <p:nvSpPr>
          <p:cNvPr id="13" name="data om te toetsen"/>
          <p:cNvSpPr/>
          <p:nvPr/>
        </p:nvSpPr>
        <p:spPr>
          <a:xfrm>
            <a:off x="9372600" y="2788920"/>
            <a:ext cx="2130552" cy="2971800"/>
          </a:xfrm>
          <a:prstGeom prst="roundRect">
            <a:avLst>
              <a:gd name="adj" fmla="val 5150"/>
            </a:avLst>
          </a:prstGeom>
          <a:solidFill>
            <a:srgbClr val="15594A"/>
          </a:solidFill>
          <a:ln w="12700">
            <a:solidFill>
              <a:srgbClr val="15594A"/>
            </a:solidFill>
            <a:prstDash val="solid"/>
          </a:ln>
        </p:spPr>
      </p:sp>
      <p:sp>
        <p:nvSpPr>
          <p:cNvPr id="14" name="Text 12"/>
          <p:cNvSpPr txBox="1"/>
          <p:nvPr/>
        </p:nvSpPr>
        <p:spPr>
          <a:xfrm>
            <a:off x="9601200" y="2971800"/>
            <a:ext cx="1737360" cy="256032"/>
          </a:xfrm>
          <a:prstGeom prst="rect">
            <a:avLst/>
          </a:prstGeom>
          <a:noFill/>
          <a:ln/>
        </p:spPr>
        <p:txBody>
          <a:bodyPr wrap="square" lIns="0" tIns="0" rIns="0" bIns="0" rtlCol="0" anchor="t"/>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DATA OM TE TOETSEN</a:t>
            </a:r>
            <a:endParaRPr lang="en-US" sz="1100" dirty="0"/>
          </a:p>
        </p:txBody>
      </p:sp>
      <p:sp>
        <p:nvSpPr>
          <p:cNvPr id="15" name="Text 13"/>
          <p:cNvSpPr txBox="1"/>
          <p:nvPr/>
        </p:nvSpPr>
        <p:spPr>
          <a:xfrm>
            <a:off x="9601200" y="3291840"/>
            <a:ext cx="1737360" cy="228600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Open data van Enexis per postcode, gekoppeld aan CBS-buurtcijfers over het soort gebied</a:t>
            </a:r>
            <a:endParaRPr lang="en-US" sz="1400" dirty="0"/>
          </a:p>
        </p:txBody>
      </p:sp>
      <p:sp>
        <p:nvSpPr>
          <p:cNvPr id="16" name="Text 14"/>
          <p:cNvSpPr txBox="1"/>
          <p:nvPr/>
        </p:nvSpPr>
        <p:spPr>
          <a:xfrm>
            <a:off x="685800" y="6355080"/>
            <a:ext cx="9601200" cy="274320"/>
          </a:xfrm>
          <a:prstGeom prst="rect">
            <a:avLst/>
          </a:prstGeom>
          <a:noFill/>
          <a:ln/>
        </p:spPr>
        <p:txBody>
          <a:bodyPr wrap="square" lIns="0" tIns="0" rIns="0" bIns="0" rtlCol="0" anchor="ctr"/>
          <a:lstStyle/>
          <a:p>
            <a:pPr indent="0" marL="0">
              <a:buNone/>
            </a:pPr>
            <a:r>
              <a:rPr lang="en-US" sz="1000" dirty="0">
                <a:solidFill>
                  <a:srgbClr val="C9DCD4"/>
                </a:solidFill>
                <a:latin typeface="Calibri" pitchFamily="34" charset="0"/>
                <a:ea typeface="Calibri" pitchFamily="34" charset="-122"/>
                <a:cs typeface="Calibri" pitchFamily="34" charset="-120"/>
              </a:rPr>
              <a:t>Illustratieve rangorde van onze verwachting, geen meetwaarden. Bronnen: CBS (2025, 2026); Enexis Netbeheer (2022)</a:t>
            </a:r>
            <a:endParaRPr lang="en-US" sz="1000" dirty="0"/>
          </a:p>
        </p:txBody>
      </p:sp>
      <p:sp>
        <p:nvSpPr>
          <p:cNvPr id="25" name="Slide Number Placeholder 0"/>
          <p:cNvSpPr>
            <a:spLocks noGrp="1"/>
          </p:cNvSpPr>
          <p:nvPr>
            <p:ph type="sldNum" sz="quarter" idx="4294967295"/>
          </p:nvPr>
        </p:nvSpPr>
        <p:spPr>
          <a:xfrm>
            <a:off x="1114013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Uit welke delen bestaat de energierekening?</a:t>
            </a:r>
            <a:endParaRPr lang="en-US" sz="3400" dirty="0"/>
          </a:p>
        </p:txBody>
      </p:sp>
      <p:sp>
        <p:nvSpPr>
          <p:cNvPr id="3" name="Text 1"/>
          <p:cNvSpPr txBox="1"/>
          <p:nvPr/>
        </p:nvSpPr>
        <p:spPr>
          <a:xfrm>
            <a:off x="685800" y="1234440"/>
            <a:ext cx="10789920" cy="365760"/>
          </a:xfrm>
          <a:prstGeom prst="rect">
            <a:avLst/>
          </a:prstGeom>
          <a:noFill/>
          <a:ln/>
        </p:spPr>
        <p:txBody>
          <a:bodyPr wrap="square" lIns="0" tIns="0" rIns="0" bIns="0" rtlCol="0" anchor="t"/>
          <a:lstStyle/>
          <a:p>
            <a:pPr indent="0" marL="0">
              <a:buNone/>
            </a:pPr>
            <a:r>
              <a:rPr lang="en-US" sz="1600" dirty="0">
                <a:solidFill>
                  <a:schemeClr val="accent5"/>
                </a:solidFill>
                <a:latin typeface="Calibri" pitchFamily="34" charset="0"/>
                <a:ea typeface="Calibri" pitchFamily="34" charset="-122"/>
                <a:cs typeface="Calibri" pitchFamily="34" charset="-120"/>
              </a:rPr>
              <a:t>Van elke euro gaat een deel naar drie partijen. Enexis verdient alleen aan het transport.</a:t>
            </a:r>
            <a:endParaRPr lang="en-US" sz="1600" dirty="0"/>
          </a:p>
        </p:txBody>
      </p:sp>
      <p:sp>
        <p:nvSpPr>
          <p:cNvPr id="4" name="rekening Leveringskosten"/>
          <p:cNvSpPr/>
          <p:nvPr/>
        </p:nvSpPr>
        <p:spPr>
          <a:xfrm>
            <a:off x="685800" y="1828800"/>
            <a:ext cx="2514600" cy="3108960"/>
          </a:xfrm>
          <a:prstGeom prst="roundRect">
            <a:avLst>
              <a:gd name="adj" fmla="val 4364"/>
            </a:avLst>
          </a:prstGeom>
          <a:solidFill>
            <a:schemeClr val="bg2"/>
          </a:solidFill>
          <a:ln w="12700">
            <a:solidFill>
              <a:schemeClr val="bg2"/>
            </a:solidFill>
            <a:prstDash val="solid"/>
          </a:ln>
        </p:spPr>
      </p:sp>
      <p:sp>
        <p:nvSpPr>
          <p:cNvPr id="5" name="nummer 1"/>
          <p:cNvSpPr/>
          <p:nvPr/>
        </p:nvSpPr>
        <p:spPr>
          <a:xfrm>
            <a:off x="960120" y="2103120"/>
            <a:ext cx="420624" cy="420624"/>
          </a:xfrm>
          <a:prstGeom prst="ellipse">
            <a:avLst/>
          </a:prstGeom>
          <a:solidFill>
            <a:schemeClr val="accent1"/>
          </a:solidFill>
          <a:ln w="12700">
            <a:solidFill>
              <a:schemeClr val="accent1"/>
            </a:solidFill>
            <a:prstDash val="solid"/>
          </a:ln>
        </p:spPr>
      </p:sp>
      <p:sp>
        <p:nvSpPr>
          <p:cNvPr id="6" name="Text 4"/>
          <p:cNvSpPr txBox="1"/>
          <p:nvPr/>
        </p:nvSpPr>
        <p:spPr>
          <a:xfrm>
            <a:off x="960120" y="210312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960120" y="2697480"/>
            <a:ext cx="1965960" cy="256032"/>
          </a:xfrm>
          <a:prstGeom prst="rect">
            <a:avLst/>
          </a:prstGeom>
          <a:noFill/>
          <a:ln/>
        </p:spPr>
        <p:txBody>
          <a:bodyPr wrap="square" lIns="0" tIns="0" rIns="0" bIns="0" rtlCol="0" anchor="t"/>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LEVERANCIER</a:t>
            </a:r>
            <a:endParaRPr lang="en-US" sz="1100" dirty="0"/>
          </a:p>
        </p:txBody>
      </p:sp>
      <p:sp>
        <p:nvSpPr>
          <p:cNvPr id="8" name="Text 6"/>
          <p:cNvSpPr txBox="1"/>
          <p:nvPr/>
        </p:nvSpPr>
        <p:spPr>
          <a:xfrm>
            <a:off x="960120" y="3017520"/>
            <a:ext cx="1965960" cy="41148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Leveringskosten</a:t>
            </a:r>
            <a:endParaRPr lang="en-US" sz="1900" dirty="0"/>
          </a:p>
        </p:txBody>
      </p:sp>
      <p:sp>
        <p:nvSpPr>
          <p:cNvPr id="9" name="Text 7"/>
          <p:cNvSpPr txBox="1"/>
          <p:nvPr/>
        </p:nvSpPr>
        <p:spPr>
          <a:xfrm>
            <a:off x="960120" y="3520440"/>
            <a:ext cx="1965960" cy="128016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Prijs per kWh en per m³ plus vaste kosten. Beweegt mee met de markt.</a:t>
            </a:r>
            <a:endParaRPr lang="en-US" sz="1400" dirty="0"/>
          </a:p>
        </p:txBody>
      </p:sp>
      <p:sp>
        <p:nvSpPr>
          <p:cNvPr id="10" name="rekening Netbeheerkosten"/>
          <p:cNvSpPr/>
          <p:nvPr/>
        </p:nvSpPr>
        <p:spPr>
          <a:xfrm>
            <a:off x="3429000" y="1828800"/>
            <a:ext cx="2514600" cy="3108960"/>
          </a:xfrm>
          <a:prstGeom prst="roundRect">
            <a:avLst>
              <a:gd name="adj" fmla="val 4364"/>
            </a:avLst>
          </a:prstGeom>
          <a:solidFill>
            <a:schemeClr val="accent1"/>
          </a:solidFill>
          <a:ln w="12700">
            <a:solidFill>
              <a:schemeClr val="accent1"/>
            </a:solidFill>
            <a:prstDash val="solid"/>
          </a:ln>
        </p:spPr>
      </p:sp>
      <p:sp>
        <p:nvSpPr>
          <p:cNvPr id="11" name="nummer 2"/>
          <p:cNvSpPr/>
          <p:nvPr/>
        </p:nvSpPr>
        <p:spPr>
          <a:xfrm>
            <a:off x="3703320" y="2103120"/>
            <a:ext cx="420624" cy="420624"/>
          </a:xfrm>
          <a:prstGeom prst="ellipse">
            <a:avLst/>
          </a:prstGeom>
          <a:solidFill>
            <a:schemeClr val="accent2"/>
          </a:solidFill>
          <a:ln w="12700">
            <a:solidFill>
              <a:schemeClr val="accent2"/>
            </a:solidFill>
            <a:prstDash val="solid"/>
          </a:ln>
        </p:spPr>
      </p:sp>
      <p:sp>
        <p:nvSpPr>
          <p:cNvPr id="12" name="Text 10"/>
          <p:cNvSpPr txBox="1"/>
          <p:nvPr/>
        </p:nvSpPr>
        <p:spPr>
          <a:xfrm>
            <a:off x="3703320" y="2103120"/>
            <a:ext cx="420624" cy="420624"/>
          </a:xfrm>
          <a:prstGeom prst="rect">
            <a:avLst/>
          </a:prstGeom>
          <a:noFill/>
          <a:ln/>
        </p:spPr>
        <p:txBody>
          <a:bodyPr wrap="square" lIns="0" tIns="0" rIns="0" bIns="0" rtlCol="0" anchor="ctr"/>
          <a:lstStyle/>
          <a:p>
            <a:pPr algn="ctr" indent="0" marL="0">
              <a:buNone/>
            </a:pPr>
            <a:r>
              <a:rPr lang="en-US" sz="1600" b="1" dirty="0">
                <a:solidFill>
                  <a:schemeClr val="tx2"/>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3703320" y="2697480"/>
            <a:ext cx="1965960" cy="256032"/>
          </a:xfrm>
          <a:prstGeom prst="rect">
            <a:avLst/>
          </a:prstGeom>
          <a:noFill/>
          <a:ln/>
        </p:spPr>
        <p:txBody>
          <a:bodyPr wrap="square" lIns="0" tIns="0" rIns="0" bIns="0" rtlCol="0" anchor="t"/>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NETBEHEERDER (ENEXIS)</a:t>
            </a:r>
            <a:endParaRPr lang="en-US" sz="1100" dirty="0"/>
          </a:p>
        </p:txBody>
      </p:sp>
      <p:sp>
        <p:nvSpPr>
          <p:cNvPr id="14" name="Text 12"/>
          <p:cNvSpPr txBox="1"/>
          <p:nvPr/>
        </p:nvSpPr>
        <p:spPr>
          <a:xfrm>
            <a:off x="3703320" y="3017520"/>
            <a:ext cx="1965960" cy="411480"/>
          </a:xfrm>
          <a:prstGeom prst="rect">
            <a:avLst/>
          </a:prstGeom>
          <a:noFill/>
          <a:ln/>
        </p:spPr>
        <p:txBody>
          <a:bodyPr wrap="square" lIns="0" tIns="0" rIns="0" bIns="0" rtlCol="0" anchor="t"/>
          <a:lstStyle/>
          <a:p>
            <a:pPr indent="0" marL="0">
              <a:buNone/>
            </a:pPr>
            <a:r>
              <a:rPr lang="en-US" sz="1900" b="1" dirty="0">
                <a:solidFill>
                  <a:schemeClr val="bg1"/>
                </a:solidFill>
                <a:latin typeface="Cambria" pitchFamily="34" charset="0"/>
                <a:ea typeface="Cambria" pitchFamily="34" charset="-122"/>
                <a:cs typeface="Cambria" pitchFamily="34" charset="-120"/>
              </a:rPr>
              <a:t>Netbeheerkosten</a:t>
            </a:r>
            <a:endParaRPr lang="en-US" sz="1900" dirty="0"/>
          </a:p>
        </p:txBody>
      </p:sp>
      <p:sp>
        <p:nvSpPr>
          <p:cNvPr id="15" name="Text 13"/>
          <p:cNvSpPr txBox="1"/>
          <p:nvPr/>
        </p:nvSpPr>
        <p:spPr>
          <a:xfrm>
            <a:off x="3703320" y="3520440"/>
            <a:ext cx="1965960" cy="128016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Vast bedrag per jaar voor transport. Tarief vastgesteld door de ACM.</a:t>
            </a:r>
            <a:endParaRPr lang="en-US" sz="1400" dirty="0"/>
          </a:p>
        </p:txBody>
      </p:sp>
      <p:sp>
        <p:nvSpPr>
          <p:cNvPr id="16" name="rekening Energiebelasting"/>
          <p:cNvSpPr/>
          <p:nvPr/>
        </p:nvSpPr>
        <p:spPr>
          <a:xfrm>
            <a:off x="6172200" y="1828800"/>
            <a:ext cx="2514600" cy="3108960"/>
          </a:xfrm>
          <a:prstGeom prst="roundRect">
            <a:avLst>
              <a:gd name="adj" fmla="val 4364"/>
            </a:avLst>
          </a:prstGeom>
          <a:solidFill>
            <a:schemeClr val="bg2"/>
          </a:solidFill>
          <a:ln w="12700">
            <a:solidFill>
              <a:schemeClr val="bg2"/>
            </a:solidFill>
            <a:prstDash val="solid"/>
          </a:ln>
        </p:spPr>
      </p:sp>
      <p:sp>
        <p:nvSpPr>
          <p:cNvPr id="17" name="nummer 3"/>
          <p:cNvSpPr/>
          <p:nvPr/>
        </p:nvSpPr>
        <p:spPr>
          <a:xfrm>
            <a:off x="6446520" y="2103120"/>
            <a:ext cx="420624" cy="420624"/>
          </a:xfrm>
          <a:prstGeom prst="ellipse">
            <a:avLst/>
          </a:prstGeom>
          <a:solidFill>
            <a:schemeClr val="accent1"/>
          </a:solidFill>
          <a:ln w="12700">
            <a:solidFill>
              <a:schemeClr val="accent1"/>
            </a:solidFill>
            <a:prstDash val="solid"/>
          </a:ln>
        </p:spPr>
      </p:sp>
      <p:sp>
        <p:nvSpPr>
          <p:cNvPr id="18" name="Text 16"/>
          <p:cNvSpPr txBox="1"/>
          <p:nvPr/>
        </p:nvSpPr>
        <p:spPr>
          <a:xfrm>
            <a:off x="6446520" y="210312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3</a:t>
            </a:r>
            <a:endParaRPr lang="en-US" sz="1600" dirty="0"/>
          </a:p>
        </p:txBody>
      </p:sp>
      <p:sp>
        <p:nvSpPr>
          <p:cNvPr id="19" name="Text 17"/>
          <p:cNvSpPr txBox="1"/>
          <p:nvPr/>
        </p:nvSpPr>
        <p:spPr>
          <a:xfrm>
            <a:off x="6446520" y="2697480"/>
            <a:ext cx="1965960" cy="256032"/>
          </a:xfrm>
          <a:prstGeom prst="rect">
            <a:avLst/>
          </a:prstGeom>
          <a:noFill/>
          <a:ln/>
        </p:spPr>
        <p:txBody>
          <a:bodyPr wrap="square" lIns="0" tIns="0" rIns="0" bIns="0" rtlCol="0" anchor="t"/>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OVERHEID</a:t>
            </a:r>
            <a:endParaRPr lang="en-US" sz="1100" dirty="0"/>
          </a:p>
        </p:txBody>
      </p:sp>
      <p:sp>
        <p:nvSpPr>
          <p:cNvPr id="20" name="Text 18"/>
          <p:cNvSpPr txBox="1"/>
          <p:nvPr/>
        </p:nvSpPr>
        <p:spPr>
          <a:xfrm>
            <a:off x="6446520" y="3017520"/>
            <a:ext cx="1965960" cy="41148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Energiebelasting</a:t>
            </a:r>
            <a:endParaRPr lang="en-US" sz="1900" dirty="0"/>
          </a:p>
        </p:txBody>
      </p:sp>
      <p:sp>
        <p:nvSpPr>
          <p:cNvPr id="21" name="Text 19"/>
          <p:cNvSpPr txBox="1"/>
          <p:nvPr/>
        </p:nvSpPr>
        <p:spPr>
          <a:xfrm>
            <a:off x="6446520" y="3520440"/>
            <a:ext cx="1965960" cy="128016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Per kWh en per m³, min een vaste belastingvermindering per huishouden.</a:t>
            </a:r>
            <a:endParaRPr lang="en-US" sz="1400" dirty="0"/>
          </a:p>
        </p:txBody>
      </p:sp>
      <p:sp>
        <p:nvSpPr>
          <p:cNvPr id="22" name="rekening Btw (21%)"/>
          <p:cNvSpPr/>
          <p:nvPr/>
        </p:nvSpPr>
        <p:spPr>
          <a:xfrm>
            <a:off x="8915400" y="1828800"/>
            <a:ext cx="2514600" cy="3108960"/>
          </a:xfrm>
          <a:prstGeom prst="roundRect">
            <a:avLst>
              <a:gd name="adj" fmla="val 4364"/>
            </a:avLst>
          </a:prstGeom>
          <a:solidFill>
            <a:schemeClr val="bg2"/>
          </a:solidFill>
          <a:ln w="12700">
            <a:solidFill>
              <a:schemeClr val="bg2"/>
            </a:solidFill>
            <a:prstDash val="solid"/>
          </a:ln>
        </p:spPr>
      </p:sp>
      <p:sp>
        <p:nvSpPr>
          <p:cNvPr id="23" name="nummer 4"/>
          <p:cNvSpPr/>
          <p:nvPr/>
        </p:nvSpPr>
        <p:spPr>
          <a:xfrm>
            <a:off x="9189720" y="2103120"/>
            <a:ext cx="420624" cy="420624"/>
          </a:xfrm>
          <a:prstGeom prst="ellipse">
            <a:avLst/>
          </a:prstGeom>
          <a:solidFill>
            <a:schemeClr val="accent1"/>
          </a:solidFill>
          <a:ln w="12700">
            <a:solidFill>
              <a:schemeClr val="accent1"/>
            </a:solidFill>
            <a:prstDash val="solid"/>
          </a:ln>
        </p:spPr>
      </p:sp>
      <p:sp>
        <p:nvSpPr>
          <p:cNvPr id="24" name="Text 22"/>
          <p:cNvSpPr txBox="1"/>
          <p:nvPr/>
        </p:nvSpPr>
        <p:spPr>
          <a:xfrm>
            <a:off x="9189720" y="210312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4</a:t>
            </a:r>
            <a:endParaRPr lang="en-US" sz="1600" dirty="0"/>
          </a:p>
        </p:txBody>
      </p:sp>
      <p:sp>
        <p:nvSpPr>
          <p:cNvPr id="25" name="Text 23"/>
          <p:cNvSpPr txBox="1"/>
          <p:nvPr/>
        </p:nvSpPr>
        <p:spPr>
          <a:xfrm>
            <a:off x="9189720" y="2697480"/>
            <a:ext cx="1965960" cy="256032"/>
          </a:xfrm>
          <a:prstGeom prst="rect">
            <a:avLst/>
          </a:prstGeom>
          <a:noFill/>
          <a:ln/>
        </p:spPr>
        <p:txBody>
          <a:bodyPr wrap="square" lIns="0" tIns="0" rIns="0" bIns="0" rtlCol="0" anchor="t"/>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OVERHEID</a:t>
            </a:r>
            <a:endParaRPr lang="en-US" sz="1100" dirty="0"/>
          </a:p>
        </p:txBody>
      </p:sp>
      <p:sp>
        <p:nvSpPr>
          <p:cNvPr id="26" name="Text 24"/>
          <p:cNvSpPr txBox="1"/>
          <p:nvPr/>
        </p:nvSpPr>
        <p:spPr>
          <a:xfrm>
            <a:off x="9189720" y="3017520"/>
            <a:ext cx="1965960" cy="41148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Btw (21%)</a:t>
            </a:r>
            <a:endParaRPr lang="en-US" sz="1900" dirty="0"/>
          </a:p>
        </p:txBody>
      </p:sp>
      <p:sp>
        <p:nvSpPr>
          <p:cNvPr id="27" name="Text 25"/>
          <p:cNvSpPr txBox="1"/>
          <p:nvPr/>
        </p:nvSpPr>
        <p:spPr>
          <a:xfrm>
            <a:off x="9189720" y="3520440"/>
            <a:ext cx="1965960" cy="128016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Over levering, netbeheer en energiebelasting samen.</a:t>
            </a:r>
            <a:endParaRPr lang="en-US" sz="1400" dirty="0"/>
          </a:p>
        </p:txBody>
      </p:sp>
      <p:sp>
        <p:nvSpPr>
          <p:cNvPr id="28" name="kernboodschap prijs"/>
          <p:cNvSpPr/>
          <p:nvPr/>
        </p:nvSpPr>
        <p:spPr>
          <a:xfrm>
            <a:off x="685800" y="5212080"/>
            <a:ext cx="10789920" cy="777240"/>
          </a:xfrm>
          <a:prstGeom prst="roundRect">
            <a:avLst>
              <a:gd name="adj" fmla="val 14118"/>
            </a:avLst>
          </a:prstGeom>
          <a:solidFill>
            <a:schemeClr val="tx2"/>
          </a:solidFill>
          <a:ln w="12700">
            <a:solidFill>
              <a:schemeClr val="tx2"/>
            </a:solidFill>
            <a:prstDash val="solid"/>
          </a:ln>
        </p:spPr>
      </p:sp>
      <p:sp>
        <p:nvSpPr>
          <p:cNvPr id="29" name="Text 27"/>
          <p:cNvSpPr txBox="1"/>
          <p:nvPr/>
        </p:nvSpPr>
        <p:spPr>
          <a:xfrm>
            <a:off x="1005840" y="5212080"/>
            <a:ext cx="10149840" cy="777240"/>
          </a:xfrm>
          <a:prstGeom prst="rect">
            <a:avLst/>
          </a:prstGeom>
          <a:noFill/>
          <a:ln/>
        </p:spPr>
        <p:txBody>
          <a:bodyPr wrap="square" lIns="0" tIns="0" rIns="0" bIns="0" rtlCol="0" anchor="ctr"/>
          <a:lstStyle/>
          <a:p>
            <a:pPr indent="0" marL="0">
              <a:buNone/>
            </a:pPr>
            <a:r>
              <a:rPr lang="en-US" sz="1500" dirty="0">
                <a:solidFill>
                  <a:schemeClr val="bg1"/>
                </a:solidFill>
                <a:latin typeface="Calibri" pitchFamily="34" charset="0"/>
                <a:ea typeface="Calibri" pitchFamily="34" charset="-122"/>
                <a:cs typeface="Calibri" pitchFamily="34" charset="-120"/>
              </a:rPr>
              <a:t>Gevolg: als de energieprijs stijgt, verdient Enexis daar niets aan. Wel stijgt de vraag naar zonnepanelen en warmtepompen, en daarmee de druk op het net.</a:t>
            </a:r>
            <a:endParaRPr lang="en-US" sz="1500" dirty="0"/>
          </a:p>
        </p:txBody>
      </p:sp>
      <p:sp>
        <p:nvSpPr>
          <p:cNvPr id="30" name="Text 28"/>
          <p:cNvSpPr txBox="1"/>
          <p:nvPr/>
        </p:nvSpPr>
        <p:spPr>
          <a:xfrm>
            <a:off x="685800" y="6355080"/>
            <a:ext cx="96012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Bron: Selectra (z.d.)</a:t>
            </a:r>
            <a:endParaRPr lang="en-US" sz="1000" dirty="0"/>
          </a:p>
        </p:txBody>
      </p:sp>
      <p:sp>
        <p:nvSpPr>
          <p:cNvPr id="25" name="Slide Number Placeholder 0"/>
          <p:cNvSpPr>
            <a:spLocks noGrp="1"/>
          </p:cNvSpPr>
          <p:nvPr>
            <p:ph type="sldNum" sz="quarter" idx="4294967295"/>
          </p:nvPr>
        </p:nvSpPr>
        <p:spPr>
          <a:xfrm>
            <a:off x="1114013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Datavraag 1: hoe verliep de energieprijs in 2022?</a:t>
            </a:r>
            <a:endParaRPr lang="en-US" sz="3400" dirty="0"/>
          </a:p>
        </p:txBody>
      </p:sp>
      <p:sp>
        <p:nvSpPr>
          <p:cNvPr id="3" name="Text 1"/>
          <p:cNvSpPr txBox="1"/>
          <p:nvPr/>
        </p:nvSpPr>
        <p:spPr>
          <a:xfrm>
            <a:off x="685800" y="1234440"/>
            <a:ext cx="10789920" cy="36576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Antwoord: gas en stroom werden ruim twee keer zo duur, met een piek in oktober.</a:t>
            </a:r>
            <a:endParaRPr lang="en-US" sz="1800" dirty="0"/>
          </a:p>
        </p:txBody>
      </p:sp>
      <p:graphicFrame>
        <p:nvGraphicFramePr>
          <p:cNvPr id="4" name="grafiek gasprijs 2022" descr=""/>
          <p:cNvGraphicFramePr/>
          <p:nvPr/>
        </p:nvGraphicFramePr>
        <p:xfrm>
          <a:off x="685800" y="1783080"/>
          <a:ext cx="5303520" cy="324612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grafiek stroomprijs 2022" descr=""/>
          <p:cNvGraphicFramePr/>
          <p:nvPr/>
        </p:nvGraphicFramePr>
        <p:xfrm>
          <a:off x="6199632" y="1783080"/>
          <a:ext cx="5303520" cy="3246120"/>
        </p:xfrm>
        <a:graphic xmlns:a="http://schemas.openxmlformats.org/drawingml/2006/main">
          <a:graphicData uri="http://schemas.openxmlformats.org/drawingml/2006/chart">
            <c:chart xmlns:c="http://schemas.openxmlformats.org/drawingml/2006/chart" r:id="rId2"/>
          </a:graphicData>
        </a:graphic>
      </p:graphicFrame>
      <p:sp>
        <p:nvSpPr>
          <p:cNvPr id="6" name="oorzaak 24 feb"/>
          <p:cNvSpPr/>
          <p:nvPr/>
        </p:nvSpPr>
        <p:spPr>
          <a:xfrm>
            <a:off x="685800" y="5212080"/>
            <a:ext cx="2560320" cy="914400"/>
          </a:xfrm>
          <a:prstGeom prst="roundRect">
            <a:avLst>
              <a:gd name="adj" fmla="val 12000"/>
            </a:avLst>
          </a:prstGeom>
          <a:solidFill>
            <a:schemeClr val="bg2"/>
          </a:solidFill>
          <a:ln w="12700">
            <a:solidFill>
              <a:schemeClr val="bg2"/>
            </a:solidFill>
            <a:prstDash val="solid"/>
          </a:ln>
        </p:spPr>
      </p:sp>
      <p:sp>
        <p:nvSpPr>
          <p:cNvPr id="7" name="Text 3"/>
          <p:cNvSpPr txBox="1"/>
          <p:nvPr/>
        </p:nvSpPr>
        <p:spPr>
          <a:xfrm>
            <a:off x="868680" y="5303520"/>
            <a:ext cx="2194560" cy="27432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24 feb</a:t>
            </a:r>
            <a:endParaRPr lang="en-US" sz="1200" dirty="0"/>
          </a:p>
        </p:txBody>
      </p:sp>
      <p:sp>
        <p:nvSpPr>
          <p:cNvPr id="8" name="Text 4"/>
          <p:cNvSpPr txBox="1"/>
          <p:nvPr/>
        </p:nvSpPr>
        <p:spPr>
          <a:xfrm>
            <a:off x="868680" y="5577840"/>
            <a:ext cx="2194560" cy="50292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Russische inval in Oekraïne: angst voor gastekort</a:t>
            </a:r>
            <a:endParaRPr lang="en-US" sz="1200" dirty="0"/>
          </a:p>
        </p:txBody>
      </p:sp>
      <p:sp>
        <p:nvSpPr>
          <p:cNvPr id="9" name="oorzaak Zomer"/>
          <p:cNvSpPr/>
          <p:nvPr/>
        </p:nvSpPr>
        <p:spPr>
          <a:xfrm>
            <a:off x="3410712" y="5212080"/>
            <a:ext cx="2560320" cy="914400"/>
          </a:xfrm>
          <a:prstGeom prst="roundRect">
            <a:avLst>
              <a:gd name="adj" fmla="val 12000"/>
            </a:avLst>
          </a:prstGeom>
          <a:solidFill>
            <a:schemeClr val="bg2"/>
          </a:solidFill>
          <a:ln w="12700">
            <a:solidFill>
              <a:schemeClr val="bg2"/>
            </a:solidFill>
            <a:prstDash val="solid"/>
          </a:ln>
        </p:spPr>
      </p:sp>
      <p:sp>
        <p:nvSpPr>
          <p:cNvPr id="10" name="Text 6"/>
          <p:cNvSpPr txBox="1"/>
          <p:nvPr/>
        </p:nvSpPr>
        <p:spPr>
          <a:xfrm>
            <a:off x="3593592" y="5303520"/>
            <a:ext cx="2194560" cy="27432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Zomer</a:t>
            </a:r>
            <a:endParaRPr lang="en-US" sz="1200" dirty="0"/>
          </a:p>
        </p:txBody>
      </p:sp>
      <p:sp>
        <p:nvSpPr>
          <p:cNvPr id="11" name="Text 7"/>
          <p:cNvSpPr txBox="1"/>
          <p:nvPr/>
        </p:nvSpPr>
        <p:spPr>
          <a:xfrm>
            <a:off x="3593592" y="5577840"/>
            <a:ext cx="2194560" cy="50292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Nord Stream 1 steeds verder dicht, opslag moet snel vol</a:t>
            </a:r>
            <a:endParaRPr lang="en-US" sz="1200" dirty="0"/>
          </a:p>
        </p:txBody>
      </p:sp>
      <p:sp>
        <p:nvSpPr>
          <p:cNvPr id="12" name="oorzaak 1 jul"/>
          <p:cNvSpPr/>
          <p:nvPr/>
        </p:nvSpPr>
        <p:spPr>
          <a:xfrm>
            <a:off x="6135624" y="5212080"/>
            <a:ext cx="2560320" cy="914400"/>
          </a:xfrm>
          <a:prstGeom prst="roundRect">
            <a:avLst>
              <a:gd name="adj" fmla="val 12000"/>
            </a:avLst>
          </a:prstGeom>
          <a:solidFill>
            <a:schemeClr val="bg2"/>
          </a:solidFill>
          <a:ln w="12700">
            <a:solidFill>
              <a:schemeClr val="bg2"/>
            </a:solidFill>
            <a:prstDash val="solid"/>
          </a:ln>
        </p:spPr>
      </p:sp>
      <p:sp>
        <p:nvSpPr>
          <p:cNvPr id="13" name="Text 9"/>
          <p:cNvSpPr txBox="1"/>
          <p:nvPr/>
        </p:nvSpPr>
        <p:spPr>
          <a:xfrm>
            <a:off x="6318504" y="5303520"/>
            <a:ext cx="2194560" cy="27432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1 jul</a:t>
            </a:r>
            <a:endParaRPr lang="en-US" sz="1200" dirty="0"/>
          </a:p>
        </p:txBody>
      </p:sp>
      <p:sp>
        <p:nvSpPr>
          <p:cNvPr id="14" name="Text 10"/>
          <p:cNvSpPr txBox="1"/>
          <p:nvPr/>
        </p:nvSpPr>
        <p:spPr>
          <a:xfrm>
            <a:off x="6318504" y="5577840"/>
            <a:ext cx="2194560" cy="50292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Btw op energie tijdelijk van 21% naar 9%</a:t>
            </a:r>
            <a:endParaRPr lang="en-US" sz="1200" dirty="0"/>
          </a:p>
        </p:txBody>
      </p:sp>
      <p:sp>
        <p:nvSpPr>
          <p:cNvPr id="15" name="oorzaak Nov–dec"/>
          <p:cNvSpPr/>
          <p:nvPr/>
        </p:nvSpPr>
        <p:spPr>
          <a:xfrm>
            <a:off x="8860536" y="5212080"/>
            <a:ext cx="2560320" cy="914400"/>
          </a:xfrm>
          <a:prstGeom prst="roundRect">
            <a:avLst>
              <a:gd name="adj" fmla="val 12000"/>
            </a:avLst>
          </a:prstGeom>
          <a:solidFill>
            <a:schemeClr val="bg2"/>
          </a:solidFill>
          <a:ln w="12700">
            <a:solidFill>
              <a:schemeClr val="bg2"/>
            </a:solidFill>
            <a:prstDash val="solid"/>
          </a:ln>
        </p:spPr>
      </p:sp>
      <p:sp>
        <p:nvSpPr>
          <p:cNvPr id="16" name="Text 12"/>
          <p:cNvSpPr txBox="1"/>
          <p:nvPr/>
        </p:nvSpPr>
        <p:spPr>
          <a:xfrm>
            <a:off x="9043416" y="5303520"/>
            <a:ext cx="2194560" cy="27432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Nov–dec</a:t>
            </a:r>
            <a:endParaRPr lang="en-US" sz="1200" dirty="0"/>
          </a:p>
        </p:txBody>
      </p:sp>
      <p:sp>
        <p:nvSpPr>
          <p:cNvPr id="17" name="Text 13"/>
          <p:cNvSpPr txBox="1"/>
          <p:nvPr/>
        </p:nvSpPr>
        <p:spPr>
          <a:xfrm>
            <a:off x="9043416" y="5577840"/>
            <a:ext cx="2194560" cy="50292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Volle opslag, € 190 korting en aangekondigd prijsplafond</a:t>
            </a:r>
            <a:endParaRPr lang="en-US" sz="1200" dirty="0"/>
          </a:p>
        </p:txBody>
      </p:sp>
      <p:sp>
        <p:nvSpPr>
          <p:cNvPr id="18" name="Text 14"/>
          <p:cNvSpPr txBox="1"/>
          <p:nvPr/>
        </p:nvSpPr>
        <p:spPr>
          <a:xfrm>
            <a:off x="685800" y="6355080"/>
            <a:ext cx="96012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Bron: CBS (2023a), tabel 84672NED, gemiddeld tarief nieuwe variabele contracten incl. btw; eigen grafiek in Excel. Oorzaken: Consumentenbond (2022); Pure Energie (z.d.-a)</a:t>
            </a:r>
            <a:endParaRPr lang="en-US" sz="1000" dirty="0"/>
          </a:p>
        </p:txBody>
      </p:sp>
      <p:sp>
        <p:nvSpPr>
          <p:cNvPr id="25" name="Slide Number Placeholder 0"/>
          <p:cNvSpPr>
            <a:spLocks noGrp="1"/>
          </p:cNvSpPr>
          <p:nvPr>
            <p:ph type="sldNum" sz="quarter" idx="4294967295"/>
          </p:nvPr>
        </p:nvSpPr>
        <p:spPr>
          <a:xfrm>
            <a:off x="1114013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Datavraag 2: hoe vaak is er te veel stroom op het net?</a:t>
            </a:r>
            <a:endParaRPr lang="en-US" sz="3400" dirty="0"/>
          </a:p>
        </p:txBody>
      </p:sp>
      <p:sp>
        <p:nvSpPr>
          <p:cNvPr id="3" name="Text 1"/>
          <p:cNvSpPr txBox="1"/>
          <p:nvPr/>
        </p:nvSpPr>
        <p:spPr>
          <a:xfrm>
            <a:off x="685800" y="1234440"/>
            <a:ext cx="10789920" cy="36576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Antwoord: het aantal uren met een negatieve stroomprijs is sinds 2022 bijna zeven keer zo groot.</a:t>
            </a:r>
            <a:endParaRPr lang="en-US" sz="1800" dirty="0"/>
          </a:p>
        </p:txBody>
      </p:sp>
      <p:graphicFrame>
        <p:nvGraphicFramePr>
          <p:cNvPr id="4" name="grafiek negatieve prijsuren" descr=""/>
          <p:cNvGraphicFramePr/>
          <p:nvPr/>
        </p:nvGraphicFramePr>
        <p:xfrm>
          <a:off x="685800" y="1783080"/>
          <a:ext cx="6766560" cy="4343400"/>
        </p:xfrm>
        <a:graphic xmlns:a="http://schemas.openxmlformats.org/drawingml/2006/main">
          <a:graphicData uri="http://schemas.openxmlformats.org/drawingml/2006/chart">
            <c:chart xmlns:c="http://schemas.openxmlformats.org/drawingml/2006/chart" r:id="rId1"/>
          </a:graphicData>
        </a:graphic>
      </p:graphicFrame>
      <p:sp>
        <p:nvSpPr>
          <p:cNvPr id="5" name="uitleg negatieve prijs"/>
          <p:cNvSpPr/>
          <p:nvPr/>
        </p:nvSpPr>
        <p:spPr>
          <a:xfrm>
            <a:off x="7818120" y="1783080"/>
            <a:ext cx="3685032" cy="2011680"/>
          </a:xfrm>
          <a:prstGeom prst="roundRect">
            <a:avLst>
              <a:gd name="adj" fmla="val 5455"/>
            </a:avLst>
          </a:prstGeom>
          <a:solidFill>
            <a:schemeClr val="bg2"/>
          </a:solidFill>
          <a:ln w="12700">
            <a:solidFill>
              <a:schemeClr val="bg2"/>
            </a:solidFill>
            <a:prstDash val="solid"/>
          </a:ln>
        </p:spPr>
      </p:sp>
      <p:sp>
        <p:nvSpPr>
          <p:cNvPr id="6" name="Text 3"/>
          <p:cNvSpPr txBox="1"/>
          <p:nvPr/>
        </p:nvSpPr>
        <p:spPr>
          <a:xfrm>
            <a:off x="8092440" y="1965960"/>
            <a:ext cx="3200400" cy="256032"/>
          </a:xfrm>
          <a:prstGeom prst="rect">
            <a:avLst/>
          </a:prstGeom>
          <a:noFill/>
          <a:ln/>
        </p:spPr>
        <p:txBody>
          <a:bodyPr wrap="square" lIns="0" tIns="0" rIns="0" bIns="0" rtlCol="0" anchor="t"/>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WAT ZIE JE?</a:t>
            </a:r>
            <a:endParaRPr lang="en-US" sz="1100" dirty="0"/>
          </a:p>
        </p:txBody>
      </p:sp>
      <p:sp>
        <p:nvSpPr>
          <p:cNvPr id="7" name="Text 4"/>
          <p:cNvSpPr txBox="1"/>
          <p:nvPr/>
        </p:nvSpPr>
        <p:spPr>
          <a:xfrm>
            <a:off x="8092440" y="2286000"/>
            <a:ext cx="3154680" cy="141732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Op zonnige middagen maken zon en wind meer stroom dan er wordt gebruikt. Producenten moeten dan betalen om hun stroom kwijt te raken.</a:t>
            </a:r>
            <a:endParaRPr lang="en-US" sz="1400" dirty="0"/>
          </a:p>
        </p:txBody>
      </p:sp>
      <p:sp>
        <p:nvSpPr>
          <p:cNvPr id="8" name="tegelijk te weinig ruimte"/>
          <p:cNvSpPr/>
          <p:nvPr/>
        </p:nvSpPr>
        <p:spPr>
          <a:xfrm>
            <a:off x="7818120" y="4023360"/>
            <a:ext cx="3685032" cy="2103120"/>
          </a:xfrm>
          <a:prstGeom prst="roundRect">
            <a:avLst>
              <a:gd name="adj" fmla="val 5217"/>
            </a:avLst>
          </a:prstGeom>
          <a:solidFill>
            <a:schemeClr val="tx2"/>
          </a:solidFill>
          <a:ln w="12700">
            <a:solidFill>
              <a:schemeClr val="tx2"/>
            </a:solidFill>
            <a:prstDash val="solid"/>
          </a:ln>
        </p:spPr>
      </p:sp>
      <p:sp>
        <p:nvSpPr>
          <p:cNvPr id="9" name="Text 6"/>
          <p:cNvSpPr txBox="1"/>
          <p:nvPr/>
        </p:nvSpPr>
        <p:spPr>
          <a:xfrm>
            <a:off x="8092440" y="4206240"/>
            <a:ext cx="3200400" cy="256032"/>
          </a:xfrm>
          <a:prstGeom prst="rect">
            <a:avLst/>
          </a:prstGeom>
          <a:noFill/>
          <a:ln/>
        </p:spPr>
        <p:txBody>
          <a:bodyPr wrap="square" lIns="0" tIns="0" rIns="0" bIns="0" rtlCol="0" anchor="t"/>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EN TEGELIJK TE WEINIG RUIMTE</a:t>
            </a:r>
            <a:endParaRPr lang="en-US" sz="1100" dirty="0"/>
          </a:p>
        </p:txBody>
      </p:sp>
      <p:sp>
        <p:nvSpPr>
          <p:cNvPr id="10" name="Text 7"/>
          <p:cNvSpPr txBox="1"/>
          <p:nvPr/>
        </p:nvSpPr>
        <p:spPr>
          <a:xfrm>
            <a:off x="8092440" y="4526280"/>
            <a:ext cx="3154680" cy="146304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15.014</a:t>
            </a:r>
            <a:endParaRPr lang="en-US" sz="1400" dirty="0"/>
          </a:p>
          <a:p>
            <a:pPr indent="0" marL="0">
              <a:buNone/>
            </a:pPr>
            <a:r>
              <a:rPr lang="en-US" sz="1400" dirty="0">
                <a:solidFill>
                  <a:srgbClr val="C9D3DE"/>
                </a:solidFill>
                <a:latin typeface="Calibri" pitchFamily="34" charset="0"/>
                <a:ea typeface="Calibri" pitchFamily="34" charset="-122"/>
                <a:cs typeface="Calibri" pitchFamily="34" charset="-120"/>
              </a:rPr>
              <a:t>bedrijven wachten op een aansluiting voor afname (eind 2025)</a:t>
            </a:r>
            <a:endParaRPr lang="en-US" sz="1400" dirty="0"/>
          </a:p>
        </p:txBody>
      </p:sp>
      <p:sp>
        <p:nvSpPr>
          <p:cNvPr id="11" name="Text 8"/>
          <p:cNvSpPr txBox="1"/>
          <p:nvPr/>
        </p:nvSpPr>
        <p:spPr>
          <a:xfrm>
            <a:off x="685800" y="6355080"/>
            <a:ext cx="96012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Bronnen: Solar Magazine (2026a); Netbeheer Nederland (z.d.)</a:t>
            </a:r>
            <a:endParaRPr lang="en-US" sz="1000" dirty="0"/>
          </a:p>
        </p:txBody>
      </p:sp>
      <p:sp>
        <p:nvSpPr>
          <p:cNvPr id="25" name="Slide Number Placeholder 0"/>
          <p:cNvSpPr>
            <a:spLocks noGrp="1"/>
          </p:cNvSpPr>
          <p:nvPr>
            <p:ph type="sldNum" sz="quarter" idx="4294967295"/>
          </p:nvPr>
        </p:nvSpPr>
        <p:spPr>
          <a:xfrm>
            <a:off x="1114013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Hoe gaan netbeheerders en leveranciers hiermee om?</a:t>
            </a:r>
            <a:endParaRPr lang="en-US" sz="3400" dirty="0"/>
          </a:p>
        </p:txBody>
      </p:sp>
      <p:sp>
        <p:nvSpPr>
          <p:cNvPr id="3" name="Text 1"/>
          <p:cNvSpPr txBox="1"/>
          <p:nvPr/>
        </p:nvSpPr>
        <p:spPr>
          <a:xfrm>
            <a:off x="685800" y="1280160"/>
            <a:ext cx="4114800" cy="256032"/>
          </a:xfrm>
          <a:prstGeom prst="rect">
            <a:avLst/>
          </a:prstGeom>
          <a:noFill/>
          <a:ln/>
        </p:spPr>
        <p:txBody>
          <a:bodyPr wrap="square" lIns="0" tIns="0" rIns="0" bIns="0" rtlCol="0" anchor="t"/>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WAAR SPEELT HET BIJ ENEXIS?</a:t>
            </a:r>
            <a:endParaRPr lang="en-US" sz="1100" dirty="0"/>
          </a:p>
        </p:txBody>
      </p:sp>
      <p:sp>
        <p:nvSpPr>
          <p:cNvPr id="4" name="regio Groningen en Drenthe"/>
          <p:cNvSpPr/>
          <p:nvPr/>
        </p:nvSpPr>
        <p:spPr>
          <a:xfrm>
            <a:off x="685800" y="1645920"/>
            <a:ext cx="4206240" cy="1280160"/>
          </a:xfrm>
          <a:prstGeom prst="roundRect">
            <a:avLst>
              <a:gd name="adj" fmla="val 8571"/>
            </a:avLst>
          </a:prstGeom>
          <a:solidFill>
            <a:schemeClr val="bg2"/>
          </a:solidFill>
          <a:ln w="12700">
            <a:solidFill>
              <a:schemeClr val="bg2"/>
            </a:solidFill>
            <a:prstDash val="solid"/>
          </a:ln>
        </p:spPr>
      </p:sp>
      <p:sp>
        <p:nvSpPr>
          <p:cNvPr id="5" name="Text 3"/>
          <p:cNvSpPr txBox="1"/>
          <p:nvPr/>
        </p:nvSpPr>
        <p:spPr>
          <a:xfrm>
            <a:off x="914400" y="1783080"/>
            <a:ext cx="3749040" cy="3200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Groningen en Drenthe</a:t>
            </a:r>
            <a:endParaRPr lang="en-US" sz="1600" dirty="0"/>
          </a:p>
        </p:txBody>
      </p:sp>
      <p:sp>
        <p:nvSpPr>
          <p:cNvPr id="6" name="Text 4"/>
          <p:cNvSpPr txBox="1"/>
          <p:nvPr/>
        </p:nvSpPr>
        <p:spPr>
          <a:xfrm>
            <a:off x="914400" y="2148840"/>
            <a:ext cx="3749040" cy="73152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Te weinig ruimte om zonnestroom terug te leveren; nieuwe knelpunten bij station Bargermeer</a:t>
            </a:r>
            <a:endParaRPr lang="en-US" sz="1400" dirty="0"/>
          </a:p>
        </p:txBody>
      </p:sp>
      <p:sp>
        <p:nvSpPr>
          <p:cNvPr id="7" name="regio Noord-Brabant en Limburg"/>
          <p:cNvSpPr/>
          <p:nvPr/>
        </p:nvSpPr>
        <p:spPr>
          <a:xfrm>
            <a:off x="685800" y="3108960"/>
            <a:ext cx="4206240" cy="1280160"/>
          </a:xfrm>
          <a:prstGeom prst="roundRect">
            <a:avLst>
              <a:gd name="adj" fmla="val 8571"/>
            </a:avLst>
          </a:prstGeom>
          <a:solidFill>
            <a:schemeClr val="bg2"/>
          </a:solidFill>
          <a:ln w="12700">
            <a:solidFill>
              <a:schemeClr val="bg2"/>
            </a:solidFill>
            <a:prstDash val="solid"/>
          </a:ln>
        </p:spPr>
      </p:sp>
      <p:sp>
        <p:nvSpPr>
          <p:cNvPr id="8" name="Text 6"/>
          <p:cNvSpPr txBox="1"/>
          <p:nvPr/>
        </p:nvSpPr>
        <p:spPr>
          <a:xfrm>
            <a:off x="914400" y="3246120"/>
            <a:ext cx="3749040" cy="3200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Noord-Brabant en Limburg</a:t>
            </a:r>
            <a:endParaRPr lang="en-US" sz="1600" dirty="0"/>
          </a:p>
        </p:txBody>
      </p:sp>
      <p:sp>
        <p:nvSpPr>
          <p:cNvPr id="9" name="Text 7"/>
          <p:cNvSpPr txBox="1"/>
          <p:nvPr/>
        </p:nvSpPr>
        <p:spPr>
          <a:xfrm>
            <a:off x="914400" y="3611880"/>
            <a:ext cx="3749040" cy="73152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Afname grotendeels vergeven; Enexis wacht op extra capaciteit van TenneT</a:t>
            </a:r>
            <a:endParaRPr lang="en-US" sz="1400" dirty="0"/>
          </a:p>
        </p:txBody>
      </p:sp>
      <p:sp>
        <p:nvSpPr>
          <p:cNvPr id="10" name="regio Overijssel"/>
          <p:cNvSpPr/>
          <p:nvPr/>
        </p:nvSpPr>
        <p:spPr>
          <a:xfrm>
            <a:off x="685800" y="4572000"/>
            <a:ext cx="4206240" cy="1280160"/>
          </a:xfrm>
          <a:prstGeom prst="roundRect">
            <a:avLst>
              <a:gd name="adj" fmla="val 8571"/>
            </a:avLst>
          </a:prstGeom>
          <a:solidFill>
            <a:schemeClr val="bg2"/>
          </a:solidFill>
          <a:ln w="12700">
            <a:solidFill>
              <a:schemeClr val="bg2"/>
            </a:solidFill>
            <a:prstDash val="solid"/>
          </a:ln>
        </p:spPr>
      </p:sp>
      <p:sp>
        <p:nvSpPr>
          <p:cNvPr id="11" name="Text 9"/>
          <p:cNvSpPr txBox="1"/>
          <p:nvPr/>
        </p:nvSpPr>
        <p:spPr>
          <a:xfrm>
            <a:off x="914400" y="4709160"/>
            <a:ext cx="3749040" cy="3200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Overijssel</a:t>
            </a:r>
            <a:endParaRPr lang="en-US" sz="1600" dirty="0"/>
          </a:p>
        </p:txBody>
      </p:sp>
      <p:sp>
        <p:nvSpPr>
          <p:cNvPr id="12" name="Text 10"/>
          <p:cNvSpPr txBox="1"/>
          <p:nvPr/>
        </p:nvSpPr>
        <p:spPr>
          <a:xfrm>
            <a:off x="914400" y="5074920"/>
            <a:ext cx="3749040" cy="73152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Ook wachtlijsten, vooral voor grote zonneparken</a:t>
            </a:r>
            <a:endParaRPr lang="en-US" sz="1400" dirty="0"/>
          </a:p>
        </p:txBody>
      </p:sp>
      <p:sp>
        <p:nvSpPr>
          <p:cNvPr id="13" name="Text 11"/>
          <p:cNvSpPr txBox="1"/>
          <p:nvPr/>
        </p:nvSpPr>
        <p:spPr>
          <a:xfrm>
            <a:off x="5257800" y="1280160"/>
            <a:ext cx="5486400" cy="256032"/>
          </a:xfrm>
          <a:prstGeom prst="rect">
            <a:avLst/>
          </a:prstGeom>
          <a:noFill/>
          <a:ln/>
        </p:spPr>
        <p:txBody>
          <a:bodyPr wrap="square" lIns="0" tIns="0" rIns="0" bIns="0" rtlCol="0" anchor="t"/>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WAT DOEN ZE ERAAN?</a:t>
            </a:r>
            <a:endParaRPr lang="en-US" sz="1100" dirty="0"/>
          </a:p>
        </p:txBody>
      </p:sp>
      <p:sp>
        <p:nvSpPr>
          <p:cNvPr id="14" name="Text 12"/>
          <p:cNvSpPr txBox="1"/>
          <p:nvPr/>
        </p:nvSpPr>
        <p:spPr>
          <a:xfrm>
            <a:off x="5257800" y="1645920"/>
            <a:ext cx="1737360" cy="9144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€ 1,9 mld</a:t>
            </a:r>
            <a:endParaRPr lang="en-US" sz="2400" dirty="0"/>
          </a:p>
        </p:txBody>
      </p:sp>
      <p:sp>
        <p:nvSpPr>
          <p:cNvPr id="15" name="Text 13"/>
          <p:cNvSpPr txBox="1"/>
          <p:nvPr/>
        </p:nvSpPr>
        <p:spPr>
          <a:xfrm>
            <a:off x="7086600" y="1645920"/>
            <a:ext cx="4434840" cy="91440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Netverzwaring</a:t>
            </a:r>
            <a:endParaRPr lang="en-US" sz="1400" dirty="0"/>
          </a:p>
          <a:p>
            <a:pPr indent="0" marL="0">
              <a:buNone/>
            </a:pPr>
            <a:r>
              <a:rPr lang="en-US" sz="1400" dirty="0">
                <a:solidFill>
                  <a:schemeClr val="accent5"/>
                </a:solidFill>
                <a:latin typeface="Calibri" pitchFamily="34" charset="0"/>
                <a:ea typeface="Calibri" pitchFamily="34" charset="-122"/>
                <a:cs typeface="Calibri" pitchFamily="34" charset="-120"/>
              </a:rPr>
              <a:t>Enexis investeerde in 2025 € 1,9 miljard; € 7 miljard in drie jaar.</a:t>
            </a:r>
            <a:endParaRPr lang="en-US" sz="1400" dirty="0"/>
          </a:p>
        </p:txBody>
      </p:sp>
      <p:sp>
        <p:nvSpPr>
          <p:cNvPr id="16" name="Text 14"/>
          <p:cNvSpPr txBox="1"/>
          <p:nvPr/>
        </p:nvSpPr>
        <p:spPr>
          <a:xfrm>
            <a:off x="5257800" y="2743200"/>
            <a:ext cx="1737360" cy="9144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542 MW</a:t>
            </a:r>
            <a:endParaRPr lang="en-US" sz="2400" dirty="0"/>
          </a:p>
        </p:txBody>
      </p:sp>
      <p:sp>
        <p:nvSpPr>
          <p:cNvPr id="17" name="Text 15"/>
          <p:cNvSpPr txBox="1"/>
          <p:nvPr/>
        </p:nvSpPr>
        <p:spPr>
          <a:xfrm>
            <a:off x="7086600" y="2743200"/>
            <a:ext cx="4434840" cy="91440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Congestiemanagement</a:t>
            </a:r>
            <a:endParaRPr lang="en-US" sz="1400" dirty="0"/>
          </a:p>
          <a:p>
            <a:pPr indent="0" marL="0">
              <a:buNone/>
            </a:pPr>
            <a:r>
              <a:rPr lang="en-US" sz="1400" dirty="0">
                <a:solidFill>
                  <a:schemeClr val="accent5"/>
                </a:solidFill>
                <a:latin typeface="Calibri" pitchFamily="34" charset="0"/>
                <a:ea typeface="Calibri" pitchFamily="34" charset="-122"/>
                <a:cs typeface="Calibri" pitchFamily="34" charset="-120"/>
              </a:rPr>
              <a:t>Bedrijven krijgen geld om op drukke momenten minder te gebruiken.</a:t>
            </a:r>
            <a:endParaRPr lang="en-US" sz="1400" dirty="0"/>
          </a:p>
        </p:txBody>
      </p:sp>
      <p:sp>
        <p:nvSpPr>
          <p:cNvPr id="18" name="Text 16"/>
          <p:cNvSpPr txBox="1"/>
          <p:nvPr/>
        </p:nvSpPr>
        <p:spPr>
          <a:xfrm>
            <a:off x="5257800" y="3840480"/>
            <a:ext cx="1737360" cy="9144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237</a:t>
            </a:r>
            <a:endParaRPr lang="en-US" sz="2400" dirty="0"/>
          </a:p>
        </p:txBody>
      </p:sp>
      <p:sp>
        <p:nvSpPr>
          <p:cNvPr id="19" name="Text 17"/>
          <p:cNvSpPr txBox="1"/>
          <p:nvPr/>
        </p:nvSpPr>
        <p:spPr>
          <a:xfrm>
            <a:off x="7086600" y="3840480"/>
            <a:ext cx="4434840" cy="91440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Batterijen</a:t>
            </a:r>
            <a:endParaRPr lang="en-US" sz="1400" dirty="0"/>
          </a:p>
          <a:p>
            <a:pPr indent="0" marL="0">
              <a:buNone/>
            </a:pPr>
            <a:r>
              <a:rPr lang="en-US" sz="1400" dirty="0">
                <a:solidFill>
                  <a:schemeClr val="accent5"/>
                </a:solidFill>
                <a:latin typeface="Calibri" pitchFamily="34" charset="0"/>
                <a:ea typeface="Calibri" pitchFamily="34" charset="-122"/>
                <a:cs typeface="Calibri" pitchFamily="34" charset="-120"/>
              </a:rPr>
              <a:t>Opslagcontracten bij netbeheerders verdubbeld: overschot opslaan voor de avond.</a:t>
            </a:r>
            <a:endParaRPr lang="en-US" sz="1400" dirty="0"/>
          </a:p>
        </p:txBody>
      </p:sp>
      <p:sp>
        <p:nvSpPr>
          <p:cNvPr id="20" name="Text 18"/>
          <p:cNvSpPr txBox="1"/>
          <p:nvPr/>
        </p:nvSpPr>
        <p:spPr>
          <a:xfrm>
            <a:off x="5257800" y="4937760"/>
            <a:ext cx="1737360" cy="9144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Uurprijs</a:t>
            </a:r>
            <a:endParaRPr lang="en-US" sz="2400" dirty="0"/>
          </a:p>
        </p:txBody>
      </p:sp>
      <p:sp>
        <p:nvSpPr>
          <p:cNvPr id="21" name="Text 19"/>
          <p:cNvSpPr txBox="1"/>
          <p:nvPr/>
        </p:nvSpPr>
        <p:spPr>
          <a:xfrm>
            <a:off x="7086600" y="4937760"/>
            <a:ext cx="4434840" cy="91440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Dynamische contracten</a:t>
            </a:r>
            <a:endParaRPr lang="en-US" sz="1400" dirty="0"/>
          </a:p>
          <a:p>
            <a:pPr indent="0" marL="0">
              <a:buNone/>
            </a:pPr>
            <a:r>
              <a:rPr lang="en-US" sz="1400" dirty="0">
                <a:solidFill>
                  <a:schemeClr val="accent5"/>
                </a:solidFill>
                <a:latin typeface="Calibri" pitchFamily="34" charset="0"/>
                <a:ea typeface="Calibri" pitchFamily="34" charset="-122"/>
                <a:cs typeface="Calibri" pitchFamily="34" charset="-120"/>
              </a:rPr>
              <a:t>Leveranciers geven de uurprijs door, zodat klanten verbruik verschuiven.</a:t>
            </a:r>
            <a:endParaRPr lang="en-US" sz="1400" dirty="0"/>
          </a:p>
        </p:txBody>
      </p:sp>
      <p:sp>
        <p:nvSpPr>
          <p:cNvPr id="22" name="Text 20"/>
          <p:cNvSpPr txBox="1"/>
          <p:nvPr/>
        </p:nvSpPr>
        <p:spPr>
          <a:xfrm>
            <a:off x="685800" y="6355080"/>
            <a:ext cx="96012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Bronnen: Enexis Groep (2025, 2026); Netbeheer Nederland (z.d.); Solar Magazine (2026a, 2026b)</a:t>
            </a:r>
            <a:endParaRPr lang="en-US" sz="1000" dirty="0"/>
          </a:p>
        </p:txBody>
      </p:sp>
      <p:sp>
        <p:nvSpPr>
          <p:cNvPr id="25" name="Slide Number Placeholder 0"/>
          <p:cNvSpPr>
            <a:spLocks noGrp="1"/>
          </p:cNvSpPr>
          <p:nvPr>
            <p:ph type="sldNum" sz="quarter" idx="4294967295"/>
          </p:nvPr>
        </p:nvSpPr>
        <p:spPr>
          <a:xfrm>
            <a:off x="1114013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Groener, maar te langzaam van het gas af</a:t>
            </a:r>
            <a:endParaRPr lang="en-US" sz="3400" dirty="0"/>
          </a:p>
        </p:txBody>
      </p:sp>
      <p:sp>
        <p:nvSpPr>
          <p:cNvPr id="3" name="ontwikkeling 1"/>
          <p:cNvSpPr/>
          <p:nvPr/>
        </p:nvSpPr>
        <p:spPr>
          <a:xfrm>
            <a:off x="685800" y="1325880"/>
            <a:ext cx="2011680" cy="868680"/>
          </a:xfrm>
          <a:prstGeom prst="roundRect">
            <a:avLst>
              <a:gd name="adj" fmla="val 12632"/>
            </a:avLst>
          </a:prstGeom>
          <a:solidFill>
            <a:schemeClr val="bg2"/>
          </a:solidFill>
          <a:ln w="12700">
            <a:solidFill>
              <a:schemeClr val="bg2"/>
            </a:solidFill>
            <a:prstDash val="solid"/>
          </a:ln>
        </p:spPr>
      </p:sp>
      <p:sp>
        <p:nvSpPr>
          <p:cNvPr id="4" name="Text 2"/>
          <p:cNvSpPr txBox="1"/>
          <p:nvPr/>
        </p:nvSpPr>
        <p:spPr>
          <a:xfrm>
            <a:off x="822960" y="1325880"/>
            <a:ext cx="1737360" cy="868680"/>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50% van de stroom hernieuwbaar (2024)</a:t>
            </a:r>
            <a:endParaRPr lang="en-US" sz="1300" dirty="0"/>
          </a:p>
        </p:txBody>
      </p:sp>
      <p:sp>
        <p:nvSpPr>
          <p:cNvPr id="5" name="ontwikkeling 2"/>
          <p:cNvSpPr/>
          <p:nvPr/>
        </p:nvSpPr>
        <p:spPr>
          <a:xfrm>
            <a:off x="2862072" y="1325880"/>
            <a:ext cx="2011680" cy="868680"/>
          </a:xfrm>
          <a:prstGeom prst="roundRect">
            <a:avLst>
              <a:gd name="adj" fmla="val 12632"/>
            </a:avLst>
          </a:prstGeom>
          <a:solidFill>
            <a:schemeClr val="bg2"/>
          </a:solidFill>
          <a:ln w="12700">
            <a:solidFill>
              <a:schemeClr val="bg2"/>
            </a:solidFill>
            <a:prstDash val="solid"/>
          </a:ln>
        </p:spPr>
      </p:sp>
      <p:sp>
        <p:nvSpPr>
          <p:cNvPr id="6" name="Text 4"/>
          <p:cNvSpPr txBox="1"/>
          <p:nvPr/>
        </p:nvSpPr>
        <p:spPr>
          <a:xfrm>
            <a:off x="2999232" y="1325880"/>
            <a:ext cx="1737360" cy="868680"/>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Wind op zee naar 21 GW rond 2032</a:t>
            </a:r>
            <a:endParaRPr lang="en-US" sz="1300" dirty="0"/>
          </a:p>
        </p:txBody>
      </p:sp>
      <p:sp>
        <p:nvSpPr>
          <p:cNvPr id="7" name="ontwikkeling 3"/>
          <p:cNvSpPr/>
          <p:nvPr/>
        </p:nvSpPr>
        <p:spPr>
          <a:xfrm>
            <a:off x="5038344" y="1325880"/>
            <a:ext cx="2011680" cy="868680"/>
          </a:xfrm>
          <a:prstGeom prst="roundRect">
            <a:avLst>
              <a:gd name="adj" fmla="val 12632"/>
            </a:avLst>
          </a:prstGeom>
          <a:solidFill>
            <a:schemeClr val="bg2"/>
          </a:solidFill>
          <a:ln w="12700">
            <a:solidFill>
              <a:schemeClr val="bg2"/>
            </a:solidFill>
            <a:prstDash val="solid"/>
          </a:ln>
        </p:spPr>
      </p:sp>
      <p:sp>
        <p:nvSpPr>
          <p:cNvPr id="8" name="Text 6"/>
          <p:cNvSpPr txBox="1"/>
          <p:nvPr/>
        </p:nvSpPr>
        <p:spPr>
          <a:xfrm>
            <a:off x="5175504" y="1325880"/>
            <a:ext cx="1737360" cy="868680"/>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Groen gas: bijmengplicht vanaf 2027</a:t>
            </a:r>
            <a:endParaRPr lang="en-US" sz="1300" dirty="0"/>
          </a:p>
        </p:txBody>
      </p:sp>
      <p:sp>
        <p:nvSpPr>
          <p:cNvPr id="9" name="ontwikkeling 4"/>
          <p:cNvSpPr/>
          <p:nvPr/>
        </p:nvSpPr>
        <p:spPr>
          <a:xfrm>
            <a:off x="7214616" y="1325880"/>
            <a:ext cx="2011680" cy="868680"/>
          </a:xfrm>
          <a:prstGeom prst="roundRect">
            <a:avLst>
              <a:gd name="adj" fmla="val 12632"/>
            </a:avLst>
          </a:prstGeom>
          <a:solidFill>
            <a:schemeClr val="bg2"/>
          </a:solidFill>
          <a:ln w="12700">
            <a:solidFill>
              <a:schemeClr val="bg2"/>
            </a:solidFill>
            <a:prstDash val="solid"/>
          </a:ln>
        </p:spPr>
      </p:sp>
      <p:sp>
        <p:nvSpPr>
          <p:cNvPr id="10" name="Text 8"/>
          <p:cNvSpPr txBox="1"/>
          <p:nvPr/>
        </p:nvSpPr>
        <p:spPr>
          <a:xfrm>
            <a:off x="7351776" y="1325880"/>
            <a:ext cx="1737360" cy="868680"/>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Warmtepompen en warmtenetten</a:t>
            </a:r>
            <a:endParaRPr lang="en-US" sz="1300" dirty="0"/>
          </a:p>
        </p:txBody>
      </p:sp>
      <p:sp>
        <p:nvSpPr>
          <p:cNvPr id="11" name="ontwikkeling 5"/>
          <p:cNvSpPr/>
          <p:nvPr/>
        </p:nvSpPr>
        <p:spPr>
          <a:xfrm>
            <a:off x="9390888" y="1325880"/>
            <a:ext cx="2011680" cy="868680"/>
          </a:xfrm>
          <a:prstGeom prst="roundRect">
            <a:avLst>
              <a:gd name="adj" fmla="val 12632"/>
            </a:avLst>
          </a:prstGeom>
          <a:solidFill>
            <a:schemeClr val="bg2"/>
          </a:solidFill>
          <a:ln w="12700">
            <a:solidFill>
              <a:schemeClr val="bg2"/>
            </a:solidFill>
            <a:prstDash val="solid"/>
          </a:ln>
        </p:spPr>
      </p:sp>
      <p:sp>
        <p:nvSpPr>
          <p:cNvPr id="12" name="Text 10"/>
          <p:cNvSpPr txBox="1"/>
          <p:nvPr/>
        </p:nvSpPr>
        <p:spPr>
          <a:xfrm>
            <a:off x="9528048" y="1325880"/>
            <a:ext cx="1737360" cy="868680"/>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Batterijen en flexibel verbruik</a:t>
            </a:r>
            <a:endParaRPr lang="en-US" sz="1300" dirty="0"/>
          </a:p>
        </p:txBody>
      </p:sp>
      <p:sp>
        <p:nvSpPr>
          <p:cNvPr id="13" name="Text 11"/>
          <p:cNvSpPr txBox="1"/>
          <p:nvPr/>
        </p:nvSpPr>
        <p:spPr>
          <a:xfrm>
            <a:off x="685800" y="2514600"/>
            <a:ext cx="5943600" cy="256032"/>
          </a:xfrm>
          <a:prstGeom prst="rect">
            <a:avLst/>
          </a:prstGeom>
          <a:noFill/>
          <a:ln/>
        </p:spPr>
        <p:txBody>
          <a:bodyPr wrap="square" lIns="0" tIns="0" rIns="0" bIns="0" rtlCol="0" anchor="t"/>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DRIE LEVERANCIERS VERGELEKEN (STROOMRANKING)</a:t>
            </a:r>
            <a:endParaRPr lang="en-US" sz="1100" dirty="0"/>
          </a:p>
        </p:txBody>
      </p:sp>
      <p:sp>
        <p:nvSpPr>
          <p:cNvPr id="14" name="Text 12"/>
          <p:cNvSpPr txBox="1"/>
          <p:nvPr/>
        </p:nvSpPr>
        <p:spPr>
          <a:xfrm>
            <a:off x="685800" y="2880360"/>
            <a:ext cx="1463040" cy="41148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Pure Energie</a:t>
            </a:r>
            <a:endParaRPr lang="en-US" sz="1500" dirty="0"/>
          </a:p>
        </p:txBody>
      </p:sp>
      <p:sp>
        <p:nvSpPr>
          <p:cNvPr id="15" name="score Pure Energie"/>
          <p:cNvSpPr/>
          <p:nvPr/>
        </p:nvSpPr>
        <p:spPr>
          <a:xfrm>
            <a:off x="2194560" y="2926080"/>
            <a:ext cx="3383280" cy="329184"/>
          </a:xfrm>
          <a:prstGeom prst="roundRect">
            <a:avLst>
              <a:gd name="adj" fmla="val 13889"/>
            </a:avLst>
          </a:prstGeom>
          <a:solidFill>
            <a:schemeClr val="accent1"/>
          </a:solidFill>
          <a:ln w="12700">
            <a:solidFill>
              <a:schemeClr val="accent1"/>
            </a:solidFill>
            <a:prstDash val="solid"/>
          </a:ln>
        </p:spPr>
      </p:sp>
      <p:sp>
        <p:nvSpPr>
          <p:cNvPr id="16" name="Text 14"/>
          <p:cNvSpPr txBox="1"/>
          <p:nvPr/>
        </p:nvSpPr>
        <p:spPr>
          <a:xfrm>
            <a:off x="5669280" y="2880360"/>
            <a:ext cx="548640" cy="41148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10</a:t>
            </a:r>
            <a:endParaRPr lang="en-US" sz="1500" dirty="0"/>
          </a:p>
        </p:txBody>
      </p:sp>
      <p:sp>
        <p:nvSpPr>
          <p:cNvPr id="17" name="Text 15"/>
          <p:cNvSpPr txBox="1"/>
          <p:nvPr/>
        </p:nvSpPr>
        <p:spPr>
          <a:xfrm>
            <a:off x="2194560" y="3319272"/>
            <a:ext cx="4206240" cy="32004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Alleen eigen Nederlandse wind en zon</a:t>
            </a:r>
            <a:endParaRPr lang="en-US" sz="1200" dirty="0"/>
          </a:p>
        </p:txBody>
      </p:sp>
      <p:sp>
        <p:nvSpPr>
          <p:cNvPr id="18" name="Text 16"/>
          <p:cNvSpPr txBox="1"/>
          <p:nvPr/>
        </p:nvSpPr>
        <p:spPr>
          <a:xfrm>
            <a:off x="685800" y="3840480"/>
            <a:ext cx="1463040" cy="41148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Eneco</a:t>
            </a:r>
            <a:endParaRPr lang="en-US" sz="1500" dirty="0"/>
          </a:p>
        </p:txBody>
      </p:sp>
      <p:sp>
        <p:nvSpPr>
          <p:cNvPr id="19" name="score Eneco"/>
          <p:cNvSpPr/>
          <p:nvPr/>
        </p:nvSpPr>
        <p:spPr>
          <a:xfrm>
            <a:off x="2194560" y="3886200"/>
            <a:ext cx="2740457" cy="329184"/>
          </a:xfrm>
          <a:prstGeom prst="roundRect">
            <a:avLst>
              <a:gd name="adj" fmla="val 13889"/>
            </a:avLst>
          </a:prstGeom>
          <a:solidFill>
            <a:schemeClr val="accent2"/>
          </a:solidFill>
          <a:ln w="12700">
            <a:solidFill>
              <a:schemeClr val="accent2"/>
            </a:solidFill>
            <a:prstDash val="solid"/>
          </a:ln>
        </p:spPr>
      </p:sp>
      <p:sp>
        <p:nvSpPr>
          <p:cNvPr id="20" name="Text 18"/>
          <p:cNvSpPr txBox="1"/>
          <p:nvPr/>
        </p:nvSpPr>
        <p:spPr>
          <a:xfrm>
            <a:off x="5026457" y="3840480"/>
            <a:ext cx="548640" cy="41148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8,1</a:t>
            </a:r>
            <a:endParaRPr lang="en-US" sz="1500" dirty="0"/>
          </a:p>
        </p:txBody>
      </p:sp>
      <p:sp>
        <p:nvSpPr>
          <p:cNvPr id="21" name="Text 19"/>
          <p:cNvSpPr txBox="1"/>
          <p:nvPr/>
        </p:nvSpPr>
        <p:spPr>
          <a:xfrm>
            <a:off x="2194560" y="4279392"/>
            <a:ext cx="4206240" cy="32004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97,5% Nederlandse stroom, eigen parken</a:t>
            </a:r>
            <a:endParaRPr lang="en-US" sz="1200" dirty="0"/>
          </a:p>
        </p:txBody>
      </p:sp>
      <p:sp>
        <p:nvSpPr>
          <p:cNvPr id="22" name="Text 20"/>
          <p:cNvSpPr txBox="1"/>
          <p:nvPr/>
        </p:nvSpPr>
        <p:spPr>
          <a:xfrm>
            <a:off x="685800" y="4800600"/>
            <a:ext cx="1463040" cy="41148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Essent</a:t>
            </a:r>
            <a:endParaRPr lang="en-US" sz="1500" dirty="0"/>
          </a:p>
        </p:txBody>
      </p:sp>
      <p:sp>
        <p:nvSpPr>
          <p:cNvPr id="23" name="score Essent"/>
          <p:cNvSpPr/>
          <p:nvPr/>
        </p:nvSpPr>
        <p:spPr>
          <a:xfrm>
            <a:off x="2194560" y="4846320"/>
            <a:ext cx="1623974" cy="329184"/>
          </a:xfrm>
          <a:prstGeom prst="roundRect">
            <a:avLst>
              <a:gd name="adj" fmla="val 13889"/>
            </a:avLst>
          </a:prstGeom>
          <a:solidFill>
            <a:srgbClr val="C0504D"/>
          </a:solidFill>
          <a:ln w="12700">
            <a:solidFill>
              <a:srgbClr val="C0504D"/>
            </a:solidFill>
            <a:prstDash val="solid"/>
          </a:ln>
        </p:spPr>
      </p:sp>
      <p:sp>
        <p:nvSpPr>
          <p:cNvPr id="24" name="Text 22"/>
          <p:cNvSpPr txBox="1"/>
          <p:nvPr/>
        </p:nvSpPr>
        <p:spPr>
          <a:xfrm>
            <a:off x="3909974" y="4800600"/>
            <a:ext cx="548640" cy="41148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4,8</a:t>
            </a:r>
            <a:endParaRPr lang="en-US" sz="1500" dirty="0"/>
          </a:p>
        </p:txBody>
      </p:sp>
      <p:sp>
        <p:nvSpPr>
          <p:cNvPr id="25" name="Text 23"/>
          <p:cNvSpPr txBox="1"/>
          <p:nvPr/>
        </p:nvSpPr>
        <p:spPr>
          <a:xfrm>
            <a:off x="2194560" y="5239512"/>
            <a:ext cx="4206240" cy="32004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Groot deel vergroend met buitenlandse certificaten</a:t>
            </a:r>
            <a:endParaRPr lang="en-US" sz="1200" dirty="0"/>
          </a:p>
        </p:txBody>
      </p:sp>
      <p:sp>
        <p:nvSpPr>
          <p:cNvPr id="26" name="van het gas af"/>
          <p:cNvSpPr/>
          <p:nvPr/>
        </p:nvSpPr>
        <p:spPr>
          <a:xfrm>
            <a:off x="6812280" y="2514600"/>
            <a:ext cx="4690872" cy="3520440"/>
          </a:xfrm>
          <a:prstGeom prst="roundRect">
            <a:avLst>
              <a:gd name="adj" fmla="val 3117"/>
            </a:avLst>
          </a:prstGeom>
          <a:solidFill>
            <a:schemeClr val="tx2"/>
          </a:solidFill>
          <a:ln w="12700">
            <a:solidFill>
              <a:schemeClr val="tx2"/>
            </a:solidFill>
            <a:prstDash val="solid"/>
          </a:ln>
        </p:spPr>
      </p:sp>
      <p:sp>
        <p:nvSpPr>
          <p:cNvPr id="27" name="Text 25"/>
          <p:cNvSpPr txBox="1"/>
          <p:nvPr/>
        </p:nvSpPr>
        <p:spPr>
          <a:xfrm>
            <a:off x="7086600" y="2697480"/>
            <a:ext cx="4114800" cy="256032"/>
          </a:xfrm>
          <a:prstGeom prst="rect">
            <a:avLst/>
          </a:prstGeom>
          <a:noFill/>
          <a:ln/>
        </p:spPr>
        <p:txBody>
          <a:bodyPr wrap="square" lIns="0" tIns="0" rIns="0" bIns="0" rtlCol="0" anchor="t"/>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NEDERLAND VAN HET GAS AF</a:t>
            </a:r>
            <a:endParaRPr lang="en-US" sz="1100" dirty="0"/>
          </a:p>
        </p:txBody>
      </p:sp>
      <p:sp>
        <p:nvSpPr>
          <p:cNvPr id="28" name="Text 26"/>
          <p:cNvSpPr txBox="1"/>
          <p:nvPr/>
        </p:nvSpPr>
        <p:spPr>
          <a:xfrm>
            <a:off x="7086600" y="3017520"/>
            <a:ext cx="2194560" cy="77724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11,2%</a:t>
            </a:r>
            <a:endParaRPr lang="en-US" sz="4000" dirty="0"/>
          </a:p>
        </p:txBody>
      </p:sp>
      <p:sp>
        <p:nvSpPr>
          <p:cNvPr id="29" name="Text 27"/>
          <p:cNvSpPr txBox="1"/>
          <p:nvPr/>
        </p:nvSpPr>
        <p:spPr>
          <a:xfrm>
            <a:off x="9281160" y="3063240"/>
            <a:ext cx="2011680" cy="777240"/>
          </a:xfrm>
          <a:prstGeom prst="rect">
            <a:avLst/>
          </a:prstGeom>
          <a:noFill/>
          <a:ln/>
        </p:spPr>
        <p:txBody>
          <a:bodyPr wrap="square" lIns="0" tIns="0" rIns="0" bIns="0" rtlCol="0" anchor="ctr"/>
          <a:lstStyle/>
          <a:p>
            <a:pPr indent="0" marL="0">
              <a:buNone/>
            </a:pPr>
            <a:r>
              <a:rPr lang="en-US" sz="1300" dirty="0">
                <a:solidFill>
                  <a:srgbClr val="C9D3DE"/>
                </a:solidFill>
                <a:latin typeface="Calibri" pitchFamily="34" charset="0"/>
                <a:ea typeface="Calibri" pitchFamily="34" charset="-122"/>
                <a:cs typeface="Calibri" pitchFamily="34" charset="-120"/>
              </a:rPr>
              <a:t>van de woningen was in 2024 aardgasvrij (2022: 8,7%)</a:t>
            </a:r>
            <a:endParaRPr lang="en-US" sz="1300" dirty="0"/>
          </a:p>
        </p:txBody>
      </p:sp>
      <p:sp>
        <p:nvSpPr>
          <p:cNvPr id="30" name="Text 28"/>
          <p:cNvSpPr txBox="1"/>
          <p:nvPr/>
        </p:nvSpPr>
        <p:spPr>
          <a:xfrm>
            <a:off x="7086600" y="3977640"/>
            <a:ext cx="4160520" cy="146304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Doel 2030: 1,5 miljoen bestaande woningen van het gas af. </a:t>
            </a:r>
            <a:endParaRPr lang="en-US" sz="1400" dirty="0"/>
          </a:p>
          <a:p>
            <a:pPr indent="0" marL="0">
              <a:buNone/>
            </a:pPr>
            <a:r>
              <a:rPr lang="en-US" sz="1400" b="1" dirty="0">
                <a:solidFill>
                  <a:schemeClr val="accent2"/>
                </a:solidFill>
                <a:latin typeface="Calibri" pitchFamily="34" charset="0"/>
                <a:ea typeface="Calibri" pitchFamily="34" charset="-122"/>
                <a:cs typeface="Calibri" pitchFamily="34" charset="-120"/>
              </a:rPr>
              <a:t>Daarvoor zijn zo'n 187.500 woningen per jaar nodig. In dit tempo halen we dat niet.</a:t>
            </a:r>
            <a:endParaRPr lang="en-US" sz="1400" dirty="0"/>
          </a:p>
        </p:txBody>
      </p:sp>
      <p:sp>
        <p:nvSpPr>
          <p:cNvPr id="31" name="Text 29"/>
          <p:cNvSpPr txBox="1"/>
          <p:nvPr/>
        </p:nvSpPr>
        <p:spPr>
          <a:xfrm>
            <a:off x="685800" y="6355080"/>
            <a:ext cx="96012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Bronnen: CBS (2025a, 2025b); Essent (2025); Greenpeace et al. (2022); Ministerie van KGG (2025); PBL (2024); WISE (z.d.)</a:t>
            </a:r>
            <a:endParaRPr lang="en-US" sz="1000" dirty="0"/>
          </a:p>
        </p:txBody>
      </p:sp>
      <p:sp>
        <p:nvSpPr>
          <p:cNvPr id="25" name="Slide Number Placeholder 0"/>
          <p:cNvSpPr>
            <a:spLocks noGrp="1"/>
          </p:cNvSpPr>
          <p:nvPr>
            <p:ph type="sldNum" sz="quarter" idx="4294967295"/>
          </p:nvPr>
        </p:nvSpPr>
        <p:spPr>
          <a:xfrm>
            <a:off x="1114013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Drie privacy-incidenten in de energiesector</a:t>
            </a:r>
            <a:endParaRPr lang="en-US" sz="3400" dirty="0"/>
          </a:p>
        </p:txBody>
      </p:sp>
      <p:sp>
        <p:nvSpPr>
          <p:cNvPr id="3" name="Text 1"/>
          <p:cNvSpPr txBox="1"/>
          <p:nvPr/>
        </p:nvSpPr>
        <p:spPr>
          <a:xfrm>
            <a:off x="685800" y="1234440"/>
            <a:ext cx="10789920" cy="365760"/>
          </a:xfrm>
          <a:prstGeom prst="rect">
            <a:avLst/>
          </a:prstGeom>
          <a:noFill/>
          <a:ln/>
        </p:spPr>
        <p:txBody>
          <a:bodyPr wrap="square" lIns="0" tIns="0" rIns="0" bIns="0" rtlCol="0" anchor="t"/>
          <a:lstStyle/>
          <a:p>
            <a:pPr indent="0" marL="0">
              <a:buNone/>
            </a:pPr>
            <a:r>
              <a:rPr lang="en-US" sz="1600" dirty="0">
                <a:solidFill>
                  <a:schemeClr val="accent5"/>
                </a:solidFill>
                <a:latin typeface="Calibri" pitchFamily="34" charset="0"/>
                <a:ea typeface="Calibri" pitchFamily="34" charset="-122"/>
                <a:cs typeface="Calibri" pitchFamily="34" charset="-120"/>
              </a:rPr>
              <a:t>Bij Enexis zelf vonden we geen datalek. Daarom drie incidenten bij leveranciers, elk met een andere oorzaak.</a:t>
            </a:r>
            <a:endParaRPr lang="en-US" sz="1600" dirty="0"/>
          </a:p>
        </p:txBody>
      </p:sp>
      <p:sp>
        <p:nvSpPr>
          <p:cNvPr id="4" name="incident Eneco"/>
          <p:cNvSpPr/>
          <p:nvPr/>
        </p:nvSpPr>
        <p:spPr>
          <a:xfrm>
            <a:off x="685800" y="1783080"/>
            <a:ext cx="3474720" cy="3246120"/>
          </a:xfrm>
          <a:prstGeom prst="roundRect">
            <a:avLst>
              <a:gd name="adj" fmla="val 3380"/>
            </a:avLst>
          </a:prstGeom>
          <a:solidFill>
            <a:schemeClr val="bg2"/>
          </a:solidFill>
          <a:ln w="12700">
            <a:solidFill>
              <a:schemeClr val="bg2"/>
            </a:solidFill>
            <a:prstDash val="solid"/>
          </a:ln>
        </p:spPr>
      </p:sp>
      <p:sp>
        <p:nvSpPr>
          <p:cNvPr id="5" name="Text 3"/>
          <p:cNvSpPr txBox="1"/>
          <p:nvPr/>
        </p:nvSpPr>
        <p:spPr>
          <a:xfrm>
            <a:off x="960120" y="2011680"/>
            <a:ext cx="2926080" cy="256032"/>
          </a:xfrm>
          <a:prstGeom prst="rect">
            <a:avLst/>
          </a:prstGeom>
          <a:noFill/>
          <a:ln/>
        </p:spPr>
        <p:txBody>
          <a:bodyPr wrap="square" lIns="0" tIns="0" rIns="0" bIns="0" rtlCol="0" anchor="t"/>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JAN 2021</a:t>
            </a:r>
            <a:endParaRPr lang="en-US" sz="1100" dirty="0"/>
          </a:p>
        </p:txBody>
      </p:sp>
      <p:sp>
        <p:nvSpPr>
          <p:cNvPr id="6" name="Text 4"/>
          <p:cNvSpPr txBox="1"/>
          <p:nvPr/>
        </p:nvSpPr>
        <p:spPr>
          <a:xfrm>
            <a:off x="960120" y="2286000"/>
            <a:ext cx="2926080" cy="45720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Eneco</a:t>
            </a:r>
            <a:endParaRPr lang="en-US" sz="1700" dirty="0"/>
          </a:p>
        </p:txBody>
      </p:sp>
      <p:sp>
        <p:nvSpPr>
          <p:cNvPr id="7" name="Text 5"/>
          <p:cNvSpPr txBox="1"/>
          <p:nvPr/>
        </p:nvSpPr>
        <p:spPr>
          <a:xfrm>
            <a:off x="960120" y="2834640"/>
            <a:ext cx="2926080" cy="777240"/>
          </a:xfrm>
          <a:prstGeom prst="rect">
            <a:avLst/>
          </a:prstGeom>
          <a:noFill/>
          <a:ln/>
        </p:spPr>
        <p:txBody>
          <a:bodyPr wrap="square" lIns="0" tIns="0" rIns="0" bIns="0" rtlCol="0" anchor="t"/>
          <a:lstStyle/>
          <a:p>
            <a:pPr indent="0" marL="0">
              <a:buNone/>
            </a:pPr>
            <a:r>
              <a:rPr lang="en-US" sz="1400" b="1" dirty="0">
                <a:solidFill>
                  <a:schemeClr val="accent5"/>
                </a:solidFill>
                <a:latin typeface="Calibri" pitchFamily="34" charset="0"/>
                <a:ea typeface="Calibri" pitchFamily="34" charset="-122"/>
                <a:cs typeface="Calibri" pitchFamily="34" charset="-120"/>
              </a:rPr>
              <a:t>Oorzaak: </a:t>
            </a:r>
            <a:pPr indent="0" marL="0">
              <a:buNone/>
            </a:pPr>
            <a:r>
              <a:rPr lang="en-US" sz="1400" dirty="0">
                <a:solidFill>
                  <a:schemeClr val="accent5"/>
                </a:solidFill>
                <a:latin typeface="Calibri" pitchFamily="34" charset="0"/>
                <a:ea typeface="Calibri" pitchFamily="34" charset="-122"/>
                <a:cs typeface="Calibri" pitchFamily="34" charset="-120"/>
              </a:rPr>
              <a:t>Hackers loggen in met gestolen wachtwoorden van andere sites.</a:t>
            </a:r>
            <a:endParaRPr lang="en-US" sz="1400" dirty="0"/>
          </a:p>
        </p:txBody>
      </p:sp>
      <p:sp>
        <p:nvSpPr>
          <p:cNvPr id="8" name="Text 6"/>
          <p:cNvSpPr txBox="1"/>
          <p:nvPr/>
        </p:nvSpPr>
        <p:spPr>
          <a:xfrm>
            <a:off x="960120" y="3611880"/>
            <a:ext cx="2926080" cy="685800"/>
          </a:xfrm>
          <a:prstGeom prst="rect">
            <a:avLst/>
          </a:prstGeom>
          <a:noFill/>
          <a:ln/>
        </p:spPr>
        <p:txBody>
          <a:bodyPr wrap="square" lIns="0" tIns="0" rIns="0" bIns="0" rtlCol="0" anchor="t"/>
          <a:lstStyle/>
          <a:p>
            <a:pPr indent="0" marL="0">
              <a:buNone/>
            </a:pPr>
            <a:r>
              <a:rPr lang="en-US" sz="1400" b="1" dirty="0">
                <a:solidFill>
                  <a:schemeClr val="accent5"/>
                </a:solidFill>
                <a:latin typeface="Calibri" pitchFamily="34" charset="0"/>
                <a:ea typeface="Calibri" pitchFamily="34" charset="-122"/>
                <a:cs typeface="Calibri" pitchFamily="34" charset="-120"/>
              </a:rPr>
              <a:t>Gevolg: </a:t>
            </a:r>
            <a:pPr indent="0" marL="0">
              <a:buNone/>
            </a:pPr>
            <a:r>
              <a:rPr lang="en-US" sz="1400" dirty="0">
                <a:solidFill>
                  <a:schemeClr val="accent5"/>
                </a:solidFill>
                <a:latin typeface="Calibri" pitchFamily="34" charset="0"/>
                <a:ea typeface="Calibri" pitchFamily="34" charset="-122"/>
                <a:cs typeface="Calibri" pitchFamily="34" charset="-120"/>
              </a:rPr>
              <a:t>1.700 accounts; naam, adres en IBAN in te zien</a:t>
            </a:r>
            <a:endParaRPr lang="en-US" sz="1400" dirty="0"/>
          </a:p>
        </p:txBody>
      </p:sp>
      <p:sp>
        <p:nvSpPr>
          <p:cNvPr id="9" name="Text 7"/>
          <p:cNvSpPr txBox="1"/>
          <p:nvPr/>
        </p:nvSpPr>
        <p:spPr>
          <a:xfrm>
            <a:off x="960120" y="4343400"/>
            <a:ext cx="2926080" cy="54864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Art. 32: alleen een wachtwoord is te zwak</a:t>
            </a:r>
            <a:endParaRPr lang="en-US" sz="1300" dirty="0"/>
          </a:p>
        </p:txBody>
      </p:sp>
      <p:sp>
        <p:nvSpPr>
          <p:cNvPr id="10" name="incident AddComm"/>
          <p:cNvSpPr/>
          <p:nvPr/>
        </p:nvSpPr>
        <p:spPr>
          <a:xfrm>
            <a:off x="4325112" y="1783080"/>
            <a:ext cx="3474720" cy="3246120"/>
          </a:xfrm>
          <a:prstGeom prst="roundRect">
            <a:avLst>
              <a:gd name="adj" fmla="val 3380"/>
            </a:avLst>
          </a:prstGeom>
          <a:solidFill>
            <a:schemeClr val="bg2"/>
          </a:solidFill>
          <a:ln w="12700">
            <a:solidFill>
              <a:schemeClr val="bg2"/>
            </a:solidFill>
            <a:prstDash val="solid"/>
          </a:ln>
        </p:spPr>
      </p:sp>
      <p:sp>
        <p:nvSpPr>
          <p:cNvPr id="11" name="Text 9"/>
          <p:cNvSpPr txBox="1"/>
          <p:nvPr/>
        </p:nvSpPr>
        <p:spPr>
          <a:xfrm>
            <a:off x="4599432" y="2011680"/>
            <a:ext cx="2926080" cy="256032"/>
          </a:xfrm>
          <a:prstGeom prst="rect">
            <a:avLst/>
          </a:prstGeom>
          <a:noFill/>
          <a:ln/>
        </p:spPr>
        <p:txBody>
          <a:bodyPr wrap="square" lIns="0" tIns="0" rIns="0" bIns="0" rtlCol="0" anchor="t"/>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MEI 2024</a:t>
            </a:r>
            <a:endParaRPr lang="en-US" sz="1100" dirty="0"/>
          </a:p>
        </p:txBody>
      </p:sp>
      <p:sp>
        <p:nvSpPr>
          <p:cNvPr id="12" name="Text 10"/>
          <p:cNvSpPr txBox="1"/>
          <p:nvPr/>
        </p:nvSpPr>
        <p:spPr>
          <a:xfrm>
            <a:off x="4599432" y="2286000"/>
            <a:ext cx="2926080" cy="45720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AddComm</a:t>
            </a:r>
            <a:endParaRPr lang="en-US" sz="1700" dirty="0"/>
          </a:p>
        </p:txBody>
      </p:sp>
      <p:sp>
        <p:nvSpPr>
          <p:cNvPr id="13" name="Text 11"/>
          <p:cNvSpPr txBox="1"/>
          <p:nvPr/>
        </p:nvSpPr>
        <p:spPr>
          <a:xfrm>
            <a:off x="4599432" y="2834640"/>
            <a:ext cx="2926080" cy="777240"/>
          </a:xfrm>
          <a:prstGeom prst="rect">
            <a:avLst/>
          </a:prstGeom>
          <a:noFill/>
          <a:ln/>
        </p:spPr>
        <p:txBody>
          <a:bodyPr wrap="square" lIns="0" tIns="0" rIns="0" bIns="0" rtlCol="0" anchor="t"/>
          <a:lstStyle/>
          <a:p>
            <a:pPr indent="0" marL="0">
              <a:buNone/>
            </a:pPr>
            <a:r>
              <a:rPr lang="en-US" sz="1400" b="1" dirty="0">
                <a:solidFill>
                  <a:schemeClr val="accent5"/>
                </a:solidFill>
                <a:latin typeface="Calibri" pitchFamily="34" charset="0"/>
                <a:ea typeface="Calibri" pitchFamily="34" charset="-122"/>
                <a:cs typeface="Calibri" pitchFamily="34" charset="-120"/>
              </a:rPr>
              <a:t>Oorzaak: </a:t>
            </a:r>
            <a:pPr indent="0" marL="0">
              <a:buNone/>
            </a:pPr>
            <a:r>
              <a:rPr lang="en-US" sz="1400" dirty="0">
                <a:solidFill>
                  <a:schemeClr val="accent5"/>
                </a:solidFill>
                <a:latin typeface="Calibri" pitchFamily="34" charset="0"/>
                <a:ea typeface="Calibri" pitchFamily="34" charset="-122"/>
                <a:cs typeface="Calibri" pitchFamily="34" charset="-120"/>
              </a:rPr>
              <a:t>Ransomware bij het bedrijf dat de post verstuurt voor Eneco en Essent.</a:t>
            </a:r>
            <a:endParaRPr lang="en-US" sz="1400" dirty="0"/>
          </a:p>
        </p:txBody>
      </p:sp>
      <p:sp>
        <p:nvSpPr>
          <p:cNvPr id="14" name="Text 12"/>
          <p:cNvSpPr txBox="1"/>
          <p:nvPr/>
        </p:nvSpPr>
        <p:spPr>
          <a:xfrm>
            <a:off x="4599432" y="3611880"/>
            <a:ext cx="2926080" cy="685800"/>
          </a:xfrm>
          <a:prstGeom prst="rect">
            <a:avLst/>
          </a:prstGeom>
          <a:noFill/>
          <a:ln/>
        </p:spPr>
        <p:txBody>
          <a:bodyPr wrap="square" lIns="0" tIns="0" rIns="0" bIns="0" rtlCol="0" anchor="t"/>
          <a:lstStyle/>
          <a:p>
            <a:pPr indent="0" marL="0">
              <a:buNone/>
            </a:pPr>
            <a:r>
              <a:rPr lang="en-US" sz="1400" b="1" dirty="0">
                <a:solidFill>
                  <a:schemeClr val="accent5"/>
                </a:solidFill>
                <a:latin typeface="Calibri" pitchFamily="34" charset="0"/>
                <a:ea typeface="Calibri" pitchFamily="34" charset="-122"/>
                <a:cs typeface="Calibri" pitchFamily="34" charset="-120"/>
              </a:rPr>
              <a:t>Gevolg: </a:t>
            </a:r>
            <a:pPr indent="0" marL="0">
              <a:buNone/>
            </a:pPr>
            <a:r>
              <a:rPr lang="en-US" sz="1400" dirty="0">
                <a:solidFill>
                  <a:schemeClr val="accent5"/>
                </a:solidFill>
                <a:latin typeface="Calibri" pitchFamily="34" charset="0"/>
                <a:ea typeface="Calibri" pitchFamily="34" charset="-122"/>
                <a:cs typeface="Calibri" pitchFamily="34" charset="-120"/>
              </a:rPr>
              <a:t>Klantgegevens gestolen; risico op phishing</a:t>
            </a:r>
            <a:endParaRPr lang="en-US" sz="1400" dirty="0"/>
          </a:p>
        </p:txBody>
      </p:sp>
      <p:sp>
        <p:nvSpPr>
          <p:cNvPr id="15" name="Text 13"/>
          <p:cNvSpPr txBox="1"/>
          <p:nvPr/>
        </p:nvSpPr>
        <p:spPr>
          <a:xfrm>
            <a:off x="4599432" y="4343400"/>
            <a:ext cx="2926080" cy="54864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Art. 28: je blijft verantwoordelijk voor wie je inhuurt</a:t>
            </a:r>
            <a:endParaRPr lang="en-US" sz="1300" dirty="0"/>
          </a:p>
        </p:txBody>
      </p:sp>
      <p:sp>
        <p:nvSpPr>
          <p:cNvPr id="16" name="incident Innova Energie"/>
          <p:cNvSpPr/>
          <p:nvPr/>
        </p:nvSpPr>
        <p:spPr>
          <a:xfrm>
            <a:off x="7964424" y="1783080"/>
            <a:ext cx="3474720" cy="3246120"/>
          </a:xfrm>
          <a:prstGeom prst="roundRect">
            <a:avLst>
              <a:gd name="adj" fmla="val 3380"/>
            </a:avLst>
          </a:prstGeom>
          <a:solidFill>
            <a:schemeClr val="bg2"/>
          </a:solidFill>
          <a:ln w="12700">
            <a:solidFill>
              <a:schemeClr val="bg2"/>
            </a:solidFill>
            <a:prstDash val="solid"/>
          </a:ln>
        </p:spPr>
      </p:sp>
      <p:sp>
        <p:nvSpPr>
          <p:cNvPr id="17" name="Text 15"/>
          <p:cNvSpPr txBox="1"/>
          <p:nvPr/>
        </p:nvSpPr>
        <p:spPr>
          <a:xfrm>
            <a:off x="8238744" y="2011680"/>
            <a:ext cx="2926080" cy="256032"/>
          </a:xfrm>
          <a:prstGeom prst="rect">
            <a:avLst/>
          </a:prstGeom>
          <a:noFill/>
          <a:ln/>
        </p:spPr>
        <p:txBody>
          <a:bodyPr wrap="square" lIns="0" tIns="0" rIns="0" bIns="0" rtlCol="0" anchor="t"/>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MRT 2026</a:t>
            </a:r>
            <a:endParaRPr lang="en-US" sz="1100" dirty="0"/>
          </a:p>
        </p:txBody>
      </p:sp>
      <p:sp>
        <p:nvSpPr>
          <p:cNvPr id="18" name="Text 16"/>
          <p:cNvSpPr txBox="1"/>
          <p:nvPr/>
        </p:nvSpPr>
        <p:spPr>
          <a:xfrm>
            <a:off x="8238744" y="2286000"/>
            <a:ext cx="2926080" cy="45720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Innova Energie</a:t>
            </a:r>
            <a:endParaRPr lang="en-US" sz="1700" dirty="0"/>
          </a:p>
        </p:txBody>
      </p:sp>
      <p:sp>
        <p:nvSpPr>
          <p:cNvPr id="19" name="Text 17"/>
          <p:cNvSpPr txBox="1"/>
          <p:nvPr/>
        </p:nvSpPr>
        <p:spPr>
          <a:xfrm>
            <a:off x="8238744" y="2834640"/>
            <a:ext cx="2926080" cy="777240"/>
          </a:xfrm>
          <a:prstGeom prst="rect">
            <a:avLst/>
          </a:prstGeom>
          <a:noFill/>
          <a:ln/>
        </p:spPr>
        <p:txBody>
          <a:bodyPr wrap="square" lIns="0" tIns="0" rIns="0" bIns="0" rtlCol="0" anchor="t"/>
          <a:lstStyle/>
          <a:p>
            <a:pPr indent="0" marL="0">
              <a:buNone/>
            </a:pPr>
            <a:r>
              <a:rPr lang="en-US" sz="1400" b="1" dirty="0">
                <a:solidFill>
                  <a:schemeClr val="accent5"/>
                </a:solidFill>
                <a:latin typeface="Calibri" pitchFamily="34" charset="0"/>
                <a:ea typeface="Calibri" pitchFamily="34" charset="-122"/>
                <a:cs typeface="Calibri" pitchFamily="34" charset="-120"/>
              </a:rPr>
              <a:t>Oorzaak: </a:t>
            </a:r>
            <a:pPr indent="0" marL="0">
              <a:buNone/>
            </a:pPr>
            <a:r>
              <a:rPr lang="en-US" sz="1400" dirty="0">
                <a:solidFill>
                  <a:schemeClr val="accent5"/>
                </a:solidFill>
                <a:latin typeface="Calibri" pitchFamily="34" charset="0"/>
                <a:ea typeface="Calibri" pitchFamily="34" charset="-122"/>
                <a:cs typeface="Calibri" pitchFamily="34" charset="-120"/>
              </a:rPr>
              <a:t>Een eigen medewerker kopieert klantgegevens.</a:t>
            </a:r>
            <a:endParaRPr lang="en-US" sz="1400" dirty="0"/>
          </a:p>
        </p:txBody>
      </p:sp>
      <p:sp>
        <p:nvSpPr>
          <p:cNvPr id="20" name="Text 18"/>
          <p:cNvSpPr txBox="1"/>
          <p:nvPr/>
        </p:nvSpPr>
        <p:spPr>
          <a:xfrm>
            <a:off x="8238744" y="3611880"/>
            <a:ext cx="2926080" cy="685800"/>
          </a:xfrm>
          <a:prstGeom prst="rect">
            <a:avLst/>
          </a:prstGeom>
          <a:noFill/>
          <a:ln/>
        </p:spPr>
        <p:txBody>
          <a:bodyPr wrap="square" lIns="0" tIns="0" rIns="0" bIns="0" rtlCol="0" anchor="t"/>
          <a:lstStyle/>
          <a:p>
            <a:pPr indent="0" marL="0">
              <a:buNone/>
            </a:pPr>
            <a:r>
              <a:rPr lang="en-US" sz="1400" b="1" dirty="0">
                <a:solidFill>
                  <a:schemeClr val="accent5"/>
                </a:solidFill>
                <a:latin typeface="Calibri" pitchFamily="34" charset="0"/>
                <a:ea typeface="Calibri" pitchFamily="34" charset="-122"/>
                <a:cs typeface="Calibri" pitchFamily="34" charset="-120"/>
              </a:rPr>
              <a:t>Gevolg: </a:t>
            </a:r>
            <a:pPr indent="0" marL="0">
              <a:buNone/>
            </a:pPr>
            <a:r>
              <a:rPr lang="en-US" sz="1400" dirty="0">
                <a:solidFill>
                  <a:schemeClr val="accent5"/>
                </a:solidFill>
                <a:latin typeface="Calibri" pitchFamily="34" charset="0"/>
                <a:ea typeface="Calibri" pitchFamily="34" charset="-122"/>
                <a:cs typeface="Calibri" pitchFamily="34" charset="-120"/>
              </a:rPr>
              <a:t>Naam, geboortedatum en IBAN van klanten</a:t>
            </a:r>
            <a:endParaRPr lang="en-US" sz="1400" dirty="0"/>
          </a:p>
        </p:txBody>
      </p:sp>
      <p:sp>
        <p:nvSpPr>
          <p:cNvPr id="21" name="Text 19"/>
          <p:cNvSpPr txBox="1"/>
          <p:nvPr/>
        </p:nvSpPr>
        <p:spPr>
          <a:xfrm>
            <a:off x="8238744" y="4343400"/>
            <a:ext cx="2926080" cy="54864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Art. 32: toegang beperken tot wat nodig is</a:t>
            </a:r>
            <a:endParaRPr lang="en-US" sz="1300" dirty="0"/>
          </a:p>
        </p:txBody>
      </p:sp>
      <p:sp>
        <p:nvSpPr>
          <p:cNvPr id="22" name="les voor Enexis"/>
          <p:cNvSpPr/>
          <p:nvPr/>
        </p:nvSpPr>
        <p:spPr>
          <a:xfrm>
            <a:off x="685800" y="5257800"/>
            <a:ext cx="10789920" cy="777240"/>
          </a:xfrm>
          <a:prstGeom prst="roundRect">
            <a:avLst>
              <a:gd name="adj" fmla="val 14118"/>
            </a:avLst>
          </a:prstGeom>
          <a:solidFill>
            <a:schemeClr val="tx2"/>
          </a:solidFill>
          <a:ln w="12700">
            <a:solidFill>
              <a:schemeClr val="tx2"/>
            </a:solidFill>
            <a:prstDash val="solid"/>
          </a:ln>
        </p:spPr>
      </p:sp>
      <p:sp>
        <p:nvSpPr>
          <p:cNvPr id="23" name="Text 21"/>
          <p:cNvSpPr txBox="1"/>
          <p:nvPr/>
        </p:nvSpPr>
        <p:spPr>
          <a:xfrm>
            <a:off x="1005840" y="5257800"/>
            <a:ext cx="10149840" cy="777240"/>
          </a:xfrm>
          <a:prstGeom prst="rect">
            <a:avLst/>
          </a:prstGeom>
          <a:noFill/>
          <a:ln/>
        </p:spPr>
        <p:txBody>
          <a:bodyPr wrap="square" lIns="0" tIns="0" rIns="0" bIns="0" rtlCol="0" anchor="ctr"/>
          <a:lstStyle/>
          <a:p>
            <a:pPr indent="0" marL="0">
              <a:buNone/>
            </a:pPr>
            <a:r>
              <a:rPr lang="en-US" sz="1400" dirty="0">
                <a:solidFill>
                  <a:schemeClr val="bg1"/>
                </a:solidFill>
                <a:latin typeface="Calibri" pitchFamily="34" charset="0"/>
                <a:ea typeface="Calibri" pitchFamily="34" charset="-122"/>
                <a:cs typeface="Calibri" pitchFamily="34" charset="-120"/>
              </a:rPr>
              <a:t>In alle drie de gevallen: melden bij de AP binnen 72 uur (art. 33) en klanten informeren (art. 34). Les voor Enexis: slimme-meterdata alleen geanonimiseerd gebruiken.</a:t>
            </a:r>
            <a:endParaRPr lang="en-US" sz="1400" dirty="0"/>
          </a:p>
        </p:txBody>
      </p:sp>
      <p:sp>
        <p:nvSpPr>
          <p:cNvPr id="24" name="Text 22"/>
          <p:cNvSpPr txBox="1"/>
          <p:nvPr/>
        </p:nvSpPr>
        <p:spPr>
          <a:xfrm>
            <a:off x="685800" y="6355080"/>
            <a:ext cx="96012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Bronnen: NOS (2024); Security.NL (2021, 2024, 2026); Verordening (EU) 2016/679 (2016)</a:t>
            </a:r>
            <a:endParaRPr lang="en-US" sz="1000" dirty="0"/>
          </a:p>
        </p:txBody>
      </p:sp>
      <p:sp>
        <p:nvSpPr>
          <p:cNvPr id="25" name="Slide Number Placeholder 0"/>
          <p:cNvSpPr>
            <a:spLocks noGrp="1"/>
          </p:cNvSpPr>
          <p:nvPr>
            <p:ph type="sldNum" sz="quarter" idx="4294967295"/>
          </p:nvPr>
        </p:nvSpPr>
        <p:spPr>
          <a:xfrm>
            <a:off x="1114013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777240"/>
          </a:xfrm>
          <a:prstGeom prst="rect">
            <a:avLst/>
          </a:prstGeom>
          <a:noFill/>
          <a:ln/>
        </p:spPr>
        <p:txBody>
          <a:bodyPr wrap="square" lIns="0" tIns="0" rIns="0" bIns="0" rtlCol="0" anchor="ctr"/>
          <a:lstStyle/>
          <a:p>
            <a:pPr algn="l" indent="0" marL="0">
              <a:buNone/>
            </a:pPr>
            <a:r>
              <a:rPr lang="en-US" sz="3400" b="1" dirty="0">
                <a:solidFill>
                  <a:schemeClr val="bg1"/>
                </a:solidFill>
                <a:latin typeface="Cambria" pitchFamily="34" charset="0"/>
                <a:ea typeface="Cambria" pitchFamily="34" charset="-122"/>
                <a:cs typeface="Cambria" pitchFamily="34" charset="-120"/>
              </a:rPr>
              <a:t>Conclusie</a:t>
            </a:r>
            <a:endParaRPr lang="en-US" sz="3400" dirty="0"/>
          </a:p>
        </p:txBody>
      </p:sp>
      <p:sp>
        <p:nvSpPr>
          <p:cNvPr id="3" name="conclusie 1"/>
          <p:cNvSpPr/>
          <p:nvPr/>
        </p:nvSpPr>
        <p:spPr>
          <a:xfrm>
            <a:off x="685800" y="1600200"/>
            <a:ext cx="3474720" cy="3291840"/>
          </a:xfrm>
          <a:prstGeom prst="roundRect">
            <a:avLst>
              <a:gd name="adj" fmla="val 3333"/>
            </a:avLst>
          </a:prstGeom>
          <a:solidFill>
            <a:schemeClr val="accent3"/>
          </a:solidFill>
          <a:ln w="12700">
            <a:solidFill>
              <a:schemeClr val="accent3"/>
            </a:solidFill>
            <a:prstDash val="solid"/>
          </a:ln>
        </p:spPr>
      </p:sp>
      <p:sp>
        <p:nvSpPr>
          <p:cNvPr id="4" name="nummer 1"/>
          <p:cNvSpPr/>
          <p:nvPr/>
        </p:nvSpPr>
        <p:spPr>
          <a:xfrm>
            <a:off x="960120" y="1874520"/>
            <a:ext cx="420624" cy="420624"/>
          </a:xfrm>
          <a:prstGeom prst="ellipse">
            <a:avLst/>
          </a:prstGeom>
          <a:solidFill>
            <a:schemeClr val="accent2"/>
          </a:solidFill>
          <a:ln w="12700">
            <a:solidFill>
              <a:schemeClr val="accent2"/>
            </a:solidFill>
            <a:prstDash val="solid"/>
          </a:ln>
        </p:spPr>
      </p:sp>
      <p:sp>
        <p:nvSpPr>
          <p:cNvPr id="5" name="Text 3"/>
          <p:cNvSpPr txBox="1"/>
          <p:nvPr/>
        </p:nvSpPr>
        <p:spPr>
          <a:xfrm>
            <a:off x="960120" y="1874520"/>
            <a:ext cx="420624" cy="420624"/>
          </a:xfrm>
          <a:prstGeom prst="rect">
            <a:avLst/>
          </a:prstGeom>
          <a:noFill/>
          <a:ln/>
        </p:spPr>
        <p:txBody>
          <a:bodyPr wrap="square" lIns="0" tIns="0" rIns="0" bIns="0" rtlCol="0" anchor="ctr"/>
          <a:lstStyle/>
          <a:p>
            <a:pPr algn="ctr" indent="0" marL="0">
              <a:buNone/>
            </a:pPr>
            <a:r>
              <a:rPr lang="en-US" sz="1600" b="1" dirty="0">
                <a:solidFill>
                  <a:schemeClr val="tx2"/>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960120" y="2468880"/>
            <a:ext cx="2926080" cy="822960"/>
          </a:xfrm>
          <a:prstGeom prst="rect">
            <a:avLst/>
          </a:prstGeom>
          <a:noFill/>
          <a:ln/>
        </p:spPr>
        <p:txBody>
          <a:bodyPr wrap="square" lIns="0" tIns="0" rIns="0" bIns="0" rtlCol="0" anchor="t"/>
          <a:lstStyle/>
          <a:p>
            <a:pPr indent="0" marL="0">
              <a:buNone/>
            </a:pPr>
            <a:r>
              <a:rPr lang="en-US" sz="1900" b="1" dirty="0">
                <a:solidFill>
                  <a:schemeClr val="bg1"/>
                </a:solidFill>
                <a:latin typeface="Cambria" pitchFamily="34" charset="0"/>
                <a:ea typeface="Cambria" pitchFamily="34" charset="-122"/>
                <a:cs typeface="Cambria" pitchFamily="34" charset="-120"/>
              </a:rPr>
              <a:t>Het net zit tegelijk te vol en te leeg</a:t>
            </a:r>
            <a:endParaRPr lang="en-US" sz="1900" dirty="0"/>
          </a:p>
        </p:txBody>
      </p:sp>
      <p:sp>
        <p:nvSpPr>
          <p:cNvPr id="7" name="Text 5"/>
          <p:cNvSpPr txBox="1"/>
          <p:nvPr/>
        </p:nvSpPr>
        <p:spPr>
          <a:xfrm>
            <a:off x="960120" y="3337560"/>
            <a:ext cx="2926080" cy="1463040"/>
          </a:xfrm>
          <a:prstGeom prst="rect">
            <a:avLst/>
          </a:prstGeom>
          <a:noFill/>
          <a:ln/>
        </p:spPr>
        <p:txBody>
          <a:bodyPr wrap="square" lIns="0" tIns="0" rIns="0" bIns="0" rtlCol="0" anchor="t"/>
          <a:lstStyle/>
          <a:p>
            <a:pPr indent="0" marL="0">
              <a:buNone/>
            </a:pPr>
            <a:r>
              <a:rPr lang="en-US" sz="1400" dirty="0">
                <a:solidFill>
                  <a:srgbClr val="C9D3DE"/>
                </a:solidFill>
                <a:latin typeface="Calibri" pitchFamily="34" charset="0"/>
                <a:ea typeface="Calibri" pitchFamily="34" charset="-122"/>
                <a:cs typeface="Calibri" pitchFamily="34" charset="-120"/>
              </a:rPr>
              <a:t>Ruim 15.000 bedrijven wachten, terwijl er 581 uur per jaar te veel stroom is. Het probleem is timing en plaats, niet alleen kabels.</a:t>
            </a:r>
            <a:endParaRPr lang="en-US" sz="1400" dirty="0"/>
          </a:p>
        </p:txBody>
      </p:sp>
      <p:sp>
        <p:nvSpPr>
          <p:cNvPr id="8" name="conclusie 2"/>
          <p:cNvSpPr/>
          <p:nvPr/>
        </p:nvSpPr>
        <p:spPr>
          <a:xfrm>
            <a:off x="4325112" y="1600200"/>
            <a:ext cx="3474720" cy="3291840"/>
          </a:xfrm>
          <a:prstGeom prst="roundRect">
            <a:avLst>
              <a:gd name="adj" fmla="val 3333"/>
            </a:avLst>
          </a:prstGeom>
          <a:solidFill>
            <a:schemeClr val="accent3"/>
          </a:solidFill>
          <a:ln w="12700">
            <a:solidFill>
              <a:schemeClr val="accent3"/>
            </a:solidFill>
            <a:prstDash val="solid"/>
          </a:ln>
        </p:spPr>
      </p:sp>
      <p:sp>
        <p:nvSpPr>
          <p:cNvPr id="9" name="nummer 2"/>
          <p:cNvSpPr/>
          <p:nvPr/>
        </p:nvSpPr>
        <p:spPr>
          <a:xfrm>
            <a:off x="4599432" y="1874520"/>
            <a:ext cx="420624" cy="420624"/>
          </a:xfrm>
          <a:prstGeom prst="ellipse">
            <a:avLst/>
          </a:prstGeom>
          <a:solidFill>
            <a:schemeClr val="accent2"/>
          </a:solidFill>
          <a:ln w="12700">
            <a:solidFill>
              <a:schemeClr val="accent2"/>
            </a:solidFill>
            <a:prstDash val="solid"/>
          </a:ln>
        </p:spPr>
      </p:sp>
      <p:sp>
        <p:nvSpPr>
          <p:cNvPr id="10" name="Text 8"/>
          <p:cNvSpPr txBox="1"/>
          <p:nvPr/>
        </p:nvSpPr>
        <p:spPr>
          <a:xfrm>
            <a:off x="4599432" y="1874520"/>
            <a:ext cx="420624" cy="420624"/>
          </a:xfrm>
          <a:prstGeom prst="rect">
            <a:avLst/>
          </a:prstGeom>
          <a:noFill/>
          <a:ln/>
        </p:spPr>
        <p:txBody>
          <a:bodyPr wrap="square" lIns="0" tIns="0" rIns="0" bIns="0" rtlCol="0" anchor="ctr"/>
          <a:lstStyle/>
          <a:p>
            <a:pPr algn="ctr" indent="0" marL="0">
              <a:buNone/>
            </a:pPr>
            <a:r>
              <a:rPr lang="en-US" sz="1600" b="1" dirty="0">
                <a:solidFill>
                  <a:schemeClr val="tx2"/>
                </a:solidFill>
                <a:latin typeface="Cambria" pitchFamily="34" charset="0"/>
                <a:ea typeface="Cambria" pitchFamily="34" charset="-122"/>
                <a:cs typeface="Cambria" pitchFamily="34" charset="-120"/>
              </a:rPr>
              <a:t>2</a:t>
            </a:r>
            <a:endParaRPr lang="en-US" sz="1600" dirty="0"/>
          </a:p>
        </p:txBody>
      </p:sp>
      <p:sp>
        <p:nvSpPr>
          <p:cNvPr id="11" name="Text 9"/>
          <p:cNvSpPr txBox="1"/>
          <p:nvPr/>
        </p:nvSpPr>
        <p:spPr>
          <a:xfrm>
            <a:off x="4599432" y="2468880"/>
            <a:ext cx="2926080" cy="822960"/>
          </a:xfrm>
          <a:prstGeom prst="rect">
            <a:avLst/>
          </a:prstGeom>
          <a:noFill/>
          <a:ln/>
        </p:spPr>
        <p:txBody>
          <a:bodyPr wrap="square" lIns="0" tIns="0" rIns="0" bIns="0" rtlCol="0" anchor="t"/>
          <a:lstStyle/>
          <a:p>
            <a:pPr indent="0" marL="0">
              <a:buNone/>
            </a:pPr>
            <a:r>
              <a:rPr lang="en-US" sz="1900" b="1" dirty="0">
                <a:solidFill>
                  <a:schemeClr val="bg1"/>
                </a:solidFill>
                <a:latin typeface="Cambria" pitchFamily="34" charset="0"/>
                <a:ea typeface="Cambria" pitchFamily="34" charset="-122"/>
                <a:cs typeface="Cambria" pitchFamily="34" charset="-120"/>
              </a:rPr>
              <a:t>Enexis lost dit niet alleen op</a:t>
            </a:r>
            <a:endParaRPr lang="en-US" sz="1900" dirty="0"/>
          </a:p>
        </p:txBody>
      </p:sp>
      <p:sp>
        <p:nvSpPr>
          <p:cNvPr id="12" name="Text 10"/>
          <p:cNvSpPr txBox="1"/>
          <p:nvPr/>
        </p:nvSpPr>
        <p:spPr>
          <a:xfrm>
            <a:off x="4599432" y="3337560"/>
            <a:ext cx="2926080" cy="1463040"/>
          </a:xfrm>
          <a:prstGeom prst="rect">
            <a:avLst/>
          </a:prstGeom>
          <a:noFill/>
          <a:ln/>
        </p:spPr>
        <p:txBody>
          <a:bodyPr wrap="square" lIns="0" tIns="0" rIns="0" bIns="0" rtlCol="0" anchor="t"/>
          <a:lstStyle/>
          <a:p>
            <a:pPr indent="0" marL="0">
              <a:buNone/>
            </a:pPr>
            <a:r>
              <a:rPr lang="en-US" sz="1400" dirty="0">
                <a:solidFill>
                  <a:srgbClr val="C9D3DE"/>
                </a:solidFill>
                <a:latin typeface="Calibri" pitchFamily="34" charset="0"/>
                <a:ea typeface="Calibri" pitchFamily="34" charset="-122"/>
                <a:cs typeface="Calibri" pitchFamily="34" charset="-120"/>
              </a:rPr>
              <a:t>Kernactiviteiten en partners hangen samen: zonder TenneT, gemeenten en aannemers gaat verzwaren niet sneller.</a:t>
            </a:r>
            <a:endParaRPr lang="en-US" sz="1400" dirty="0"/>
          </a:p>
        </p:txBody>
      </p:sp>
      <p:sp>
        <p:nvSpPr>
          <p:cNvPr id="13" name="conclusie 3"/>
          <p:cNvSpPr/>
          <p:nvPr/>
        </p:nvSpPr>
        <p:spPr>
          <a:xfrm>
            <a:off x="7964424" y="1600200"/>
            <a:ext cx="3474720" cy="3291840"/>
          </a:xfrm>
          <a:prstGeom prst="roundRect">
            <a:avLst>
              <a:gd name="adj" fmla="val 3333"/>
            </a:avLst>
          </a:prstGeom>
          <a:solidFill>
            <a:schemeClr val="accent3"/>
          </a:solidFill>
          <a:ln w="12700">
            <a:solidFill>
              <a:schemeClr val="accent3"/>
            </a:solidFill>
            <a:prstDash val="solid"/>
          </a:ln>
        </p:spPr>
      </p:sp>
      <p:sp>
        <p:nvSpPr>
          <p:cNvPr id="14" name="nummer 3"/>
          <p:cNvSpPr/>
          <p:nvPr/>
        </p:nvSpPr>
        <p:spPr>
          <a:xfrm>
            <a:off x="8238744" y="1874520"/>
            <a:ext cx="420624" cy="420624"/>
          </a:xfrm>
          <a:prstGeom prst="ellipse">
            <a:avLst/>
          </a:prstGeom>
          <a:solidFill>
            <a:schemeClr val="accent2"/>
          </a:solidFill>
          <a:ln w="12700">
            <a:solidFill>
              <a:schemeClr val="accent2"/>
            </a:solidFill>
            <a:prstDash val="solid"/>
          </a:ln>
        </p:spPr>
      </p:sp>
      <p:sp>
        <p:nvSpPr>
          <p:cNvPr id="15" name="Text 13"/>
          <p:cNvSpPr txBox="1"/>
          <p:nvPr/>
        </p:nvSpPr>
        <p:spPr>
          <a:xfrm>
            <a:off x="8238744" y="1874520"/>
            <a:ext cx="420624" cy="420624"/>
          </a:xfrm>
          <a:prstGeom prst="rect">
            <a:avLst/>
          </a:prstGeom>
          <a:noFill/>
          <a:ln/>
        </p:spPr>
        <p:txBody>
          <a:bodyPr wrap="square" lIns="0" tIns="0" rIns="0" bIns="0" rtlCol="0" anchor="ctr"/>
          <a:lstStyle/>
          <a:p>
            <a:pPr algn="ctr" indent="0" marL="0">
              <a:buNone/>
            </a:pPr>
            <a:r>
              <a:rPr lang="en-US" sz="1600" b="1" dirty="0">
                <a:solidFill>
                  <a:schemeClr val="tx2"/>
                </a:solidFill>
                <a:latin typeface="Cambria" pitchFamily="34" charset="0"/>
                <a:ea typeface="Cambria" pitchFamily="34" charset="-122"/>
                <a:cs typeface="Cambria" pitchFamily="34" charset="-120"/>
              </a:rPr>
              <a:t>3</a:t>
            </a:r>
            <a:endParaRPr lang="en-US" sz="1600" dirty="0"/>
          </a:p>
        </p:txBody>
      </p:sp>
      <p:sp>
        <p:nvSpPr>
          <p:cNvPr id="16" name="Text 14"/>
          <p:cNvSpPr txBox="1"/>
          <p:nvPr/>
        </p:nvSpPr>
        <p:spPr>
          <a:xfrm>
            <a:off x="8238744" y="2468880"/>
            <a:ext cx="2926080" cy="822960"/>
          </a:xfrm>
          <a:prstGeom prst="rect">
            <a:avLst/>
          </a:prstGeom>
          <a:noFill/>
          <a:ln/>
        </p:spPr>
        <p:txBody>
          <a:bodyPr wrap="square" lIns="0" tIns="0" rIns="0" bIns="0" rtlCol="0" anchor="t"/>
          <a:lstStyle/>
          <a:p>
            <a:pPr indent="0" marL="0">
              <a:buNone/>
            </a:pPr>
            <a:r>
              <a:rPr lang="en-US" sz="1900" b="1" dirty="0">
                <a:solidFill>
                  <a:schemeClr val="bg1"/>
                </a:solidFill>
                <a:latin typeface="Cambria" pitchFamily="34" charset="0"/>
                <a:ea typeface="Cambria" pitchFamily="34" charset="-122"/>
                <a:cs typeface="Cambria" pitchFamily="34" charset="-120"/>
              </a:rPr>
              <a:t>Data is de sleutel</a:t>
            </a:r>
            <a:endParaRPr lang="en-US" sz="1900" dirty="0"/>
          </a:p>
        </p:txBody>
      </p:sp>
      <p:sp>
        <p:nvSpPr>
          <p:cNvPr id="17" name="Text 15"/>
          <p:cNvSpPr txBox="1"/>
          <p:nvPr/>
        </p:nvSpPr>
        <p:spPr>
          <a:xfrm>
            <a:off x="8238744" y="3337560"/>
            <a:ext cx="2926080" cy="1463040"/>
          </a:xfrm>
          <a:prstGeom prst="rect">
            <a:avLst/>
          </a:prstGeom>
          <a:noFill/>
          <a:ln/>
        </p:spPr>
        <p:txBody>
          <a:bodyPr wrap="square" lIns="0" tIns="0" rIns="0" bIns="0" rtlCol="0" anchor="t"/>
          <a:lstStyle/>
          <a:p>
            <a:pPr indent="0" marL="0">
              <a:buNone/>
            </a:pPr>
            <a:r>
              <a:rPr lang="en-US" sz="1400" dirty="0">
                <a:solidFill>
                  <a:srgbClr val="C9D3DE"/>
                </a:solidFill>
                <a:latin typeface="Calibri" pitchFamily="34" charset="0"/>
                <a:ea typeface="Calibri" pitchFamily="34" charset="-122"/>
                <a:cs typeface="Calibri" pitchFamily="34" charset="-120"/>
              </a:rPr>
              <a:t>Enexis heeft de data al (meters, storingen, wachtlijst), maar gebruikt die vooral om terug te kijken.</a:t>
            </a:r>
            <a:endParaRPr lang="en-US" sz="1400" dirty="0"/>
          </a:p>
        </p:txBody>
      </p:sp>
      <p:sp>
        <p:nvSpPr>
          <p:cNvPr id="18" name="accent stip conclusie"/>
          <p:cNvSpPr/>
          <p:nvPr/>
        </p:nvSpPr>
        <p:spPr>
          <a:xfrm>
            <a:off x="777240" y="5349240"/>
            <a:ext cx="411480" cy="411480"/>
          </a:xfrm>
          <a:prstGeom prst="ellipse">
            <a:avLst/>
          </a:prstGeom>
          <a:solidFill>
            <a:schemeClr val="accent2"/>
          </a:solidFill>
          <a:ln w="12700">
            <a:solidFill>
              <a:schemeClr val="accent2"/>
            </a:solidFill>
            <a:prstDash val="solid"/>
          </a:ln>
        </p:spPr>
      </p:sp>
      <p:sp>
        <p:nvSpPr>
          <p:cNvPr id="19" name="Text 17"/>
          <p:cNvSpPr txBox="1"/>
          <p:nvPr/>
        </p:nvSpPr>
        <p:spPr>
          <a:xfrm>
            <a:off x="1417320" y="5257800"/>
            <a:ext cx="10058400" cy="594360"/>
          </a:xfrm>
          <a:prstGeom prst="rect">
            <a:avLst/>
          </a:prstGeom>
          <a:noFill/>
          <a:ln/>
        </p:spPr>
        <p:txBody>
          <a:bodyPr wrap="square" lIns="0" tIns="0" rIns="0" bIns="0" rtlCol="0" anchor="ctr"/>
          <a:lstStyle/>
          <a:p>
            <a:pPr indent="0" marL="0">
              <a:buNone/>
            </a:pPr>
            <a:r>
              <a:rPr lang="en-US" sz="2000" b="1" dirty="0">
                <a:solidFill>
                  <a:schemeClr val="bg1"/>
                </a:solidFill>
                <a:latin typeface="Calibri" pitchFamily="34" charset="0"/>
                <a:ea typeface="Calibri" pitchFamily="34" charset="-122"/>
                <a:cs typeface="Calibri" pitchFamily="34" charset="-120"/>
              </a:rPr>
              <a:t>Hoofdboodschap: Enexis moet van terugkijken naar vooruitkijken.</a:t>
            </a:r>
            <a:endParaRPr lang="en-US" sz="2000" dirty="0"/>
          </a:p>
        </p:txBody>
      </p:sp>
      <p:sp>
        <p:nvSpPr>
          <p:cNvPr id="20" name="Text 18"/>
          <p:cNvSpPr txBox="1"/>
          <p:nvPr/>
        </p:nvSpPr>
        <p:spPr>
          <a:xfrm>
            <a:off x="685800" y="6355080"/>
            <a:ext cx="96012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Onderbouwing: rapport sprint 2, hoofdstuk 6</a:t>
            </a:r>
            <a:endParaRPr lang="en-US" sz="1000" dirty="0"/>
          </a:p>
        </p:txBody>
      </p:sp>
      <p:sp>
        <p:nvSpPr>
          <p:cNvPr id="25" name="Slide Number Placeholder 0"/>
          <p:cNvSpPr>
            <a:spLocks noGrp="1"/>
          </p:cNvSpPr>
          <p:nvPr>
            <p:ph type="sldNum" sz="quarter" idx="4294967295"/>
          </p:nvPr>
        </p:nvSpPr>
        <p:spPr>
          <a:xfrm>
            <a:off x="1114013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Advies: vier stappen voor Enexis</a:t>
            </a:r>
            <a:endParaRPr lang="en-US" sz="3400" dirty="0"/>
          </a:p>
        </p:txBody>
      </p:sp>
      <p:sp>
        <p:nvSpPr>
          <p:cNvPr id="3" name="Text 1"/>
          <p:cNvSpPr txBox="1"/>
          <p:nvPr/>
        </p:nvSpPr>
        <p:spPr>
          <a:xfrm>
            <a:off x="1371600" y="1280160"/>
            <a:ext cx="3108960" cy="274320"/>
          </a:xfrm>
          <a:prstGeom prst="rect">
            <a:avLst/>
          </a:prstGeom>
          <a:noFill/>
          <a:ln/>
        </p:spPr>
        <p:txBody>
          <a:bodyPr wrap="square" lIns="0" tIns="0" rIns="0" bIns="0" rtlCol="0" anchor="t"/>
          <a:lstStyle/>
          <a:p>
            <a:pPr indent="0" marL="0">
              <a:buNone/>
            </a:pPr>
            <a:r>
              <a:rPr lang="en-US" sz="1200" b="1" dirty="0">
                <a:solidFill>
                  <a:schemeClr val="accent4"/>
                </a:solidFill>
                <a:latin typeface="Calibri" pitchFamily="34" charset="0"/>
                <a:ea typeface="Calibri" pitchFamily="34" charset="-122"/>
                <a:cs typeface="Calibri" pitchFamily="34" charset="-120"/>
              </a:rPr>
              <a:t>Advies</a:t>
            </a:r>
            <a:endParaRPr lang="en-US" sz="1200" dirty="0"/>
          </a:p>
        </p:txBody>
      </p:sp>
      <p:sp>
        <p:nvSpPr>
          <p:cNvPr id="4" name="Text 2"/>
          <p:cNvSpPr txBox="1"/>
          <p:nvPr/>
        </p:nvSpPr>
        <p:spPr>
          <a:xfrm>
            <a:off x="4572000" y="1280160"/>
            <a:ext cx="3291840" cy="274320"/>
          </a:xfrm>
          <a:prstGeom prst="rect">
            <a:avLst/>
          </a:prstGeom>
          <a:noFill/>
          <a:ln/>
        </p:spPr>
        <p:txBody>
          <a:bodyPr wrap="square" lIns="0" tIns="0" rIns="0" bIns="0" rtlCol="0" anchor="t"/>
          <a:lstStyle/>
          <a:p>
            <a:pPr indent="0" marL="0">
              <a:buNone/>
            </a:pPr>
            <a:r>
              <a:rPr lang="en-US" sz="1200" b="1" dirty="0">
                <a:solidFill>
                  <a:schemeClr val="accent4"/>
                </a:solidFill>
                <a:latin typeface="Calibri" pitchFamily="34" charset="0"/>
                <a:ea typeface="Calibri" pitchFamily="34" charset="-122"/>
                <a:cs typeface="Calibri" pitchFamily="34" charset="-120"/>
              </a:rPr>
              <a:t>Welke data</a:t>
            </a:r>
            <a:endParaRPr lang="en-US" sz="1200" dirty="0"/>
          </a:p>
        </p:txBody>
      </p:sp>
      <p:sp>
        <p:nvSpPr>
          <p:cNvPr id="5" name="Text 3"/>
          <p:cNvSpPr txBox="1"/>
          <p:nvPr/>
        </p:nvSpPr>
        <p:spPr>
          <a:xfrm>
            <a:off x="8092440" y="1280160"/>
            <a:ext cx="3383280" cy="274320"/>
          </a:xfrm>
          <a:prstGeom prst="rect">
            <a:avLst/>
          </a:prstGeom>
          <a:noFill/>
          <a:ln/>
        </p:spPr>
        <p:txBody>
          <a:bodyPr wrap="square" lIns="0" tIns="0" rIns="0" bIns="0" rtlCol="0" anchor="t"/>
          <a:lstStyle/>
          <a:p>
            <a:pPr indent="0" marL="0">
              <a:buNone/>
            </a:pPr>
            <a:r>
              <a:rPr lang="en-US" sz="1200" b="1" dirty="0">
                <a:solidFill>
                  <a:schemeClr val="accent4"/>
                </a:solidFill>
                <a:latin typeface="Calibri" pitchFamily="34" charset="0"/>
                <a:ea typeface="Calibri" pitchFamily="34" charset="-122"/>
                <a:cs typeface="Calibri" pitchFamily="34" charset="-120"/>
              </a:rPr>
              <a:t>Wat het oplevert</a:t>
            </a:r>
            <a:endParaRPr lang="en-US" sz="1200" dirty="0"/>
          </a:p>
        </p:txBody>
      </p:sp>
      <p:sp>
        <p:nvSpPr>
          <p:cNvPr id="6" name="advies 1"/>
          <p:cNvSpPr/>
          <p:nvPr/>
        </p:nvSpPr>
        <p:spPr>
          <a:xfrm>
            <a:off x="685800" y="1645920"/>
            <a:ext cx="10817352" cy="914400"/>
          </a:xfrm>
          <a:prstGeom prst="roundRect">
            <a:avLst>
              <a:gd name="adj" fmla="val 12000"/>
            </a:avLst>
          </a:prstGeom>
          <a:solidFill>
            <a:schemeClr val="bg2"/>
          </a:solidFill>
          <a:ln w="12700">
            <a:solidFill>
              <a:schemeClr val="bg2"/>
            </a:solidFill>
            <a:prstDash val="solid"/>
          </a:ln>
        </p:spPr>
      </p:sp>
      <p:sp>
        <p:nvSpPr>
          <p:cNvPr id="7" name="nummer 1"/>
          <p:cNvSpPr/>
          <p:nvPr/>
        </p:nvSpPr>
        <p:spPr>
          <a:xfrm>
            <a:off x="868680" y="1892808"/>
            <a:ext cx="420624" cy="420624"/>
          </a:xfrm>
          <a:prstGeom prst="ellipse">
            <a:avLst/>
          </a:prstGeom>
          <a:solidFill>
            <a:schemeClr val="accent1"/>
          </a:solidFill>
          <a:ln w="12700">
            <a:solidFill>
              <a:schemeClr val="accent1"/>
            </a:solidFill>
            <a:prstDash val="solid"/>
          </a:ln>
        </p:spPr>
      </p:sp>
      <p:sp>
        <p:nvSpPr>
          <p:cNvPr id="8" name="Text 6"/>
          <p:cNvSpPr txBox="1"/>
          <p:nvPr/>
        </p:nvSpPr>
        <p:spPr>
          <a:xfrm>
            <a:off x="868680" y="189280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1463040" y="1645920"/>
            <a:ext cx="3063240" cy="91440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Voorspel waar het net vol loopt</a:t>
            </a:r>
            <a:endParaRPr lang="en-US" sz="1600" dirty="0"/>
          </a:p>
        </p:txBody>
      </p:sp>
      <p:sp>
        <p:nvSpPr>
          <p:cNvPr id="10" name="Text 8"/>
          <p:cNvSpPr txBox="1"/>
          <p:nvPr/>
        </p:nvSpPr>
        <p:spPr>
          <a:xfrm>
            <a:off x="4572000" y="1645920"/>
            <a:ext cx="3291840" cy="914400"/>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Slimme meters, open data per postcode, wachtlijst</a:t>
            </a:r>
            <a:endParaRPr lang="en-US" sz="1400" dirty="0"/>
          </a:p>
        </p:txBody>
      </p:sp>
      <p:sp>
        <p:nvSpPr>
          <p:cNvPr id="11" name="Text 9"/>
          <p:cNvSpPr txBox="1"/>
          <p:nvPr/>
        </p:nvSpPr>
        <p:spPr>
          <a:xfrm>
            <a:off x="8092440" y="1645920"/>
            <a:ext cx="3246120" cy="91440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Verzwaren vóórdat er een wachtlijst is</a:t>
            </a:r>
            <a:endParaRPr lang="en-US" sz="1400" dirty="0"/>
          </a:p>
        </p:txBody>
      </p:sp>
      <p:sp>
        <p:nvSpPr>
          <p:cNvPr id="12" name="advies 2"/>
          <p:cNvSpPr/>
          <p:nvPr/>
        </p:nvSpPr>
        <p:spPr>
          <a:xfrm>
            <a:off x="685800" y="2724912"/>
            <a:ext cx="10817352" cy="914400"/>
          </a:xfrm>
          <a:prstGeom prst="roundRect">
            <a:avLst>
              <a:gd name="adj" fmla="val 12000"/>
            </a:avLst>
          </a:prstGeom>
          <a:solidFill>
            <a:schemeClr val="bg2"/>
          </a:solidFill>
          <a:ln w="12700">
            <a:solidFill>
              <a:schemeClr val="bg2"/>
            </a:solidFill>
            <a:prstDash val="solid"/>
          </a:ln>
        </p:spPr>
      </p:sp>
      <p:sp>
        <p:nvSpPr>
          <p:cNvPr id="13" name="nummer 2"/>
          <p:cNvSpPr/>
          <p:nvPr/>
        </p:nvSpPr>
        <p:spPr>
          <a:xfrm>
            <a:off x="868680" y="2971800"/>
            <a:ext cx="420624" cy="420624"/>
          </a:xfrm>
          <a:prstGeom prst="ellipse">
            <a:avLst/>
          </a:prstGeom>
          <a:solidFill>
            <a:schemeClr val="accent1"/>
          </a:solidFill>
          <a:ln w="12700">
            <a:solidFill>
              <a:schemeClr val="accent1"/>
            </a:solidFill>
            <a:prstDash val="solid"/>
          </a:ln>
        </p:spPr>
      </p:sp>
      <p:sp>
        <p:nvSpPr>
          <p:cNvPr id="14" name="Text 12"/>
          <p:cNvSpPr txBox="1"/>
          <p:nvPr/>
        </p:nvSpPr>
        <p:spPr>
          <a:xfrm>
            <a:off x="868680" y="297180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a:t>
            </a:r>
            <a:endParaRPr lang="en-US" sz="1600" dirty="0"/>
          </a:p>
        </p:txBody>
      </p:sp>
      <p:sp>
        <p:nvSpPr>
          <p:cNvPr id="15" name="Text 13"/>
          <p:cNvSpPr txBox="1"/>
          <p:nvPr/>
        </p:nvSpPr>
        <p:spPr>
          <a:xfrm>
            <a:off x="1463040" y="2724912"/>
            <a:ext cx="3063240" cy="91440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Bied flexibiliteit zelf aan</a:t>
            </a:r>
            <a:endParaRPr lang="en-US" sz="1600" dirty="0"/>
          </a:p>
        </p:txBody>
      </p:sp>
      <p:sp>
        <p:nvSpPr>
          <p:cNvPr id="16" name="Text 14"/>
          <p:cNvSpPr txBox="1"/>
          <p:nvPr/>
        </p:nvSpPr>
        <p:spPr>
          <a:xfrm>
            <a:off x="4572000" y="2724912"/>
            <a:ext cx="3291840" cy="914400"/>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Verbruiksprofielen van grootverbruikers</a:t>
            </a:r>
            <a:endParaRPr lang="en-US" sz="1400" dirty="0"/>
          </a:p>
        </p:txBody>
      </p:sp>
      <p:sp>
        <p:nvSpPr>
          <p:cNvPr id="17" name="Text 15"/>
          <p:cNvSpPr txBox="1"/>
          <p:nvPr/>
        </p:nvSpPr>
        <p:spPr>
          <a:xfrm>
            <a:off x="8092440" y="2724912"/>
            <a:ext cx="3246120" cy="91440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Wachtenden sneller aansluiten zonder extra kabel</a:t>
            </a:r>
            <a:endParaRPr lang="en-US" sz="1400" dirty="0"/>
          </a:p>
        </p:txBody>
      </p:sp>
      <p:sp>
        <p:nvSpPr>
          <p:cNvPr id="18" name="advies 3"/>
          <p:cNvSpPr/>
          <p:nvPr/>
        </p:nvSpPr>
        <p:spPr>
          <a:xfrm>
            <a:off x="685800" y="3803904"/>
            <a:ext cx="10817352" cy="914400"/>
          </a:xfrm>
          <a:prstGeom prst="roundRect">
            <a:avLst>
              <a:gd name="adj" fmla="val 12000"/>
            </a:avLst>
          </a:prstGeom>
          <a:solidFill>
            <a:schemeClr val="bg2"/>
          </a:solidFill>
          <a:ln w="12700">
            <a:solidFill>
              <a:schemeClr val="bg2"/>
            </a:solidFill>
            <a:prstDash val="solid"/>
          </a:ln>
        </p:spPr>
      </p:sp>
      <p:sp>
        <p:nvSpPr>
          <p:cNvPr id="19" name="nummer 3"/>
          <p:cNvSpPr/>
          <p:nvPr/>
        </p:nvSpPr>
        <p:spPr>
          <a:xfrm>
            <a:off x="868680" y="4050792"/>
            <a:ext cx="420624" cy="420624"/>
          </a:xfrm>
          <a:prstGeom prst="ellipse">
            <a:avLst/>
          </a:prstGeom>
          <a:solidFill>
            <a:schemeClr val="accent1"/>
          </a:solidFill>
          <a:ln w="12700">
            <a:solidFill>
              <a:schemeClr val="accent1"/>
            </a:solidFill>
            <a:prstDash val="solid"/>
          </a:ln>
        </p:spPr>
      </p:sp>
      <p:sp>
        <p:nvSpPr>
          <p:cNvPr id="20" name="Text 18"/>
          <p:cNvSpPr txBox="1"/>
          <p:nvPr/>
        </p:nvSpPr>
        <p:spPr>
          <a:xfrm>
            <a:off x="868680" y="405079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3</a:t>
            </a:r>
            <a:endParaRPr lang="en-US" sz="1600" dirty="0"/>
          </a:p>
        </p:txBody>
      </p:sp>
      <p:sp>
        <p:nvSpPr>
          <p:cNvPr id="21" name="Text 19"/>
          <p:cNvSpPr txBox="1"/>
          <p:nvPr/>
        </p:nvSpPr>
        <p:spPr>
          <a:xfrm>
            <a:off x="1463040" y="3803904"/>
            <a:ext cx="3063240" cy="91440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Plan de afbouw van het gasnet</a:t>
            </a:r>
            <a:endParaRPr lang="en-US" sz="1600" dirty="0"/>
          </a:p>
        </p:txBody>
      </p:sp>
      <p:sp>
        <p:nvSpPr>
          <p:cNvPr id="22" name="Text 20"/>
          <p:cNvSpPr txBox="1"/>
          <p:nvPr/>
        </p:nvSpPr>
        <p:spPr>
          <a:xfrm>
            <a:off x="4572000" y="3803904"/>
            <a:ext cx="3291840" cy="914400"/>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 woningen zonder gas per postcode, Transitievisie Warmte</a:t>
            </a:r>
            <a:endParaRPr lang="en-US" sz="1400" dirty="0"/>
          </a:p>
        </p:txBody>
      </p:sp>
      <p:sp>
        <p:nvSpPr>
          <p:cNvPr id="23" name="Text 21"/>
          <p:cNvSpPr txBox="1"/>
          <p:nvPr/>
        </p:nvSpPr>
        <p:spPr>
          <a:xfrm>
            <a:off x="8092440" y="3803904"/>
            <a:ext cx="3246120" cy="91440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Geen geld meer in leidingen die toch verdwijnen</a:t>
            </a:r>
            <a:endParaRPr lang="en-US" sz="1400" dirty="0"/>
          </a:p>
        </p:txBody>
      </p:sp>
      <p:sp>
        <p:nvSpPr>
          <p:cNvPr id="24" name="advies 4"/>
          <p:cNvSpPr/>
          <p:nvPr/>
        </p:nvSpPr>
        <p:spPr>
          <a:xfrm>
            <a:off x="685800" y="4882896"/>
            <a:ext cx="10817352" cy="914400"/>
          </a:xfrm>
          <a:prstGeom prst="roundRect">
            <a:avLst>
              <a:gd name="adj" fmla="val 12000"/>
            </a:avLst>
          </a:prstGeom>
          <a:solidFill>
            <a:schemeClr val="bg2"/>
          </a:solidFill>
          <a:ln w="12700">
            <a:solidFill>
              <a:schemeClr val="bg2"/>
            </a:solidFill>
            <a:prstDash val="solid"/>
          </a:ln>
        </p:spPr>
      </p:sp>
      <p:sp>
        <p:nvSpPr>
          <p:cNvPr id="25" name="nummer 4"/>
          <p:cNvSpPr/>
          <p:nvPr/>
        </p:nvSpPr>
        <p:spPr>
          <a:xfrm>
            <a:off x="868680" y="5129784"/>
            <a:ext cx="420624" cy="420624"/>
          </a:xfrm>
          <a:prstGeom prst="ellipse">
            <a:avLst/>
          </a:prstGeom>
          <a:solidFill>
            <a:schemeClr val="accent1"/>
          </a:solidFill>
          <a:ln w="12700">
            <a:solidFill>
              <a:schemeClr val="accent1"/>
            </a:solidFill>
            <a:prstDash val="solid"/>
          </a:ln>
        </p:spPr>
      </p:sp>
      <p:sp>
        <p:nvSpPr>
          <p:cNvPr id="26" name="Text 24"/>
          <p:cNvSpPr txBox="1"/>
          <p:nvPr/>
        </p:nvSpPr>
        <p:spPr>
          <a:xfrm>
            <a:off x="868680" y="5129784"/>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4</a:t>
            </a:r>
            <a:endParaRPr lang="en-US" sz="1600" dirty="0"/>
          </a:p>
        </p:txBody>
      </p:sp>
      <p:sp>
        <p:nvSpPr>
          <p:cNvPr id="27" name="Text 25"/>
          <p:cNvSpPr txBox="1"/>
          <p:nvPr/>
        </p:nvSpPr>
        <p:spPr>
          <a:xfrm>
            <a:off x="1463040" y="4882896"/>
            <a:ext cx="3063240" cy="91440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Gebruik het middagoverschot</a:t>
            </a:r>
            <a:endParaRPr lang="en-US" sz="1600" dirty="0"/>
          </a:p>
        </p:txBody>
      </p:sp>
      <p:sp>
        <p:nvSpPr>
          <p:cNvPr id="28" name="Text 26"/>
          <p:cNvSpPr txBox="1"/>
          <p:nvPr/>
        </p:nvSpPr>
        <p:spPr>
          <a:xfrm>
            <a:off x="4572000" y="4882896"/>
            <a:ext cx="3291840" cy="914400"/>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Teruglevering per kwartier, uren met negatieve prijs</a:t>
            </a:r>
            <a:endParaRPr lang="en-US" sz="1400" dirty="0"/>
          </a:p>
        </p:txBody>
      </p:sp>
      <p:sp>
        <p:nvSpPr>
          <p:cNvPr id="29" name="Text 27"/>
          <p:cNvSpPr txBox="1"/>
          <p:nvPr/>
        </p:nvSpPr>
        <p:spPr>
          <a:xfrm>
            <a:off x="8092440" y="4882896"/>
            <a:ext cx="3246120" cy="91440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Batterijen en laadpalen eerst aansluiten waar het nodig is</a:t>
            </a:r>
            <a:endParaRPr lang="en-US" sz="1400" dirty="0"/>
          </a:p>
        </p:txBody>
      </p:sp>
      <p:sp>
        <p:nvSpPr>
          <p:cNvPr id="30" name="Text 28"/>
          <p:cNvSpPr txBox="1"/>
          <p:nvPr/>
        </p:nvSpPr>
        <p:spPr>
          <a:xfrm>
            <a:off x="685800" y="6355080"/>
            <a:ext cx="96012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Uitwerking per advies: rapport sprint 2, paragraaf 5.2. Advies 1 sluit aan op onze hypothese en datavragen uit sprint 1</a:t>
            </a:r>
            <a:endParaRPr lang="en-US" sz="1000" dirty="0"/>
          </a:p>
        </p:txBody>
      </p:sp>
      <p:sp>
        <p:nvSpPr>
          <p:cNvPr id="25" name="Slide Number Placeholder 0"/>
          <p:cNvSpPr>
            <a:spLocks noGrp="1"/>
          </p:cNvSpPr>
          <p:nvPr>
            <p:ph type="sldNum" sz="quarter" idx="4294967295"/>
          </p:nvPr>
        </p:nvSpPr>
        <p:spPr>
          <a:xfrm>
            <a:off x="1114013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Wat we de gastspreker willen vragen</a:t>
            </a:r>
            <a:endParaRPr lang="en-US" sz="3400" dirty="0"/>
          </a:p>
        </p:txBody>
      </p:sp>
      <p:sp>
        <p:nvSpPr>
          <p:cNvPr id="3" name="Text 1"/>
          <p:cNvSpPr txBox="1"/>
          <p:nvPr/>
        </p:nvSpPr>
        <p:spPr>
          <a:xfrm>
            <a:off x="685800" y="1234440"/>
            <a:ext cx="10789920" cy="365760"/>
          </a:xfrm>
          <a:prstGeom prst="rect">
            <a:avLst/>
          </a:prstGeom>
          <a:noFill/>
          <a:ln/>
        </p:spPr>
        <p:txBody>
          <a:bodyPr wrap="square" lIns="0" tIns="0" rIns="0" bIns="0" rtlCol="0" anchor="t"/>
          <a:lstStyle/>
          <a:p>
            <a:pPr indent="0" marL="0">
              <a:buNone/>
            </a:pPr>
            <a:r>
              <a:rPr lang="en-US" sz="1600" dirty="0">
                <a:solidFill>
                  <a:schemeClr val="accent5"/>
                </a:solidFill>
                <a:latin typeface="Calibri" pitchFamily="34" charset="0"/>
                <a:ea typeface="Calibri" pitchFamily="34" charset="-122"/>
                <a:cs typeface="Calibri" pitchFamily="34" charset="-120"/>
              </a:rPr>
              <a:t>Zes vragen voorbereid, om onze aannames te toetsen. Drie belangrijkste:</a:t>
            </a:r>
            <a:endParaRPr lang="en-US" sz="1600" dirty="0"/>
          </a:p>
        </p:txBody>
      </p:sp>
      <p:sp>
        <p:nvSpPr>
          <p:cNvPr id="4" name="vraag 1"/>
          <p:cNvSpPr/>
          <p:nvPr/>
        </p:nvSpPr>
        <p:spPr>
          <a:xfrm>
            <a:off x="685800" y="1783080"/>
            <a:ext cx="10817352" cy="1188720"/>
          </a:xfrm>
          <a:prstGeom prst="roundRect">
            <a:avLst>
              <a:gd name="adj" fmla="val 9231"/>
            </a:avLst>
          </a:prstGeom>
          <a:solidFill>
            <a:schemeClr val="bg2"/>
          </a:solidFill>
          <a:ln w="12700">
            <a:solidFill>
              <a:schemeClr val="bg2"/>
            </a:solidFill>
            <a:prstDash val="solid"/>
          </a:ln>
        </p:spPr>
      </p:sp>
      <p:sp>
        <p:nvSpPr>
          <p:cNvPr id="5" name="nummer 1"/>
          <p:cNvSpPr/>
          <p:nvPr/>
        </p:nvSpPr>
        <p:spPr>
          <a:xfrm>
            <a:off x="960120" y="2167128"/>
            <a:ext cx="420624" cy="420624"/>
          </a:xfrm>
          <a:prstGeom prst="ellipse">
            <a:avLst/>
          </a:prstGeom>
          <a:solidFill>
            <a:schemeClr val="accent1"/>
          </a:solidFill>
          <a:ln w="12700">
            <a:solidFill>
              <a:schemeClr val="accent1"/>
            </a:solidFill>
            <a:prstDash val="solid"/>
          </a:ln>
        </p:spPr>
      </p:sp>
      <p:sp>
        <p:nvSpPr>
          <p:cNvPr id="6" name="Text 4"/>
          <p:cNvSpPr txBox="1"/>
          <p:nvPr/>
        </p:nvSpPr>
        <p:spPr>
          <a:xfrm>
            <a:off x="960120" y="216712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600200" y="1920240"/>
            <a:ext cx="9601200" cy="5486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Hoe ver vooruit kunt u nu voorspellen waar een station vol loopt, en welke data mist daarvoor nog?</a:t>
            </a:r>
            <a:endParaRPr lang="en-US" sz="1600" dirty="0"/>
          </a:p>
        </p:txBody>
      </p:sp>
      <p:sp>
        <p:nvSpPr>
          <p:cNvPr id="8" name="Text 6"/>
          <p:cNvSpPr txBox="1"/>
          <p:nvPr/>
        </p:nvSpPr>
        <p:spPr>
          <a:xfrm>
            <a:off x="1600200" y="2468880"/>
            <a:ext cx="9601200" cy="365760"/>
          </a:xfrm>
          <a:prstGeom prst="rect">
            <a:avLst/>
          </a:prstGeom>
          <a:noFill/>
          <a:ln/>
        </p:spPr>
        <p:txBody>
          <a:bodyPr wrap="square" lIns="0" tIns="0" rIns="0" bIns="0" rtlCol="0" anchor="t"/>
          <a:lstStyle/>
          <a:p>
            <a:pPr indent="0" marL="0">
              <a:buNone/>
            </a:pPr>
            <a:r>
              <a:rPr lang="en-US" sz="1400" dirty="0">
                <a:solidFill>
                  <a:schemeClr val="accent1"/>
                </a:solidFill>
                <a:latin typeface="Calibri" pitchFamily="34" charset="0"/>
                <a:ea typeface="Calibri" pitchFamily="34" charset="-122"/>
                <a:cs typeface="Calibri" pitchFamily="34" charset="-120"/>
              </a:rPr>
              <a:t>Toetst advies 1 en onze datavragen uit sprint 1.</a:t>
            </a:r>
            <a:endParaRPr lang="en-US" sz="1400" dirty="0"/>
          </a:p>
        </p:txBody>
      </p:sp>
      <p:sp>
        <p:nvSpPr>
          <p:cNvPr id="9" name="vraag 2"/>
          <p:cNvSpPr/>
          <p:nvPr/>
        </p:nvSpPr>
        <p:spPr>
          <a:xfrm>
            <a:off x="685800" y="3154680"/>
            <a:ext cx="10817352" cy="1188720"/>
          </a:xfrm>
          <a:prstGeom prst="roundRect">
            <a:avLst>
              <a:gd name="adj" fmla="val 9231"/>
            </a:avLst>
          </a:prstGeom>
          <a:solidFill>
            <a:schemeClr val="bg2"/>
          </a:solidFill>
          <a:ln w="12700">
            <a:solidFill>
              <a:schemeClr val="bg2"/>
            </a:solidFill>
            <a:prstDash val="solid"/>
          </a:ln>
        </p:spPr>
      </p:sp>
      <p:sp>
        <p:nvSpPr>
          <p:cNvPr id="10" name="nummer 2"/>
          <p:cNvSpPr/>
          <p:nvPr/>
        </p:nvSpPr>
        <p:spPr>
          <a:xfrm>
            <a:off x="960120" y="3538728"/>
            <a:ext cx="420624" cy="420624"/>
          </a:xfrm>
          <a:prstGeom prst="ellipse">
            <a:avLst/>
          </a:prstGeom>
          <a:solidFill>
            <a:schemeClr val="accent1"/>
          </a:solidFill>
          <a:ln w="12700">
            <a:solidFill>
              <a:schemeClr val="accent1"/>
            </a:solidFill>
            <a:prstDash val="solid"/>
          </a:ln>
        </p:spPr>
      </p:sp>
      <p:sp>
        <p:nvSpPr>
          <p:cNvPr id="11" name="Text 9"/>
          <p:cNvSpPr txBox="1"/>
          <p:nvPr/>
        </p:nvSpPr>
        <p:spPr>
          <a:xfrm>
            <a:off x="960120" y="353872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1600200" y="3291840"/>
            <a:ext cx="9601200" cy="5486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Welke slimme-meterdata mag u gebruiken voor analyses, en hoe anonimiseert u die?</a:t>
            </a:r>
            <a:endParaRPr lang="en-US" sz="1600" dirty="0"/>
          </a:p>
        </p:txBody>
      </p:sp>
      <p:sp>
        <p:nvSpPr>
          <p:cNvPr id="13" name="Text 11"/>
          <p:cNvSpPr txBox="1"/>
          <p:nvPr/>
        </p:nvSpPr>
        <p:spPr>
          <a:xfrm>
            <a:off x="1600200" y="3840480"/>
            <a:ext cx="9601200" cy="365760"/>
          </a:xfrm>
          <a:prstGeom prst="rect">
            <a:avLst/>
          </a:prstGeom>
          <a:noFill/>
          <a:ln/>
        </p:spPr>
        <p:txBody>
          <a:bodyPr wrap="square" lIns="0" tIns="0" rIns="0" bIns="0" rtlCol="0" anchor="t"/>
          <a:lstStyle/>
          <a:p>
            <a:pPr indent="0" marL="0">
              <a:buNone/>
            </a:pPr>
            <a:r>
              <a:rPr lang="en-US" sz="1400" dirty="0">
                <a:solidFill>
                  <a:schemeClr val="accent1"/>
                </a:solidFill>
                <a:latin typeface="Calibri" pitchFamily="34" charset="0"/>
                <a:ea typeface="Calibri" pitchFamily="34" charset="-122"/>
                <a:cs typeface="Calibri" pitchFamily="34" charset="-120"/>
              </a:rPr>
              <a:t>Slimme-meterdata zijn persoonsgegevens onder de AVG.</a:t>
            </a:r>
            <a:endParaRPr lang="en-US" sz="1400" dirty="0"/>
          </a:p>
        </p:txBody>
      </p:sp>
      <p:sp>
        <p:nvSpPr>
          <p:cNvPr id="14" name="vraag 3"/>
          <p:cNvSpPr/>
          <p:nvPr/>
        </p:nvSpPr>
        <p:spPr>
          <a:xfrm>
            <a:off x="685800" y="4526280"/>
            <a:ext cx="10817352" cy="1188720"/>
          </a:xfrm>
          <a:prstGeom prst="roundRect">
            <a:avLst>
              <a:gd name="adj" fmla="val 9231"/>
            </a:avLst>
          </a:prstGeom>
          <a:solidFill>
            <a:schemeClr val="bg2"/>
          </a:solidFill>
          <a:ln w="12700">
            <a:solidFill>
              <a:schemeClr val="bg2"/>
            </a:solidFill>
            <a:prstDash val="solid"/>
          </a:ln>
        </p:spPr>
      </p:sp>
      <p:sp>
        <p:nvSpPr>
          <p:cNvPr id="15" name="nummer 3"/>
          <p:cNvSpPr/>
          <p:nvPr/>
        </p:nvSpPr>
        <p:spPr>
          <a:xfrm>
            <a:off x="960120" y="4910328"/>
            <a:ext cx="420624" cy="420624"/>
          </a:xfrm>
          <a:prstGeom prst="ellipse">
            <a:avLst/>
          </a:prstGeom>
          <a:solidFill>
            <a:schemeClr val="accent1"/>
          </a:solidFill>
          <a:ln w="12700">
            <a:solidFill>
              <a:schemeClr val="accent1"/>
            </a:solidFill>
            <a:prstDash val="solid"/>
          </a:ln>
        </p:spPr>
      </p:sp>
      <p:sp>
        <p:nvSpPr>
          <p:cNvPr id="16" name="Text 14"/>
          <p:cNvSpPr txBox="1"/>
          <p:nvPr/>
        </p:nvSpPr>
        <p:spPr>
          <a:xfrm>
            <a:off x="960120" y="491032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1600200" y="4663440"/>
            <a:ext cx="9601200" cy="5486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Wanneer besluit u een gasleiding niet meer te vervangen omdat de wijk van het gas af gaat?</a:t>
            </a:r>
            <a:endParaRPr lang="en-US" sz="1600" dirty="0"/>
          </a:p>
        </p:txBody>
      </p:sp>
      <p:sp>
        <p:nvSpPr>
          <p:cNvPr id="18" name="Text 16"/>
          <p:cNvSpPr txBox="1"/>
          <p:nvPr/>
        </p:nvSpPr>
        <p:spPr>
          <a:xfrm>
            <a:off x="1600200" y="5212080"/>
            <a:ext cx="9601200" cy="365760"/>
          </a:xfrm>
          <a:prstGeom prst="rect">
            <a:avLst/>
          </a:prstGeom>
          <a:noFill/>
          <a:ln/>
        </p:spPr>
        <p:txBody>
          <a:bodyPr wrap="square" lIns="0" tIns="0" rIns="0" bIns="0" rtlCol="0" anchor="t"/>
          <a:lstStyle/>
          <a:p>
            <a:pPr indent="0" marL="0">
              <a:buNone/>
            </a:pPr>
            <a:r>
              <a:rPr lang="en-US" sz="1400" dirty="0">
                <a:solidFill>
                  <a:schemeClr val="accent1"/>
                </a:solidFill>
                <a:latin typeface="Calibri" pitchFamily="34" charset="0"/>
                <a:ea typeface="Calibri" pitchFamily="34" charset="-122"/>
                <a:cs typeface="Calibri" pitchFamily="34" charset="-120"/>
              </a:rPr>
              <a:t>Toetst advies 3; nu is 11,2% van de woningen aardgasvrij.</a:t>
            </a:r>
            <a:endParaRPr lang="en-US" sz="1400" dirty="0"/>
          </a:p>
        </p:txBody>
      </p:sp>
      <p:sp>
        <p:nvSpPr>
          <p:cNvPr id="19" name="Text 17"/>
          <p:cNvSpPr txBox="1"/>
          <p:nvPr/>
        </p:nvSpPr>
        <p:spPr>
          <a:xfrm>
            <a:off x="685800" y="6355080"/>
            <a:ext cx="96012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Alle zes vragen met onderbouwing: rapport sprint 2, paragraaf 5.5. Bronnen: CBS (2025b); Verordening (EU) 2016/679 (2016)</a:t>
            </a:r>
            <a:endParaRPr lang="en-US" sz="1000" dirty="0"/>
          </a:p>
        </p:txBody>
      </p:sp>
      <p:sp>
        <p:nvSpPr>
          <p:cNvPr id="25" name="Slide Number Placeholder 0"/>
          <p:cNvSpPr>
            <a:spLocks noGrp="1"/>
          </p:cNvSpPr>
          <p:nvPr>
            <p:ph type="sldNum" sz="quarter" idx="4294967295"/>
          </p:nvPr>
        </p:nvSpPr>
        <p:spPr>
          <a:xfrm>
            <a:off x="1114013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Samenwerking en GenAI</a:t>
            </a:r>
            <a:endParaRPr lang="en-US" sz="3400" dirty="0"/>
          </a:p>
        </p:txBody>
      </p:sp>
      <p:sp>
        <p:nvSpPr>
          <p:cNvPr id="3" name="Text 1"/>
          <p:cNvSpPr txBox="1"/>
          <p:nvPr/>
        </p:nvSpPr>
        <p:spPr>
          <a:xfrm>
            <a:off x="685800" y="1280160"/>
            <a:ext cx="5486400" cy="256032"/>
          </a:xfrm>
          <a:prstGeom prst="rect">
            <a:avLst/>
          </a:prstGeom>
          <a:noFill/>
          <a:ln/>
        </p:spPr>
        <p:txBody>
          <a:bodyPr wrap="square" lIns="0" tIns="0" rIns="0" bIns="0" rtlCol="0" anchor="t"/>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VAN SPRINT 1 NAAR SPRINT 2</a:t>
            </a:r>
            <a:endParaRPr lang="en-US" sz="1100" dirty="0"/>
          </a:p>
        </p:txBody>
      </p:sp>
      <p:sp>
        <p:nvSpPr>
          <p:cNvPr id="4" name="Text 2"/>
          <p:cNvSpPr txBox="1"/>
          <p:nvPr/>
        </p:nvSpPr>
        <p:spPr>
          <a:xfrm>
            <a:off x="685800" y="1600200"/>
            <a:ext cx="2743200" cy="274320"/>
          </a:xfrm>
          <a:prstGeom prst="rect">
            <a:avLst/>
          </a:prstGeom>
          <a:noFill/>
          <a:ln/>
        </p:spPr>
        <p:txBody>
          <a:bodyPr wrap="square" lIns="0" tIns="0" rIns="0" bIns="0" rtlCol="0" anchor="t"/>
          <a:lstStyle/>
          <a:p>
            <a:pPr indent="0" marL="0">
              <a:buNone/>
            </a:pPr>
            <a:r>
              <a:rPr lang="en-US" sz="1200" b="1" dirty="0">
                <a:solidFill>
                  <a:schemeClr val="accent4"/>
                </a:solidFill>
                <a:latin typeface="Calibri" pitchFamily="34" charset="0"/>
                <a:ea typeface="Calibri" pitchFamily="34" charset="-122"/>
                <a:cs typeface="Calibri" pitchFamily="34" charset="-120"/>
              </a:rPr>
              <a:t>Sprint 1</a:t>
            </a:r>
            <a:endParaRPr lang="en-US" sz="1200" dirty="0"/>
          </a:p>
        </p:txBody>
      </p:sp>
      <p:sp>
        <p:nvSpPr>
          <p:cNvPr id="5" name="Text 3"/>
          <p:cNvSpPr txBox="1"/>
          <p:nvPr/>
        </p:nvSpPr>
        <p:spPr>
          <a:xfrm>
            <a:off x="3703320" y="1600200"/>
            <a:ext cx="2743200" cy="274320"/>
          </a:xfrm>
          <a:prstGeom prst="rect">
            <a:avLst/>
          </a:prstGeom>
          <a:noFill/>
          <a:ln/>
        </p:spPr>
        <p:txBody>
          <a:bodyPr wrap="square" lIns="0" tIns="0" rIns="0" bIns="0" rtlCol="0" anchor="t"/>
          <a:lstStyle/>
          <a:p>
            <a:pPr indent="0" marL="0">
              <a:buNone/>
            </a:pPr>
            <a:r>
              <a:rPr lang="en-US" sz="1200" b="1" dirty="0">
                <a:solidFill>
                  <a:schemeClr val="accent4"/>
                </a:solidFill>
                <a:latin typeface="Calibri" pitchFamily="34" charset="0"/>
                <a:ea typeface="Calibri" pitchFamily="34" charset="-122"/>
                <a:cs typeface="Calibri" pitchFamily="34" charset="-120"/>
              </a:rPr>
              <a:t>Sprint 2</a:t>
            </a:r>
            <a:endParaRPr lang="en-US" sz="1200" dirty="0"/>
          </a:p>
        </p:txBody>
      </p:sp>
      <p:sp>
        <p:nvSpPr>
          <p:cNvPr id="6" name="sprint1 0"/>
          <p:cNvSpPr/>
          <p:nvPr/>
        </p:nvSpPr>
        <p:spPr>
          <a:xfrm>
            <a:off x="685800" y="1920240"/>
            <a:ext cx="2743200" cy="868680"/>
          </a:xfrm>
          <a:prstGeom prst="roundRect">
            <a:avLst>
              <a:gd name="adj" fmla="val 12632"/>
            </a:avLst>
          </a:prstGeom>
          <a:solidFill>
            <a:schemeClr val="bg2"/>
          </a:solidFill>
          <a:ln w="12700">
            <a:solidFill>
              <a:schemeClr val="bg2"/>
            </a:solidFill>
            <a:prstDash val="solid"/>
          </a:ln>
        </p:spPr>
      </p:sp>
      <p:sp>
        <p:nvSpPr>
          <p:cNvPr id="7" name="Text 5"/>
          <p:cNvSpPr txBox="1"/>
          <p:nvPr/>
        </p:nvSpPr>
        <p:spPr>
          <a:xfrm>
            <a:off x="868680" y="1920240"/>
            <a:ext cx="2377440" cy="868680"/>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Opdracht in het begin onduidelijk</a:t>
            </a:r>
            <a:endParaRPr lang="en-US" sz="1400" dirty="0"/>
          </a:p>
        </p:txBody>
      </p:sp>
      <p:sp>
        <p:nvSpPr>
          <p:cNvPr id="8" name="pijl sw 0"/>
          <p:cNvSpPr/>
          <p:nvPr/>
        </p:nvSpPr>
        <p:spPr>
          <a:xfrm>
            <a:off x="3474720" y="2212848"/>
            <a:ext cx="201168" cy="274320"/>
          </a:xfrm>
          <a:prstGeom prst="rightArrow">
            <a:avLst/>
          </a:prstGeom>
          <a:solidFill>
            <a:schemeClr val="accent1"/>
          </a:solidFill>
          <a:ln w="12700">
            <a:solidFill>
              <a:schemeClr val="accent1"/>
            </a:solidFill>
            <a:prstDash val="solid"/>
          </a:ln>
        </p:spPr>
      </p:sp>
      <p:sp>
        <p:nvSpPr>
          <p:cNvPr id="9" name="sprint2 0"/>
          <p:cNvSpPr/>
          <p:nvPr/>
        </p:nvSpPr>
        <p:spPr>
          <a:xfrm>
            <a:off x="3703320" y="1920240"/>
            <a:ext cx="2743200" cy="868680"/>
          </a:xfrm>
          <a:prstGeom prst="roundRect">
            <a:avLst>
              <a:gd name="adj" fmla="val 12632"/>
            </a:avLst>
          </a:prstGeom>
          <a:solidFill>
            <a:schemeClr val="accent1"/>
          </a:solidFill>
          <a:ln w="12700">
            <a:solidFill>
              <a:schemeClr val="accent1"/>
            </a:solidFill>
            <a:prstDash val="solid"/>
          </a:ln>
        </p:spPr>
      </p:sp>
      <p:sp>
        <p:nvSpPr>
          <p:cNvPr id="10" name="Text 8"/>
          <p:cNvSpPr txBox="1"/>
          <p:nvPr/>
        </p:nvSpPr>
        <p:spPr>
          <a:xfrm>
            <a:off x="3886200" y="1920240"/>
            <a:ext cx="2377440" cy="868680"/>
          </a:xfrm>
          <a:prstGeom prst="rect">
            <a:avLst/>
          </a:prstGeom>
          <a:noFill/>
          <a:ln/>
        </p:spPr>
        <p:txBody>
          <a:bodyPr wrap="square" lIns="0" tIns="0" rIns="0" bIns="0" rtlCol="0" anchor="ctr"/>
          <a:lstStyle/>
          <a:p>
            <a:pPr indent="0" marL="0">
              <a:buNone/>
            </a:pPr>
            <a:r>
              <a:rPr lang="en-US" sz="1400" dirty="0">
                <a:solidFill>
                  <a:schemeClr val="bg1"/>
                </a:solidFill>
                <a:latin typeface="Calibri" pitchFamily="34" charset="0"/>
                <a:ea typeface="Calibri" pitchFamily="34" charset="-122"/>
                <a:cs typeface="Calibri" pitchFamily="34" charset="-120"/>
              </a:rPr>
              <a:t>Gestart met een samenwerkingsovereenkomst</a:t>
            </a:r>
            <a:endParaRPr lang="en-US" sz="1400" dirty="0"/>
          </a:p>
        </p:txBody>
      </p:sp>
      <p:sp>
        <p:nvSpPr>
          <p:cNvPr id="11" name="sprint1 1"/>
          <p:cNvSpPr/>
          <p:nvPr/>
        </p:nvSpPr>
        <p:spPr>
          <a:xfrm>
            <a:off x="685800" y="2971800"/>
            <a:ext cx="2743200" cy="868680"/>
          </a:xfrm>
          <a:prstGeom prst="roundRect">
            <a:avLst>
              <a:gd name="adj" fmla="val 12632"/>
            </a:avLst>
          </a:prstGeom>
          <a:solidFill>
            <a:schemeClr val="bg2"/>
          </a:solidFill>
          <a:ln w="12700">
            <a:solidFill>
              <a:schemeClr val="bg2"/>
            </a:solidFill>
            <a:prstDash val="solid"/>
          </a:ln>
        </p:spPr>
      </p:sp>
      <p:sp>
        <p:nvSpPr>
          <p:cNvPr id="12" name="Text 10"/>
          <p:cNvSpPr txBox="1"/>
          <p:nvPr/>
        </p:nvSpPr>
        <p:spPr>
          <a:xfrm>
            <a:off x="868680" y="2971800"/>
            <a:ext cx="2377440" cy="868680"/>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Taken pas laat verdeeld</a:t>
            </a:r>
            <a:endParaRPr lang="en-US" sz="1400" dirty="0"/>
          </a:p>
        </p:txBody>
      </p:sp>
      <p:sp>
        <p:nvSpPr>
          <p:cNvPr id="13" name="pijl sw 1"/>
          <p:cNvSpPr/>
          <p:nvPr/>
        </p:nvSpPr>
        <p:spPr>
          <a:xfrm>
            <a:off x="3474720" y="3264408"/>
            <a:ext cx="201168" cy="274320"/>
          </a:xfrm>
          <a:prstGeom prst="rightArrow">
            <a:avLst/>
          </a:prstGeom>
          <a:solidFill>
            <a:schemeClr val="accent1"/>
          </a:solidFill>
          <a:ln w="12700">
            <a:solidFill>
              <a:schemeClr val="accent1"/>
            </a:solidFill>
            <a:prstDash val="solid"/>
          </a:ln>
        </p:spPr>
      </p:sp>
      <p:sp>
        <p:nvSpPr>
          <p:cNvPr id="14" name="sprint2 1"/>
          <p:cNvSpPr/>
          <p:nvPr/>
        </p:nvSpPr>
        <p:spPr>
          <a:xfrm>
            <a:off x="3703320" y="2971800"/>
            <a:ext cx="2743200" cy="868680"/>
          </a:xfrm>
          <a:prstGeom prst="roundRect">
            <a:avLst>
              <a:gd name="adj" fmla="val 12632"/>
            </a:avLst>
          </a:prstGeom>
          <a:solidFill>
            <a:schemeClr val="accent1"/>
          </a:solidFill>
          <a:ln w="12700">
            <a:solidFill>
              <a:schemeClr val="accent1"/>
            </a:solidFill>
            <a:prstDash val="solid"/>
          </a:ln>
        </p:spPr>
      </p:sp>
      <p:sp>
        <p:nvSpPr>
          <p:cNvPr id="15" name="Text 13"/>
          <p:cNvSpPr txBox="1"/>
          <p:nvPr/>
        </p:nvSpPr>
        <p:spPr>
          <a:xfrm>
            <a:off x="3886200" y="2971800"/>
            <a:ext cx="2377440" cy="868680"/>
          </a:xfrm>
          <a:prstGeom prst="rect">
            <a:avLst/>
          </a:prstGeom>
          <a:noFill/>
          <a:ln/>
        </p:spPr>
        <p:txBody>
          <a:bodyPr wrap="square" lIns="0" tIns="0" rIns="0" bIns="0" rtlCol="0" anchor="ctr"/>
          <a:lstStyle/>
          <a:p>
            <a:pPr indent="0" marL="0">
              <a:buNone/>
            </a:pPr>
            <a:r>
              <a:rPr lang="en-US" sz="1400" dirty="0">
                <a:solidFill>
                  <a:schemeClr val="bg1"/>
                </a:solidFill>
                <a:latin typeface="Calibri" pitchFamily="34" charset="0"/>
                <a:ea typeface="Calibri" pitchFamily="34" charset="-122"/>
                <a:cs typeface="Calibri" pitchFamily="34" charset="-120"/>
              </a:rPr>
              <a:t>Taken verdeeld op ieders expertise</a:t>
            </a:r>
            <a:endParaRPr lang="en-US" sz="1400" dirty="0"/>
          </a:p>
        </p:txBody>
      </p:sp>
      <p:sp>
        <p:nvSpPr>
          <p:cNvPr id="16" name="sprint1 2"/>
          <p:cNvSpPr/>
          <p:nvPr/>
        </p:nvSpPr>
        <p:spPr>
          <a:xfrm>
            <a:off x="685800" y="4023360"/>
            <a:ext cx="2743200" cy="868680"/>
          </a:xfrm>
          <a:prstGeom prst="roundRect">
            <a:avLst>
              <a:gd name="adj" fmla="val 12632"/>
            </a:avLst>
          </a:prstGeom>
          <a:solidFill>
            <a:schemeClr val="bg2"/>
          </a:solidFill>
          <a:ln w="12700">
            <a:solidFill>
              <a:schemeClr val="bg2"/>
            </a:solidFill>
            <a:prstDash val="solid"/>
          </a:ln>
        </p:spPr>
      </p:sp>
      <p:sp>
        <p:nvSpPr>
          <p:cNvPr id="17" name="Text 15"/>
          <p:cNvSpPr txBox="1"/>
          <p:nvPr/>
        </p:nvSpPr>
        <p:spPr>
          <a:xfrm>
            <a:off x="868680" y="4023360"/>
            <a:ext cx="2377440" cy="868680"/>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Elkaars werk te laat gecontroleerd</a:t>
            </a:r>
            <a:endParaRPr lang="en-US" sz="1400" dirty="0"/>
          </a:p>
        </p:txBody>
      </p:sp>
      <p:sp>
        <p:nvSpPr>
          <p:cNvPr id="18" name="pijl sw 2"/>
          <p:cNvSpPr/>
          <p:nvPr/>
        </p:nvSpPr>
        <p:spPr>
          <a:xfrm>
            <a:off x="3474720" y="4315968"/>
            <a:ext cx="201168" cy="274320"/>
          </a:xfrm>
          <a:prstGeom prst="rightArrow">
            <a:avLst/>
          </a:prstGeom>
          <a:solidFill>
            <a:schemeClr val="accent1"/>
          </a:solidFill>
          <a:ln w="12700">
            <a:solidFill>
              <a:schemeClr val="accent1"/>
            </a:solidFill>
            <a:prstDash val="solid"/>
          </a:ln>
        </p:spPr>
      </p:sp>
      <p:sp>
        <p:nvSpPr>
          <p:cNvPr id="19" name="sprint2 2"/>
          <p:cNvSpPr/>
          <p:nvPr/>
        </p:nvSpPr>
        <p:spPr>
          <a:xfrm>
            <a:off x="3703320" y="4023360"/>
            <a:ext cx="2743200" cy="868680"/>
          </a:xfrm>
          <a:prstGeom prst="roundRect">
            <a:avLst>
              <a:gd name="adj" fmla="val 12632"/>
            </a:avLst>
          </a:prstGeom>
          <a:solidFill>
            <a:schemeClr val="accent1"/>
          </a:solidFill>
          <a:ln w="12700">
            <a:solidFill>
              <a:schemeClr val="accent1"/>
            </a:solidFill>
            <a:prstDash val="solid"/>
          </a:ln>
        </p:spPr>
      </p:sp>
      <p:sp>
        <p:nvSpPr>
          <p:cNvPr id="20" name="Text 18"/>
          <p:cNvSpPr txBox="1"/>
          <p:nvPr/>
        </p:nvSpPr>
        <p:spPr>
          <a:xfrm>
            <a:off x="3886200" y="4023360"/>
            <a:ext cx="2377440" cy="868680"/>
          </a:xfrm>
          <a:prstGeom prst="rect">
            <a:avLst/>
          </a:prstGeom>
          <a:noFill/>
          <a:ln/>
        </p:spPr>
        <p:txBody>
          <a:bodyPr wrap="square" lIns="0" tIns="0" rIns="0" bIns="0" rtlCol="0" anchor="ctr"/>
          <a:lstStyle/>
          <a:p>
            <a:pPr indent="0" marL="0">
              <a:buNone/>
            </a:pPr>
            <a:r>
              <a:rPr lang="en-US" sz="1400" dirty="0">
                <a:solidFill>
                  <a:schemeClr val="bg1"/>
                </a:solidFill>
                <a:latin typeface="Calibri" pitchFamily="34" charset="0"/>
                <a:ea typeface="Calibri" pitchFamily="34" charset="-122"/>
                <a:cs typeface="Calibri" pitchFamily="34" charset="-120"/>
              </a:rPr>
              <a:t>Elk hoofdstuk nagelezen door een ander</a:t>
            </a:r>
            <a:endParaRPr lang="en-US" sz="1400" dirty="0"/>
          </a:p>
        </p:txBody>
      </p:sp>
      <p:sp>
        <p:nvSpPr>
          <p:cNvPr id="21" name="Text 19"/>
          <p:cNvSpPr txBox="1"/>
          <p:nvPr/>
        </p:nvSpPr>
        <p:spPr>
          <a:xfrm>
            <a:off x="685800" y="5166360"/>
            <a:ext cx="5760720" cy="731520"/>
          </a:xfrm>
          <a:prstGeom prst="rect">
            <a:avLst/>
          </a:prstGeom>
          <a:noFill/>
          <a:ln/>
        </p:spPr>
        <p:txBody>
          <a:bodyPr wrap="square" lIns="0" tIns="0" rIns="0" bIns="0" rtlCol="0" anchor="t"/>
          <a:lstStyle/>
          <a:p>
            <a:pPr indent="0" marL="0">
              <a:buNone/>
            </a:pPr>
            <a:r>
              <a:rPr lang="en-US" sz="1400" i="1" dirty="0">
                <a:solidFill>
                  <a:schemeClr val="accent5"/>
                </a:solidFill>
                <a:latin typeface="Calibri" pitchFamily="34" charset="0"/>
                <a:ea typeface="Calibri" pitchFamily="34" charset="-122"/>
                <a:cs typeface="Calibri" pitchFamily="34" charset="-120"/>
              </a:rPr>
              <a:t>Verbeterpunt sprint 3: grote taken eerder opsplitsen en een interne deadline twee dagen vóór de echte.</a:t>
            </a:r>
            <a:endParaRPr lang="en-US" sz="1400" dirty="0"/>
          </a:p>
        </p:txBody>
      </p:sp>
      <p:sp>
        <p:nvSpPr>
          <p:cNvPr id="22" name="genai"/>
          <p:cNvSpPr/>
          <p:nvPr/>
        </p:nvSpPr>
        <p:spPr>
          <a:xfrm>
            <a:off x="6812280" y="1280160"/>
            <a:ext cx="4690872" cy="4663440"/>
          </a:xfrm>
          <a:prstGeom prst="roundRect">
            <a:avLst>
              <a:gd name="adj" fmla="val 2353"/>
            </a:avLst>
          </a:prstGeom>
          <a:solidFill>
            <a:schemeClr val="tx2"/>
          </a:solidFill>
          <a:ln w="12700">
            <a:solidFill>
              <a:schemeClr val="tx2"/>
            </a:solidFill>
            <a:prstDash val="solid"/>
          </a:ln>
        </p:spPr>
      </p:sp>
      <p:sp>
        <p:nvSpPr>
          <p:cNvPr id="23" name="Text 21"/>
          <p:cNvSpPr txBox="1"/>
          <p:nvPr/>
        </p:nvSpPr>
        <p:spPr>
          <a:xfrm>
            <a:off x="7086600" y="1463040"/>
            <a:ext cx="4114800" cy="256032"/>
          </a:xfrm>
          <a:prstGeom prst="rect">
            <a:avLst/>
          </a:prstGeom>
          <a:noFill/>
          <a:ln/>
        </p:spPr>
        <p:txBody>
          <a:bodyPr wrap="square" lIns="0" tIns="0" rIns="0" bIns="0" rtlCol="0" anchor="t"/>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GENAI-EVALUATIE</a:t>
            </a:r>
            <a:endParaRPr lang="en-US" sz="1100" dirty="0"/>
          </a:p>
        </p:txBody>
      </p:sp>
      <p:sp>
        <p:nvSpPr>
          <p:cNvPr id="24" name="Text 22"/>
          <p:cNvSpPr txBox="1"/>
          <p:nvPr/>
        </p:nvSpPr>
        <p:spPr>
          <a:xfrm>
            <a:off x="7086600" y="1828800"/>
            <a:ext cx="4160520" cy="3931920"/>
          </a:xfrm>
          <a:prstGeom prst="rect">
            <a:avLst/>
          </a:prstGeom>
          <a:noFill/>
          <a:ln/>
        </p:spPr>
        <p:txBody>
          <a:bodyPr wrap="square" lIns="0" tIns="0" rIns="0" bIns="0" rtlCol="0" anchor="t"/>
          <a:lstStyle/>
          <a:p>
            <a:pPr indent="0" marL="0">
              <a:buNone/>
            </a:pPr>
            <a:r>
              <a:rPr lang="en-US" sz="1400" b="1" dirty="0">
                <a:solidFill>
                  <a:schemeClr val="bg1"/>
                </a:solidFill>
                <a:latin typeface="Calibri" pitchFamily="34" charset="0"/>
                <a:ea typeface="Calibri" pitchFamily="34" charset="-122"/>
                <a:cs typeface="Calibri" pitchFamily="34" charset="-120"/>
              </a:rPr>
              <a:t>Wel gebruikt voor</a:t>
            </a:r>
            <a:endParaRPr lang="en-US" sz="1400" dirty="0"/>
          </a:p>
          <a:p>
            <a:pPr indent="0" marL="0">
              <a:buNone/>
            </a:pPr>
            <a:r>
              <a:rPr lang="en-US" sz="1400" dirty="0">
                <a:solidFill>
                  <a:srgbClr val="C9D3DE"/>
                </a:solidFill>
                <a:latin typeface="Calibri" pitchFamily="34" charset="0"/>
                <a:ea typeface="Calibri" pitchFamily="34" charset="-122"/>
                <a:cs typeface="Calibri" pitchFamily="34" charset="-120"/>
              </a:rPr>
              <a:t>Begrippen uitleggen, zoektermen bedenken, spelling en zinsbouw, hulp bij de Excel-grafiek</a:t>
            </a:r>
            <a:endParaRPr lang="en-US" sz="1400" dirty="0"/>
          </a:p>
          <a:p>
            <a:pPr indent="0" marL="0">
              <a:buNone/>
            </a:pPr>
            <a:r>
              <a:rPr lang="en-US" sz="600" dirty="0">
                <a:solidFill>
                  <a:schemeClr val="accent5"/>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chemeClr val="bg1"/>
                </a:solidFill>
                <a:latin typeface="Calibri" pitchFamily="34" charset="0"/>
                <a:ea typeface="Calibri" pitchFamily="34" charset="-122"/>
                <a:cs typeface="Calibri" pitchFamily="34" charset="-120"/>
              </a:rPr>
              <a:t>Niet gebruikt voor</a:t>
            </a:r>
            <a:endParaRPr lang="en-US" sz="1400" dirty="0"/>
          </a:p>
          <a:p>
            <a:pPr indent="0" marL="0">
              <a:buNone/>
            </a:pPr>
            <a:r>
              <a:rPr lang="en-US" sz="1400" dirty="0">
                <a:solidFill>
                  <a:srgbClr val="C9D3DE"/>
                </a:solidFill>
                <a:latin typeface="Calibri" pitchFamily="34" charset="0"/>
                <a:ea typeface="Calibri" pitchFamily="34" charset="-122"/>
                <a:cs typeface="Calibri" pitchFamily="34" charset="-120"/>
              </a:rPr>
              <a:t>Cijfers zonder bron, hele hoofdstukken schrijven, de reflectie</a:t>
            </a:r>
            <a:endParaRPr lang="en-US" sz="1400" dirty="0"/>
          </a:p>
          <a:p>
            <a:pPr indent="0" marL="0">
              <a:buNone/>
            </a:pPr>
            <a:r>
              <a:rPr lang="en-US" sz="600" dirty="0">
                <a:solidFill>
                  <a:schemeClr val="accent5"/>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chemeClr val="accent2"/>
                </a:solidFill>
                <a:latin typeface="Calibri" pitchFamily="34" charset="0"/>
                <a:ea typeface="Calibri" pitchFamily="34" charset="-122"/>
                <a:cs typeface="Calibri" pitchFamily="34" charset="-120"/>
              </a:rPr>
              <a:t>Wat we leerden</a:t>
            </a:r>
            <a:endParaRPr lang="en-US" sz="1400" dirty="0"/>
          </a:p>
          <a:p>
            <a:pPr indent="0" marL="0">
              <a:buNone/>
            </a:pPr>
            <a:r>
              <a:rPr lang="en-US" sz="1400" dirty="0">
                <a:solidFill>
                  <a:schemeClr val="bg1"/>
                </a:solidFill>
                <a:latin typeface="Calibri" pitchFamily="34" charset="0"/>
                <a:ea typeface="Calibri" pitchFamily="34" charset="-122"/>
                <a:cs typeface="Calibri" pitchFamily="34" charset="-120"/>
              </a:rPr>
              <a:t>GenAI helpt om te weten waar je moet zoeken, maar is onbetrouwbaar voor wat er staat: cijfers bleken soms uit verschillende jaren te komen.</a:t>
            </a:r>
            <a:endParaRPr lang="en-US" sz="1400" dirty="0"/>
          </a:p>
        </p:txBody>
      </p:sp>
      <p:sp>
        <p:nvSpPr>
          <p:cNvPr id="25" name="Text 23"/>
          <p:cNvSpPr txBox="1"/>
          <p:nvPr/>
        </p:nvSpPr>
        <p:spPr>
          <a:xfrm>
            <a:off x="685800" y="6355080"/>
            <a:ext cx="96012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Uitwerking: samenwerkingsovereenkomst en reflectie sprint 1 en 2</a:t>
            </a:r>
            <a:endParaRPr lang="en-US" sz="1000" dirty="0"/>
          </a:p>
        </p:txBody>
      </p:sp>
      <p:sp>
        <p:nvSpPr>
          <p:cNvPr id="25" name="Slide Number Placeholder 0"/>
          <p:cNvSpPr>
            <a:spLocks noGrp="1"/>
          </p:cNvSpPr>
          <p:nvPr>
            <p:ph type="sldNum" sz="quarter" idx="4294967295"/>
          </p:nvPr>
        </p:nvSpPr>
        <p:spPr>
          <a:xfrm>
            <a:off x="1114013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85800" y="2057400"/>
            <a:ext cx="5486400" cy="256032"/>
          </a:xfrm>
          <a:prstGeom prst="rect">
            <a:avLst/>
          </a:prstGeom>
          <a:noFill/>
          <a:ln/>
        </p:spPr>
        <p:txBody>
          <a:bodyPr wrap="square" lIns="0" tIns="0" rIns="0" bIns="0" rtlCol="0" anchor="t"/>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BEDANKT VOOR JULLIE AANDACHT</a:t>
            </a:r>
            <a:endParaRPr lang="en-US" sz="1100" dirty="0"/>
          </a:p>
        </p:txBody>
      </p:sp>
      <p:sp>
        <p:nvSpPr>
          <p:cNvPr id="3" name="Text 1"/>
          <p:cNvSpPr txBox="1"/>
          <p:nvPr/>
        </p:nvSpPr>
        <p:spPr>
          <a:xfrm>
            <a:off x="685800" y="2377440"/>
            <a:ext cx="5943600" cy="100584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Vragen?</a:t>
            </a:r>
            <a:endParaRPr lang="en-US" sz="5400" dirty="0"/>
          </a:p>
        </p:txBody>
      </p:sp>
      <p:sp>
        <p:nvSpPr>
          <p:cNvPr id="4" name="Text 2"/>
          <p:cNvSpPr txBox="1"/>
          <p:nvPr/>
        </p:nvSpPr>
        <p:spPr>
          <a:xfrm>
            <a:off x="685800" y="3429000"/>
            <a:ext cx="5943600" cy="457200"/>
          </a:xfrm>
          <a:prstGeom prst="rect">
            <a:avLst/>
          </a:prstGeom>
          <a:noFill/>
          <a:ln/>
        </p:spPr>
        <p:txBody>
          <a:bodyPr wrap="square" lIns="0" tIns="0" rIns="0" bIns="0" rtlCol="0" anchor="t"/>
          <a:lstStyle/>
          <a:p>
            <a:pPr indent="0" marL="0">
              <a:buNone/>
            </a:pPr>
            <a:r>
              <a:rPr lang="en-US" sz="2000" dirty="0">
                <a:solidFill>
                  <a:srgbClr val="C9D3DE"/>
                </a:solidFill>
                <a:latin typeface="Calibri" pitchFamily="34" charset="0"/>
                <a:ea typeface="Calibri" pitchFamily="34" charset="-122"/>
                <a:cs typeface="Calibri" pitchFamily="34" charset="-120"/>
              </a:rPr>
              <a:t>Project Enexis  ·  Sprint 1 en 2</a:t>
            </a:r>
            <a:endParaRPr lang="en-US" sz="2000" dirty="0"/>
          </a:p>
        </p:txBody>
      </p:sp>
      <p:sp>
        <p:nvSpPr>
          <p:cNvPr id="5" name="Text 3"/>
          <p:cNvSpPr txBox="1"/>
          <p:nvPr/>
        </p:nvSpPr>
        <p:spPr>
          <a:xfrm>
            <a:off x="685800" y="4937760"/>
            <a:ext cx="6400800" cy="32004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Joshua Ferreira  ·  Mohamed Badr el Din  ·  Redouan Afkir  ·  Jemairo van Rey</a:t>
            </a:r>
            <a:endParaRPr lang="en-US" sz="1400" dirty="0"/>
          </a:p>
        </p:txBody>
      </p:sp>
      <p:sp>
        <p:nvSpPr>
          <p:cNvPr id="6" name="netwerk lijn 0"/>
          <p:cNvSpPr/>
          <p:nvPr/>
        </p:nvSpPr>
        <p:spPr>
          <a:xfrm flipV="1">
            <a:off x="7360920" y="1399032"/>
            <a:ext cx="1271016" cy="502920"/>
          </a:xfrm>
          <a:prstGeom prst="line">
            <a:avLst/>
          </a:prstGeom>
          <a:noFill/>
          <a:ln w="12700">
            <a:solidFill>
              <a:srgbClr val="4A6078"/>
            </a:solidFill>
            <a:prstDash val="solid"/>
          </a:ln>
        </p:spPr>
      </p:sp>
      <p:sp>
        <p:nvSpPr>
          <p:cNvPr id="7" name="netwerk lijn 1"/>
          <p:cNvSpPr/>
          <p:nvPr/>
        </p:nvSpPr>
        <p:spPr>
          <a:xfrm flipV="1">
            <a:off x="7086600" y="1399032"/>
            <a:ext cx="1545336" cy="1810512"/>
          </a:xfrm>
          <a:prstGeom prst="line">
            <a:avLst/>
          </a:prstGeom>
          <a:noFill/>
          <a:ln w="12700">
            <a:solidFill>
              <a:srgbClr val="4A6078"/>
            </a:solidFill>
            <a:prstDash val="solid"/>
          </a:ln>
        </p:spPr>
      </p:sp>
      <p:sp>
        <p:nvSpPr>
          <p:cNvPr id="8" name="netwerk lijn 2"/>
          <p:cNvSpPr/>
          <p:nvPr/>
        </p:nvSpPr>
        <p:spPr>
          <a:xfrm flipV="1">
            <a:off x="8412480" y="1399032"/>
            <a:ext cx="219456" cy="2185416"/>
          </a:xfrm>
          <a:prstGeom prst="line">
            <a:avLst/>
          </a:prstGeom>
          <a:noFill/>
          <a:ln w="12700">
            <a:solidFill>
              <a:srgbClr val="4A6078"/>
            </a:solidFill>
            <a:prstDash val="solid"/>
          </a:ln>
        </p:spPr>
      </p:sp>
      <p:sp>
        <p:nvSpPr>
          <p:cNvPr id="9" name="netwerk lijn 3"/>
          <p:cNvSpPr/>
          <p:nvPr/>
        </p:nvSpPr>
        <p:spPr>
          <a:xfrm>
            <a:off x="8631936" y="1399032"/>
            <a:ext cx="1380744" cy="676656"/>
          </a:xfrm>
          <a:prstGeom prst="line">
            <a:avLst/>
          </a:prstGeom>
          <a:noFill/>
          <a:ln w="12700">
            <a:solidFill>
              <a:srgbClr val="4A6078"/>
            </a:solidFill>
            <a:prstDash val="solid"/>
          </a:ln>
        </p:spPr>
      </p:sp>
      <p:sp>
        <p:nvSpPr>
          <p:cNvPr id="10" name="netwerk lijn 4"/>
          <p:cNvSpPr/>
          <p:nvPr/>
        </p:nvSpPr>
        <p:spPr>
          <a:xfrm flipV="1">
            <a:off x="10012680" y="1655064"/>
            <a:ext cx="1179576" cy="420624"/>
          </a:xfrm>
          <a:prstGeom prst="line">
            <a:avLst/>
          </a:prstGeom>
          <a:noFill/>
          <a:ln w="12700">
            <a:solidFill>
              <a:srgbClr val="4A6078"/>
            </a:solidFill>
            <a:prstDash val="solid"/>
          </a:ln>
        </p:spPr>
      </p:sp>
      <p:sp>
        <p:nvSpPr>
          <p:cNvPr id="11" name="netwerk lijn 5"/>
          <p:cNvSpPr/>
          <p:nvPr/>
        </p:nvSpPr>
        <p:spPr>
          <a:xfrm flipV="1">
            <a:off x="11055096" y="1655064"/>
            <a:ext cx="137160" cy="1764792"/>
          </a:xfrm>
          <a:prstGeom prst="line">
            <a:avLst/>
          </a:prstGeom>
          <a:noFill/>
          <a:ln w="12700">
            <a:solidFill>
              <a:srgbClr val="4A6078"/>
            </a:solidFill>
            <a:prstDash val="solid"/>
          </a:ln>
        </p:spPr>
      </p:sp>
      <p:sp>
        <p:nvSpPr>
          <p:cNvPr id="12" name="netwerk lijn 6"/>
          <p:cNvSpPr/>
          <p:nvPr/>
        </p:nvSpPr>
        <p:spPr>
          <a:xfrm flipV="1">
            <a:off x="8412480" y="2075688"/>
            <a:ext cx="1600200" cy="1508760"/>
          </a:xfrm>
          <a:prstGeom prst="line">
            <a:avLst/>
          </a:prstGeom>
          <a:noFill/>
          <a:ln w="12700">
            <a:solidFill>
              <a:srgbClr val="4A6078"/>
            </a:solidFill>
            <a:prstDash val="solid"/>
          </a:ln>
        </p:spPr>
      </p:sp>
      <p:sp>
        <p:nvSpPr>
          <p:cNvPr id="13" name="netwerk lijn 7"/>
          <p:cNvSpPr/>
          <p:nvPr/>
        </p:nvSpPr>
        <p:spPr>
          <a:xfrm flipV="1">
            <a:off x="9738360" y="2075688"/>
            <a:ext cx="274320" cy="969264"/>
          </a:xfrm>
          <a:prstGeom prst="line">
            <a:avLst/>
          </a:prstGeom>
          <a:noFill/>
          <a:ln w="12700">
            <a:solidFill>
              <a:srgbClr val="4A6078"/>
            </a:solidFill>
            <a:prstDash val="solid"/>
          </a:ln>
        </p:spPr>
      </p:sp>
      <p:sp>
        <p:nvSpPr>
          <p:cNvPr id="14" name="netwerk lijn 8"/>
          <p:cNvSpPr/>
          <p:nvPr/>
        </p:nvSpPr>
        <p:spPr>
          <a:xfrm>
            <a:off x="7086600" y="3209544"/>
            <a:ext cx="1325880" cy="374904"/>
          </a:xfrm>
          <a:prstGeom prst="line">
            <a:avLst/>
          </a:prstGeom>
          <a:noFill/>
          <a:ln w="12700">
            <a:solidFill>
              <a:srgbClr val="4A6078"/>
            </a:solidFill>
            <a:prstDash val="solid"/>
          </a:ln>
        </p:spPr>
      </p:sp>
      <p:sp>
        <p:nvSpPr>
          <p:cNvPr id="15" name="netwerk lijn 9"/>
          <p:cNvSpPr/>
          <p:nvPr/>
        </p:nvSpPr>
        <p:spPr>
          <a:xfrm>
            <a:off x="7086600" y="3209544"/>
            <a:ext cx="320040" cy="1636776"/>
          </a:xfrm>
          <a:prstGeom prst="line">
            <a:avLst/>
          </a:prstGeom>
          <a:noFill/>
          <a:ln w="12700">
            <a:solidFill>
              <a:srgbClr val="4A6078"/>
            </a:solidFill>
            <a:prstDash val="solid"/>
          </a:ln>
        </p:spPr>
      </p:sp>
      <p:sp>
        <p:nvSpPr>
          <p:cNvPr id="16" name="netwerk lijn 10"/>
          <p:cNvSpPr/>
          <p:nvPr/>
        </p:nvSpPr>
        <p:spPr>
          <a:xfrm flipV="1">
            <a:off x="8412480" y="3044952"/>
            <a:ext cx="1325880" cy="539496"/>
          </a:xfrm>
          <a:prstGeom prst="line">
            <a:avLst/>
          </a:prstGeom>
          <a:noFill/>
          <a:ln w="12700">
            <a:solidFill>
              <a:srgbClr val="4A6078"/>
            </a:solidFill>
            <a:prstDash val="solid"/>
          </a:ln>
        </p:spPr>
      </p:sp>
      <p:sp>
        <p:nvSpPr>
          <p:cNvPr id="17" name="netwerk lijn 11"/>
          <p:cNvSpPr/>
          <p:nvPr/>
        </p:nvSpPr>
        <p:spPr>
          <a:xfrm>
            <a:off x="9738360" y="3044952"/>
            <a:ext cx="1316736" cy="374904"/>
          </a:xfrm>
          <a:prstGeom prst="line">
            <a:avLst/>
          </a:prstGeom>
          <a:noFill/>
          <a:ln w="12700">
            <a:solidFill>
              <a:srgbClr val="4A6078"/>
            </a:solidFill>
            <a:prstDash val="solid"/>
          </a:ln>
        </p:spPr>
      </p:sp>
      <p:sp>
        <p:nvSpPr>
          <p:cNvPr id="18" name="netwerk lijn 12"/>
          <p:cNvSpPr/>
          <p:nvPr/>
        </p:nvSpPr>
        <p:spPr>
          <a:xfrm>
            <a:off x="8412480" y="3584448"/>
            <a:ext cx="411480" cy="1691640"/>
          </a:xfrm>
          <a:prstGeom prst="line">
            <a:avLst/>
          </a:prstGeom>
          <a:noFill/>
          <a:ln w="12700">
            <a:solidFill>
              <a:srgbClr val="4A6078"/>
            </a:solidFill>
            <a:prstDash val="solid"/>
          </a:ln>
        </p:spPr>
      </p:sp>
      <p:sp>
        <p:nvSpPr>
          <p:cNvPr id="19" name="netwerk lijn 13"/>
          <p:cNvSpPr/>
          <p:nvPr/>
        </p:nvSpPr>
        <p:spPr>
          <a:xfrm flipV="1">
            <a:off x="8823960" y="3044952"/>
            <a:ext cx="914400" cy="2231136"/>
          </a:xfrm>
          <a:prstGeom prst="line">
            <a:avLst/>
          </a:prstGeom>
          <a:noFill/>
          <a:ln w="12700">
            <a:solidFill>
              <a:srgbClr val="4A6078"/>
            </a:solidFill>
            <a:prstDash val="solid"/>
          </a:ln>
        </p:spPr>
      </p:sp>
      <p:sp>
        <p:nvSpPr>
          <p:cNvPr id="20" name="netwerk lijn 14"/>
          <p:cNvSpPr/>
          <p:nvPr/>
        </p:nvSpPr>
        <p:spPr>
          <a:xfrm>
            <a:off x="9738360" y="3044952"/>
            <a:ext cx="356616" cy="1508760"/>
          </a:xfrm>
          <a:prstGeom prst="line">
            <a:avLst/>
          </a:prstGeom>
          <a:noFill/>
          <a:ln w="12700">
            <a:solidFill>
              <a:srgbClr val="4A6078"/>
            </a:solidFill>
            <a:prstDash val="solid"/>
          </a:ln>
        </p:spPr>
      </p:sp>
      <p:sp>
        <p:nvSpPr>
          <p:cNvPr id="21" name="netwerk lijn 15"/>
          <p:cNvSpPr/>
          <p:nvPr/>
        </p:nvSpPr>
        <p:spPr>
          <a:xfrm flipV="1">
            <a:off x="8823960" y="4553712"/>
            <a:ext cx="1271016" cy="722376"/>
          </a:xfrm>
          <a:prstGeom prst="line">
            <a:avLst/>
          </a:prstGeom>
          <a:noFill/>
          <a:ln w="12700">
            <a:solidFill>
              <a:srgbClr val="4A6078"/>
            </a:solidFill>
            <a:prstDash val="solid"/>
          </a:ln>
        </p:spPr>
      </p:sp>
      <p:sp>
        <p:nvSpPr>
          <p:cNvPr id="22" name="netwerk lijn 16"/>
          <p:cNvSpPr/>
          <p:nvPr/>
        </p:nvSpPr>
        <p:spPr>
          <a:xfrm>
            <a:off x="10094976" y="4553712"/>
            <a:ext cx="1197864" cy="466344"/>
          </a:xfrm>
          <a:prstGeom prst="line">
            <a:avLst/>
          </a:prstGeom>
          <a:noFill/>
          <a:ln w="12700">
            <a:solidFill>
              <a:srgbClr val="4A6078"/>
            </a:solidFill>
            <a:prstDash val="solid"/>
          </a:ln>
        </p:spPr>
      </p:sp>
      <p:sp>
        <p:nvSpPr>
          <p:cNvPr id="23" name="netwerk lijn 17"/>
          <p:cNvSpPr/>
          <p:nvPr/>
        </p:nvSpPr>
        <p:spPr>
          <a:xfrm>
            <a:off x="11055096" y="3419856"/>
            <a:ext cx="237744" cy="1600200"/>
          </a:xfrm>
          <a:prstGeom prst="line">
            <a:avLst/>
          </a:prstGeom>
          <a:noFill/>
          <a:ln w="12700">
            <a:solidFill>
              <a:srgbClr val="4A6078"/>
            </a:solidFill>
            <a:prstDash val="solid"/>
          </a:ln>
        </p:spPr>
      </p:sp>
      <p:sp>
        <p:nvSpPr>
          <p:cNvPr id="24" name="netwerk lijn 18"/>
          <p:cNvSpPr/>
          <p:nvPr/>
        </p:nvSpPr>
        <p:spPr>
          <a:xfrm>
            <a:off x="7406640" y="4846320"/>
            <a:ext cx="1417320" cy="429768"/>
          </a:xfrm>
          <a:prstGeom prst="line">
            <a:avLst/>
          </a:prstGeom>
          <a:noFill/>
          <a:ln w="12700">
            <a:solidFill>
              <a:srgbClr val="4A6078"/>
            </a:solidFill>
            <a:prstDash val="solid"/>
          </a:ln>
        </p:spPr>
      </p:sp>
      <p:sp>
        <p:nvSpPr>
          <p:cNvPr id="25" name="netwerk knoop 0"/>
          <p:cNvSpPr/>
          <p:nvPr/>
        </p:nvSpPr>
        <p:spPr>
          <a:xfrm>
            <a:off x="8554212" y="1321308"/>
            <a:ext cx="155448" cy="155448"/>
          </a:xfrm>
          <a:prstGeom prst="ellipse">
            <a:avLst/>
          </a:prstGeom>
          <a:solidFill>
            <a:schemeClr val="tx2"/>
          </a:solidFill>
          <a:ln w="15875">
            <a:solidFill>
              <a:srgbClr val="C9D3DE"/>
            </a:solidFill>
            <a:prstDash val="solid"/>
          </a:ln>
        </p:spPr>
      </p:sp>
      <p:sp>
        <p:nvSpPr>
          <p:cNvPr id="26" name="netwerk knoop 1"/>
          <p:cNvSpPr/>
          <p:nvPr/>
        </p:nvSpPr>
        <p:spPr>
          <a:xfrm>
            <a:off x="7283196" y="1824228"/>
            <a:ext cx="155448" cy="155448"/>
          </a:xfrm>
          <a:prstGeom prst="ellipse">
            <a:avLst/>
          </a:prstGeom>
          <a:solidFill>
            <a:schemeClr val="tx2"/>
          </a:solidFill>
          <a:ln w="15875">
            <a:solidFill>
              <a:srgbClr val="C9D3DE"/>
            </a:solidFill>
            <a:prstDash val="solid"/>
          </a:ln>
        </p:spPr>
      </p:sp>
      <p:sp>
        <p:nvSpPr>
          <p:cNvPr id="27" name="netwerk knoop 2"/>
          <p:cNvSpPr/>
          <p:nvPr/>
        </p:nvSpPr>
        <p:spPr>
          <a:xfrm>
            <a:off x="9893808" y="1956816"/>
            <a:ext cx="237744" cy="237744"/>
          </a:xfrm>
          <a:prstGeom prst="ellipse">
            <a:avLst/>
          </a:prstGeom>
          <a:solidFill>
            <a:schemeClr val="accent2"/>
          </a:solidFill>
          <a:ln w="15875">
            <a:solidFill>
              <a:schemeClr val="accent2"/>
            </a:solidFill>
            <a:prstDash val="solid"/>
          </a:ln>
        </p:spPr>
      </p:sp>
      <p:sp>
        <p:nvSpPr>
          <p:cNvPr id="28" name="netwerk knoop 3"/>
          <p:cNvSpPr/>
          <p:nvPr/>
        </p:nvSpPr>
        <p:spPr>
          <a:xfrm>
            <a:off x="11114532" y="1577340"/>
            <a:ext cx="155448" cy="155448"/>
          </a:xfrm>
          <a:prstGeom prst="ellipse">
            <a:avLst/>
          </a:prstGeom>
          <a:solidFill>
            <a:schemeClr val="tx2"/>
          </a:solidFill>
          <a:ln w="15875">
            <a:solidFill>
              <a:srgbClr val="C9D3DE"/>
            </a:solidFill>
            <a:prstDash val="solid"/>
          </a:ln>
        </p:spPr>
      </p:sp>
      <p:sp>
        <p:nvSpPr>
          <p:cNvPr id="29" name="netwerk knoop 4"/>
          <p:cNvSpPr/>
          <p:nvPr/>
        </p:nvSpPr>
        <p:spPr>
          <a:xfrm>
            <a:off x="7008876" y="3131820"/>
            <a:ext cx="155448" cy="155448"/>
          </a:xfrm>
          <a:prstGeom prst="ellipse">
            <a:avLst/>
          </a:prstGeom>
          <a:solidFill>
            <a:schemeClr val="tx2"/>
          </a:solidFill>
          <a:ln w="15875">
            <a:solidFill>
              <a:srgbClr val="C9D3DE"/>
            </a:solidFill>
            <a:prstDash val="solid"/>
          </a:ln>
        </p:spPr>
      </p:sp>
      <p:sp>
        <p:nvSpPr>
          <p:cNvPr id="30" name="netwerk knoop 5"/>
          <p:cNvSpPr/>
          <p:nvPr/>
        </p:nvSpPr>
        <p:spPr>
          <a:xfrm>
            <a:off x="9660636" y="2967228"/>
            <a:ext cx="155448" cy="155448"/>
          </a:xfrm>
          <a:prstGeom prst="ellipse">
            <a:avLst/>
          </a:prstGeom>
          <a:solidFill>
            <a:schemeClr val="tx2"/>
          </a:solidFill>
          <a:ln w="15875">
            <a:solidFill>
              <a:srgbClr val="C9D3DE"/>
            </a:solidFill>
            <a:prstDash val="solid"/>
          </a:ln>
        </p:spPr>
      </p:sp>
      <p:sp>
        <p:nvSpPr>
          <p:cNvPr id="31" name="netwerk knoop 6"/>
          <p:cNvSpPr/>
          <p:nvPr/>
        </p:nvSpPr>
        <p:spPr>
          <a:xfrm>
            <a:off x="8293608" y="3465576"/>
            <a:ext cx="237744" cy="237744"/>
          </a:xfrm>
          <a:prstGeom prst="ellipse">
            <a:avLst/>
          </a:prstGeom>
          <a:solidFill>
            <a:schemeClr val="accent2"/>
          </a:solidFill>
          <a:ln w="15875">
            <a:solidFill>
              <a:schemeClr val="accent2"/>
            </a:solidFill>
            <a:prstDash val="solid"/>
          </a:ln>
        </p:spPr>
      </p:sp>
      <p:sp>
        <p:nvSpPr>
          <p:cNvPr id="32" name="netwerk knoop 7"/>
          <p:cNvSpPr/>
          <p:nvPr/>
        </p:nvSpPr>
        <p:spPr>
          <a:xfrm>
            <a:off x="10977372" y="3342132"/>
            <a:ext cx="155448" cy="155448"/>
          </a:xfrm>
          <a:prstGeom prst="ellipse">
            <a:avLst/>
          </a:prstGeom>
          <a:solidFill>
            <a:schemeClr val="tx2"/>
          </a:solidFill>
          <a:ln w="15875">
            <a:solidFill>
              <a:srgbClr val="C9D3DE"/>
            </a:solidFill>
            <a:prstDash val="solid"/>
          </a:ln>
        </p:spPr>
      </p:sp>
      <p:sp>
        <p:nvSpPr>
          <p:cNvPr id="33" name="netwerk knoop 8"/>
          <p:cNvSpPr/>
          <p:nvPr/>
        </p:nvSpPr>
        <p:spPr>
          <a:xfrm>
            <a:off x="9976104" y="4434840"/>
            <a:ext cx="237744" cy="237744"/>
          </a:xfrm>
          <a:prstGeom prst="ellipse">
            <a:avLst/>
          </a:prstGeom>
          <a:solidFill>
            <a:schemeClr val="accent2"/>
          </a:solidFill>
          <a:ln w="15875">
            <a:solidFill>
              <a:schemeClr val="accent2"/>
            </a:solidFill>
            <a:prstDash val="solid"/>
          </a:ln>
        </p:spPr>
      </p:sp>
      <p:sp>
        <p:nvSpPr>
          <p:cNvPr id="34" name="netwerk knoop 9"/>
          <p:cNvSpPr/>
          <p:nvPr/>
        </p:nvSpPr>
        <p:spPr>
          <a:xfrm>
            <a:off x="7328916" y="4768596"/>
            <a:ext cx="155448" cy="155448"/>
          </a:xfrm>
          <a:prstGeom prst="ellipse">
            <a:avLst/>
          </a:prstGeom>
          <a:solidFill>
            <a:schemeClr val="tx2"/>
          </a:solidFill>
          <a:ln w="15875">
            <a:solidFill>
              <a:srgbClr val="C9D3DE"/>
            </a:solidFill>
            <a:prstDash val="solid"/>
          </a:ln>
        </p:spPr>
      </p:sp>
      <p:sp>
        <p:nvSpPr>
          <p:cNvPr id="35" name="netwerk knoop 10"/>
          <p:cNvSpPr/>
          <p:nvPr/>
        </p:nvSpPr>
        <p:spPr>
          <a:xfrm>
            <a:off x="8746236" y="5198364"/>
            <a:ext cx="155448" cy="155448"/>
          </a:xfrm>
          <a:prstGeom prst="ellipse">
            <a:avLst/>
          </a:prstGeom>
          <a:solidFill>
            <a:schemeClr val="tx2"/>
          </a:solidFill>
          <a:ln w="15875">
            <a:solidFill>
              <a:srgbClr val="C9D3DE"/>
            </a:solidFill>
            <a:prstDash val="solid"/>
          </a:ln>
        </p:spPr>
      </p:sp>
      <p:sp>
        <p:nvSpPr>
          <p:cNvPr id="36" name="netwerk knoop 11"/>
          <p:cNvSpPr/>
          <p:nvPr/>
        </p:nvSpPr>
        <p:spPr>
          <a:xfrm>
            <a:off x="11215116" y="4942332"/>
            <a:ext cx="155448" cy="155448"/>
          </a:xfrm>
          <a:prstGeom prst="ellipse">
            <a:avLst/>
          </a:prstGeom>
          <a:solidFill>
            <a:schemeClr val="tx2"/>
          </a:solidFill>
          <a:ln w="15875">
            <a:solidFill>
              <a:srgbClr val="C9D3DE"/>
            </a:solidFill>
            <a:prstDash val="solid"/>
          </a:ln>
        </p:spPr>
      </p:sp>
    </p:spTree>
  </p:cSld>
  <p:clrMapOvr>
    <a:masterClrMapping/>
  </p:clrMapOvr>
</p:sld>
</file>

<file path=ppt/theme/theme1.xml><?xml version="1.0" encoding="utf-8"?>
<a:theme xmlns:a="http://schemas.openxmlformats.org/drawingml/2006/main" name="Project Enexis">
  <a:themeElements>
    <a:clrScheme name="Project Enexis">
      <a:dk1>
        <a:srgbClr val="1F2A37"/>
      </a:dk1>
      <a:lt1>
        <a:srgbClr val="FFFFFF"/>
      </a:lt1>
      <a:dk2>
        <a:srgbClr val="14283F"/>
      </a:dk2>
      <a:lt2>
        <a:srgbClr val="EEF2F6"/>
      </a:lt2>
      <a:accent1>
        <a:srgbClr val="1B6B55"/>
      </a:accent1>
      <a:accent2>
        <a:srgbClr val="E3A532"/>
      </a:accent2>
      <a:accent3>
        <a:srgbClr val="203A57"/>
      </a:accent3>
      <a:accent4>
        <a:srgbClr val="7A8696"/>
      </a:accent4>
      <a:accent5>
        <a:srgbClr val="3C4A5A"/>
      </a:accent5>
      <a:accent6>
        <a:srgbClr val="D5DDE6"/>
      </a:accent6>
      <a:hlink>
        <a:srgbClr val="1B6B55"/>
      </a:hlink>
      <a:folHlink>
        <a:srgbClr val="203A57"/>
      </a:folHlink>
    </a:clrScheme>
    <a:fontScheme name="Project Enexi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Enexis - Sprint 1 en 2</dc:title>
  <dc:subject>PptxGenJS Presentation</dc:subject>
  <dc:creator>Groep 3, ADSAI-DH-1.A</dc:creator>
  <cp:lastModifiedBy>Groep 3, ADSAI-DH-1.A</cp:lastModifiedBy>
  <cp:revision>1</cp:revision>
  <dcterms:created xsi:type="dcterms:W3CDTF">2026-10-12T21:12:24Z</dcterms:created>
  <dcterms:modified xsi:type="dcterms:W3CDTF">2026-10-12T21:12:24Z</dcterms:modified>
</cp:coreProperties>
</file>